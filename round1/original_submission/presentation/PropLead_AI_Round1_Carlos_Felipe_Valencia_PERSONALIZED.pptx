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Annual change</c:v>
          </c:tx>
          <c:spPr>
            <a:solidFill>
              <a:srgbClr val="1C7180"/>
            </a:solidFill>
          </c:spPr>
          <c:invertIfNegative val="1"/>
          <c:dPt>
            <c:idx val="2"/>
            <c:invertIfNegative val="0"/>
            <c:bubble3D val="0"/>
            <c:spPr>
              <a:solidFill>
                <a:srgbClr val="C96A4B"/>
              </a:solidFill>
            </c:spPr>
            <c:extLst>
              <c:ext xmlns:c16="http://schemas.microsoft.com/office/drawing/2014/chart" uri="{C3380CC4-5D6E-409C-BE32-E72D297353CC}">
                <c16:uniqueId val="{00000001-6B9F-4170-9D00-2EA0F98F34E5}"/>
              </c:ext>
            </c:extLst>
          </c:dPt>
          <c:dLbls>
            <c:spPr>
              <a:noFill/>
              <a:ln>
                <a:noFill/>
              </a:ln>
              <a:effectLst/>
            </c:spPr>
            <c:txPr>
              <a:bodyPr anchorCtr="1"/>
              <a:lstStyle/>
              <a:p>
                <a:pPr>
                  <a:defRPr sz="1050" b="1">
                    <a:solidFill>
                      <a:srgbClr val="17324D"/>
                    </a:solidFill>
                    <a:latin typeface="DejaVu Sans"/>
                    <a:ea typeface="DejaVu Sans"/>
                    <a:cs typeface="DejaVu San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Basque Country</c:v>
                </c:pt>
                <c:pt idx="1">
                  <c:v>Spain</c:v>
                </c:pt>
                <c:pt idx="2">
                  <c:v>Illes Balears</c:v>
                </c:pt>
                <c:pt idx="3">
                  <c:v>Madrid</c:v>
                </c:pt>
                <c:pt idx="4">
                  <c:v>Valencia</c:v>
                </c:pt>
                <c:pt idx="5">
                  <c:v>Murcia</c:v>
                </c:pt>
                <c:pt idx="6">
                  <c:v>Aragón</c:v>
                </c:pt>
              </c:strCache>
            </c:strRef>
          </c:cat>
          <c:val>
            <c:numRef>
              <c:f>'Chart Data'!$B$2:$B$8</c:f>
              <c:numCache>
                <c:formatCode>0.0%</c:formatCode>
                <c:ptCount val="7"/>
                <c:pt idx="0">
                  <c:v>0.10299999999999999</c:v>
                </c:pt>
                <c:pt idx="1">
                  <c:v>0.129</c:v>
                </c:pt>
                <c:pt idx="2">
                  <c:v>0.13600000000000001</c:v>
                </c:pt>
                <c:pt idx="3">
                  <c:v>0.13600000000000001</c:v>
                </c:pt>
                <c:pt idx="4">
                  <c:v>0.14299999999999999</c:v>
                </c:pt>
                <c:pt idx="5">
                  <c:v>0.156</c:v>
                </c:pt>
                <c:pt idx="6">
                  <c:v>0.156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B9F-4170-9D00-2EA0F98F34E5}"/>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D8D1C4"/>
              </a:solidFill>
              <a:prstDash val="solid"/>
            </a:ln>
          </c:spPr>
        </c:majorGridlines>
        <c:numFmt formatCode="General" sourceLinked="1"/>
        <c:majorTickMark val="none"/>
        <c:minorTickMark val="none"/>
        <c:tickLblPos val="nextTo"/>
        <c:spPr>
          <a:ln w="9525">
            <a:solidFill>
              <a:srgbClr val="D8D1C4"/>
            </a:solidFill>
            <a:prstDash val="solid"/>
          </a:ln>
        </c:spPr>
        <c:txPr>
          <a:bodyPr anchorCtr="1"/>
          <a:lstStyle/>
          <a:p>
            <a:pPr>
              <a:defRPr sz="975">
                <a:solidFill>
                  <a:srgbClr val="6D7E87"/>
                </a:solidFill>
                <a:latin typeface="DejaVu Sans"/>
                <a:ea typeface="DejaVu Sans"/>
                <a:cs typeface="DejaVu Sans"/>
              </a:defRPr>
            </a:pPr>
            <a:endParaRPr lang="es-ES"/>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8D1C4"/>
            </a:solidFill>
            <a:prstDash val="solid"/>
          </a:ln>
        </c:spPr>
        <c:txPr>
          <a:bodyPr anchorCtr="1"/>
          <a:lstStyle/>
          <a:p>
            <a:pPr>
              <a:defRPr sz="1050">
                <a:solidFill>
                  <a:srgbClr val="17324D"/>
                </a:solidFill>
                <a:latin typeface="DejaVu Sans"/>
                <a:ea typeface="DejaVu Sans"/>
                <a:cs typeface="DejaVu Sans"/>
              </a:defRPr>
            </a:pPr>
            <a:endParaRPr lang="es-ES"/>
          </a:p>
        </c:txPr>
        <c:crossAx val="48650112"/>
        <c:crosses val="autoZero"/>
        <c:crossBetween val="between"/>
      </c:valAx>
      <c:spPr>
        <a:solidFill>
          <a:srgbClr val="FBF7EF"/>
        </a:solidFill>
      </c:spPr>
    </c:plotArea>
    <c:plotVisOnly val="1"/>
    <c:dispBlanksAs val="zero"/>
    <c:showDLblsOverMax val="1"/>
  </c:chart>
  <c:spPr>
    <a:solidFill>
      <a:srgbClr val="FBF7E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Foreign buyers</c:v>
          </c:tx>
          <c:spPr>
            <a:solidFill>
              <a:srgbClr val="7A8C5A"/>
            </a:solidFill>
          </c:spPr>
          <c:invertIfNegative val="1"/>
          <c:dPt>
            <c:idx val="4"/>
            <c:invertIfNegative val="0"/>
            <c:bubble3D val="0"/>
            <c:spPr>
              <a:solidFill>
                <a:srgbClr val="C96A4B"/>
              </a:solidFill>
            </c:spPr>
            <c:extLst>
              <c:ext xmlns:c16="http://schemas.microsoft.com/office/drawing/2014/chart" uri="{C3380CC4-5D6E-409C-BE32-E72D297353CC}">
                <c16:uniqueId val="{00000001-A237-4FFC-9E4B-8DF495020DEE}"/>
              </c:ext>
            </c:extLst>
          </c:dPt>
          <c:dLbls>
            <c:spPr>
              <a:noFill/>
              <a:ln>
                <a:noFill/>
              </a:ln>
              <a:effectLst/>
            </c:spPr>
            <c:txPr>
              <a:bodyPr anchorCtr="1"/>
              <a:lstStyle/>
              <a:p>
                <a:pPr>
                  <a:defRPr sz="1050" b="1">
                    <a:solidFill>
                      <a:srgbClr val="17324D"/>
                    </a:solidFill>
                    <a:latin typeface="DejaVu Sans"/>
                    <a:ea typeface="DejaVu Sans"/>
                    <a:cs typeface="DejaVu San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Spain</c:v>
                </c:pt>
                <c:pt idx="1">
                  <c:v>Murcia</c:v>
                </c:pt>
                <c:pt idx="2">
                  <c:v>Canarias</c:v>
                </c:pt>
                <c:pt idx="3">
                  <c:v>Valencia</c:v>
                </c:pt>
                <c:pt idx="4">
                  <c:v>Illes Balears</c:v>
                </c:pt>
              </c:strCache>
            </c:strRef>
          </c:cat>
          <c:val>
            <c:numRef>
              <c:f>'Chart Data'!$B$2:$B$6</c:f>
              <c:numCache>
                <c:formatCode>0.0%</c:formatCode>
                <c:ptCount val="5"/>
                <c:pt idx="0">
                  <c:v>0.13500000000000001</c:v>
                </c:pt>
                <c:pt idx="1">
                  <c:v>0.2074</c:v>
                </c:pt>
                <c:pt idx="2">
                  <c:v>0.23119999999999999</c:v>
                </c:pt>
                <c:pt idx="3">
                  <c:v>0.2717</c:v>
                </c:pt>
                <c:pt idx="4">
                  <c:v>0.31469999999999998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A237-4FFC-9E4B-8DF495020DEE}"/>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D8D1C4"/>
              </a:solidFill>
              <a:prstDash val="solid"/>
            </a:ln>
          </c:spPr>
        </c:majorGridlines>
        <c:numFmt formatCode="General" sourceLinked="1"/>
        <c:majorTickMark val="none"/>
        <c:minorTickMark val="none"/>
        <c:tickLblPos val="nextTo"/>
        <c:spPr>
          <a:ln w="9525">
            <a:solidFill>
              <a:srgbClr val="D8D1C4"/>
            </a:solidFill>
            <a:prstDash val="solid"/>
          </a:ln>
        </c:spPr>
        <c:txPr>
          <a:bodyPr anchorCtr="1"/>
          <a:lstStyle/>
          <a:p>
            <a:pPr>
              <a:defRPr sz="975">
                <a:solidFill>
                  <a:srgbClr val="6D7E87"/>
                </a:solidFill>
                <a:latin typeface="DejaVu Sans"/>
                <a:ea typeface="DejaVu Sans"/>
                <a:cs typeface="DejaVu Sans"/>
              </a:defRPr>
            </a:pPr>
            <a:endParaRPr lang="es-ES"/>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8D1C4"/>
            </a:solidFill>
            <a:prstDash val="solid"/>
          </a:ln>
        </c:spPr>
        <c:txPr>
          <a:bodyPr anchorCtr="1"/>
          <a:lstStyle/>
          <a:p>
            <a:pPr>
              <a:defRPr sz="1050">
                <a:solidFill>
                  <a:srgbClr val="17324D"/>
                </a:solidFill>
                <a:latin typeface="DejaVu Sans"/>
                <a:ea typeface="DejaVu Sans"/>
                <a:cs typeface="DejaVu Sans"/>
              </a:defRPr>
            </a:pPr>
            <a:endParaRPr lang="es-ES"/>
          </a:p>
        </c:txPr>
        <c:crossAx val="48650112"/>
        <c:crosses val="autoZero"/>
        <c:crossBetween val="between"/>
      </c:valAx>
      <c:spPr>
        <a:solidFill>
          <a:srgbClr val="FBF7EF"/>
        </a:solidFill>
      </c:spPr>
    </c:plotArea>
    <c:plotVisOnly val="1"/>
    <c:dispBlanksAs val="zero"/>
    <c:showDLblsOverMax val="1"/>
  </c:chart>
  <c:spPr>
    <a:solidFill>
      <a:srgbClr val="FBF7E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col"/>
        <c:grouping val="clustered"/>
        <c:varyColors val="0"/>
        <c:ser>
          <c:idx val="0"/>
          <c:order val="0"/>
          <c:tx>
            <c:v>AI adoption</c:v>
          </c:tx>
          <c:spPr>
            <a:solidFill>
              <a:srgbClr val="1C7180"/>
            </a:solidFill>
          </c:spPr>
          <c:invertIfNegative val="1"/>
          <c:dPt>
            <c:idx val="0"/>
            <c:invertIfNegative val="0"/>
            <c:bubble3D val="0"/>
            <c:spPr>
              <a:solidFill>
                <a:srgbClr val="C96A4B"/>
              </a:solidFill>
            </c:spPr>
            <c:extLst>
              <c:ext xmlns:c16="http://schemas.microsoft.com/office/drawing/2014/chart" uri="{C3380CC4-5D6E-409C-BE32-E72D297353CC}">
                <c16:uniqueId val="{00000001-AE1B-48B3-9912-6399122AC300}"/>
              </c:ext>
            </c:extLst>
          </c:dPt>
          <c:dLbls>
            <c:spPr>
              <a:noFill/>
              <a:ln>
                <a:noFill/>
              </a:ln>
              <a:effectLst/>
            </c:spPr>
            <c:txPr>
              <a:bodyPr anchorCtr="1"/>
              <a:lstStyle/>
              <a:p>
                <a:pPr>
                  <a:defRPr sz="1125" b="1">
                    <a:solidFill>
                      <a:srgbClr val="17324D"/>
                    </a:solidFill>
                    <a:latin typeface="DejaVu Sans"/>
                    <a:ea typeface="DejaVu Sans"/>
                    <a:cs typeface="DejaVu San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Small</c:v>
                </c:pt>
                <c:pt idx="1">
                  <c:v>Medium</c:v>
                </c:pt>
                <c:pt idx="2">
                  <c:v>Large</c:v>
                </c:pt>
              </c:strCache>
            </c:strRef>
          </c:cat>
          <c:val>
            <c:numRef>
              <c:f>'Chart Data'!$B$2:$B$4</c:f>
              <c:numCache>
                <c:formatCode>0%</c:formatCode>
                <c:ptCount val="3"/>
                <c:pt idx="0">
                  <c:v>0.17199999999999999</c:v>
                </c:pt>
                <c:pt idx="1">
                  <c:v>0.30099999999999999</c:v>
                </c:pt>
                <c:pt idx="2">
                  <c:v>0.57499999999999996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AE1B-48B3-9912-6399122AC300}"/>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D1C4"/>
            </a:solidFill>
            <a:prstDash val="solid"/>
          </a:ln>
        </c:spPr>
        <c:txPr>
          <a:bodyPr anchorCtr="1"/>
          <a:lstStyle/>
          <a:p>
            <a:pPr>
              <a:defRPr sz="1125">
                <a:solidFill>
                  <a:srgbClr val="17324D"/>
                </a:solidFill>
                <a:latin typeface="DejaVu Sans"/>
                <a:ea typeface="DejaVu Sans"/>
                <a:cs typeface="DejaVu Sans"/>
              </a:defRPr>
            </a:pPr>
            <a:endParaRPr lang="es-ES"/>
          </a:p>
        </c:txPr>
        <c:crossAx val="48672768"/>
        <c:crosses val="autoZero"/>
        <c:auto val="1"/>
        <c:lblAlgn val="ctr"/>
        <c:lblOffset val="100"/>
        <c:noMultiLvlLbl val="1"/>
      </c:catAx>
      <c:valAx>
        <c:axId val="48672768"/>
        <c:scaling>
          <c:orientation val="minMax"/>
          <c:max val="0.65"/>
          <c:min val="0"/>
        </c:scaling>
        <c:delete val="0"/>
        <c:axPos val="l"/>
        <c:majorGridlines>
          <c:spPr>
            <a:ln w="9525">
              <a:solidFill>
                <a:srgbClr val="D8D1C4"/>
              </a:solidFill>
              <a:prstDash val="solid"/>
            </a:ln>
          </c:spPr>
        </c:majorGridlines>
        <c:numFmt formatCode="0%" sourceLinked="1"/>
        <c:majorTickMark val="none"/>
        <c:minorTickMark val="none"/>
        <c:tickLblPos val="nextTo"/>
        <c:spPr>
          <a:ln w="9525">
            <a:solidFill>
              <a:srgbClr val="D8D1C4"/>
            </a:solidFill>
            <a:prstDash val="solid"/>
          </a:ln>
        </c:spPr>
        <c:txPr>
          <a:bodyPr anchorCtr="1"/>
          <a:lstStyle/>
          <a:p>
            <a:pPr>
              <a:defRPr sz="975">
                <a:solidFill>
                  <a:srgbClr val="6D7E87"/>
                </a:solidFill>
                <a:latin typeface="DejaVu Sans"/>
                <a:ea typeface="DejaVu Sans"/>
                <a:cs typeface="DejaVu Sans"/>
              </a:defRPr>
            </a:pPr>
            <a:endParaRPr lang="es-ES"/>
          </a:p>
        </c:txPr>
        <c:crossAx val="48650112"/>
        <c:crosses val="autoZero"/>
        <c:crossBetween val="between"/>
      </c:valAx>
      <c:spPr>
        <a:solidFill>
          <a:srgbClr val="FBF7EF"/>
        </a:solidFill>
      </c:spPr>
    </c:plotArea>
    <c:plotVisOnly val="1"/>
    <c:dispBlanksAs val="zero"/>
    <c:showDLblsOverMax val="1"/>
  </c:chart>
  <c:spPr>
    <a:solidFill>
      <a:srgbClr val="FBF7E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doughnutChart>
        <c:varyColors val="1"/>
        <c:ser>
          <c:idx val="0"/>
          <c:order val="0"/>
          <c:tx>
            <c:v>Enquiries</c:v>
          </c:tx>
          <c:dPt>
            <c:idx val="0"/>
            <c:bubble3D val="0"/>
            <c:spPr>
              <a:solidFill>
                <a:srgbClr val="1C7180"/>
              </a:solidFill>
            </c:spPr>
            <c:extLst>
              <c:ext xmlns:c16="http://schemas.microsoft.com/office/drawing/2014/chart" uri="{C3380CC4-5D6E-409C-BE32-E72D297353CC}">
                <c16:uniqueId val="{00000001-E7B8-4522-8CE0-076E2E90A169}"/>
              </c:ext>
            </c:extLst>
          </c:dPt>
          <c:dPt>
            <c:idx val="1"/>
            <c:bubble3D val="0"/>
            <c:spPr>
              <a:solidFill>
                <a:srgbClr val="7A8C5A"/>
              </a:solidFill>
            </c:spPr>
            <c:extLst>
              <c:ext xmlns:c16="http://schemas.microsoft.com/office/drawing/2014/chart" uri="{C3380CC4-5D6E-409C-BE32-E72D297353CC}">
                <c16:uniqueId val="{00000003-E7B8-4522-8CE0-076E2E90A169}"/>
              </c:ext>
            </c:extLst>
          </c:dPt>
          <c:dPt>
            <c:idx val="2"/>
            <c:bubble3D val="0"/>
            <c:spPr>
              <a:solidFill>
                <a:srgbClr val="C96A4B"/>
              </a:solidFill>
            </c:spPr>
            <c:extLst>
              <c:ext xmlns:c16="http://schemas.microsoft.com/office/drawing/2014/chart" uri="{C3380CC4-5D6E-409C-BE32-E72D297353CC}">
                <c16:uniqueId val="{00000005-E7B8-4522-8CE0-076E2E90A169}"/>
              </c:ext>
            </c:extLst>
          </c:dPt>
          <c:dPt>
            <c:idx val="3"/>
            <c:bubble3D val="0"/>
            <c:spPr>
              <a:solidFill>
                <a:srgbClr val="C49A55"/>
              </a:solidFill>
            </c:spPr>
            <c:extLst>
              <c:ext xmlns:c16="http://schemas.microsoft.com/office/drawing/2014/chart" uri="{C3380CC4-5D6E-409C-BE32-E72D297353CC}">
                <c16:uniqueId val="{00000007-E7B8-4522-8CE0-076E2E90A169}"/>
              </c:ext>
            </c:extLst>
          </c:dPt>
          <c:dLbls>
            <c:spPr>
              <a:noFill/>
              <a:ln>
                <a:noFill/>
              </a:ln>
              <a:effectLst/>
            </c:spPr>
            <c:txPr>
              <a:bodyPr anchorCtr="1"/>
              <a:lstStyle/>
              <a:p>
                <a:pPr>
                  <a:defRPr sz="975" b="1">
                    <a:solidFill>
                      <a:srgbClr val="17324D"/>
                    </a:solidFill>
                    <a:latin typeface="DejaVu Sans"/>
                    <a:ea typeface="DejaVu Sans"/>
                    <a:cs typeface="DejaVu Sans"/>
                  </a:defRPr>
                </a:pPr>
                <a:endParaRPr lang="es-ES"/>
              </a:p>
            </c:txPr>
            <c:showLegendKey val="0"/>
            <c:showVal val="1"/>
            <c:showCatName val="1"/>
            <c:showSerName val="0"/>
            <c:showPercent val="0"/>
            <c:showBubbleSize val="0"/>
            <c:showLeaderLines val="0"/>
            <c:extLst>
              <c:ext xmlns:c15="http://schemas.microsoft.com/office/drawing/2012/chart" uri="{CE6537A1-D6FC-4f65-9D91-7224C49458BB}"/>
            </c:extLst>
          </c:dLbls>
          <c:cat>
            <c:strRef>
              <c:f>'Chart Data'!$A$2:$A$5</c:f>
              <c:strCache>
                <c:ptCount val="4"/>
                <c:pt idx="0">
                  <c:v>English</c:v>
                </c:pt>
                <c:pt idx="1">
                  <c:v>German</c:v>
                </c:pt>
                <c:pt idx="2">
                  <c:v>Spanish</c:v>
                </c:pt>
                <c:pt idx="3">
                  <c:v>Other</c:v>
                </c:pt>
              </c:strCache>
            </c:strRef>
          </c:cat>
          <c:val>
            <c:numRef>
              <c:f>'Chart Data'!$B$2:$B$5</c:f>
              <c:numCache>
                <c:formatCode>General</c:formatCode>
                <c:ptCount val="4"/>
                <c:pt idx="0">
                  <c:v>24</c:v>
                </c:pt>
                <c:pt idx="1">
                  <c:v>18</c:v>
                </c:pt>
                <c:pt idx="2">
                  <c:v>12</c:v>
                </c:pt>
                <c:pt idx="3">
                  <c:v>6</c:v>
                </c:pt>
              </c:numCache>
            </c:numRef>
          </c:val>
          <c:extLst>
            <c:ext xmlns:c16="http://schemas.microsoft.com/office/drawing/2014/chart" uri="{C3380CC4-5D6E-409C-BE32-E72D297353CC}">
              <c16:uniqueId val="{00000008-E7B8-4522-8CE0-076E2E90A169}"/>
            </c:ext>
          </c:extLst>
        </c:ser>
        <c:dLbls>
          <c:showLegendKey val="0"/>
          <c:showVal val="1"/>
          <c:showCatName val="1"/>
          <c:showSerName val="0"/>
          <c:showPercent val="0"/>
          <c:showBubbleSize val="0"/>
          <c:showLeaderLines val="0"/>
        </c:dLbls>
        <c:firstSliceAng val="270"/>
        <c:holeSize val="56"/>
      </c:doughnutChart>
      <c:spPr>
        <a:solidFill>
          <a:srgbClr val="FBF7EF"/>
        </a:solidFill>
      </c:spPr>
    </c:plotArea>
    <c:plotVisOnly val="1"/>
    <c:dispBlanksAs val="zero"/>
    <c:showDLblsOverMax val="1"/>
  </c:chart>
  <c:spPr>
    <a:solidFill>
      <a:srgbClr val="FBF7E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Missing</c:v>
          </c:tx>
          <c:spPr>
            <a:solidFill>
              <a:srgbClr val="1C7180"/>
            </a:solidFill>
          </c:spPr>
          <c:invertIfNegative val="1"/>
          <c:dPt>
            <c:idx val="0"/>
            <c:invertIfNegative val="0"/>
            <c:bubble3D val="0"/>
            <c:spPr>
              <a:solidFill>
                <a:srgbClr val="C96A4B"/>
              </a:solidFill>
            </c:spPr>
            <c:extLst>
              <c:ext xmlns:c16="http://schemas.microsoft.com/office/drawing/2014/chart" uri="{C3380CC4-5D6E-409C-BE32-E72D297353CC}">
                <c16:uniqueId val="{00000001-592B-45F9-B6E1-F802BD6D1490}"/>
              </c:ext>
            </c:extLst>
          </c:dPt>
          <c:dPt>
            <c:idx val="1"/>
            <c:invertIfNegative val="0"/>
            <c:bubble3D val="0"/>
            <c:spPr>
              <a:solidFill>
                <a:srgbClr val="C49A55"/>
              </a:solidFill>
            </c:spPr>
            <c:extLst>
              <c:ext xmlns:c16="http://schemas.microsoft.com/office/drawing/2014/chart" uri="{C3380CC4-5D6E-409C-BE32-E72D297353CC}">
                <c16:uniqueId val="{00000003-592B-45F9-B6E1-F802BD6D1490}"/>
              </c:ext>
            </c:extLst>
          </c:dPt>
          <c:dLbls>
            <c:spPr>
              <a:noFill/>
              <a:ln>
                <a:noFill/>
              </a:ln>
              <a:effectLst/>
            </c:spPr>
            <c:txPr>
              <a:bodyPr anchorCtr="1"/>
              <a:lstStyle/>
              <a:p>
                <a:pPr>
                  <a:defRPr sz="1050" b="1">
                    <a:solidFill>
                      <a:srgbClr val="17324D"/>
                    </a:solidFill>
                    <a:latin typeface="DejaVu Sans"/>
                    <a:ea typeface="DejaVu Sans"/>
                    <a:cs typeface="DejaVu San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Financing</c:v>
                </c:pt>
                <c:pt idx="1">
                  <c:v>Timeline</c:v>
                </c:pt>
                <c:pt idx="2">
                  <c:v>Budget</c:v>
                </c:pt>
                <c:pt idx="3">
                  <c:v>Area</c:v>
                </c:pt>
                <c:pt idx="4">
                  <c:v>Type</c:v>
                </c:pt>
              </c:strCache>
            </c:strRef>
          </c:cat>
          <c:val>
            <c:numRef>
              <c:f>'Chart Data'!$B$2:$B$6</c:f>
              <c:numCache>
                <c:formatCode>0%</c:formatCode>
                <c:ptCount val="5"/>
                <c:pt idx="0">
                  <c:v>0.72</c:v>
                </c:pt>
                <c:pt idx="1">
                  <c:v>0.62</c:v>
                </c:pt>
                <c:pt idx="2">
                  <c:v>0.45</c:v>
                </c:pt>
                <c:pt idx="3">
                  <c:v>0.28000000000000003</c:v>
                </c:pt>
                <c:pt idx="4">
                  <c:v>0.12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92B-45F9-B6E1-F802BD6D1490}"/>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D8D1C4"/>
              </a:solidFill>
              <a:prstDash val="solid"/>
            </a:ln>
          </c:spPr>
        </c:majorGridlines>
        <c:numFmt formatCode="General" sourceLinked="1"/>
        <c:majorTickMark val="none"/>
        <c:minorTickMark val="none"/>
        <c:tickLblPos val="nextTo"/>
        <c:spPr>
          <a:ln w="9525">
            <a:solidFill>
              <a:srgbClr val="D8D1C4"/>
            </a:solidFill>
            <a:prstDash val="solid"/>
          </a:ln>
        </c:spPr>
        <c:txPr>
          <a:bodyPr anchorCtr="1"/>
          <a:lstStyle/>
          <a:p>
            <a:pPr>
              <a:defRPr sz="975">
                <a:solidFill>
                  <a:srgbClr val="6D7E87"/>
                </a:solidFill>
                <a:latin typeface="DejaVu Sans"/>
                <a:ea typeface="DejaVu Sans"/>
                <a:cs typeface="DejaVu Sans"/>
              </a:defRPr>
            </a:pPr>
            <a:endParaRPr lang="es-ES"/>
          </a:p>
        </c:txPr>
        <c:crossAx val="48672768"/>
        <c:crosses val="autoZero"/>
        <c:auto val="1"/>
        <c:lblAlgn val="ctr"/>
        <c:lblOffset val="100"/>
        <c:noMultiLvlLbl val="1"/>
      </c:catAx>
      <c:valAx>
        <c:axId val="48672768"/>
        <c:scaling>
          <c:orientation val="minMax"/>
        </c:scaling>
        <c:delete val="0"/>
        <c:axPos val="b"/>
        <c:numFmt formatCode="0%" sourceLinked="1"/>
        <c:majorTickMark val="none"/>
        <c:minorTickMark val="none"/>
        <c:tickLblPos val="nextTo"/>
        <c:spPr>
          <a:ln w="9525">
            <a:solidFill>
              <a:srgbClr val="D8D1C4"/>
            </a:solidFill>
            <a:prstDash val="solid"/>
          </a:ln>
        </c:spPr>
        <c:txPr>
          <a:bodyPr anchorCtr="1"/>
          <a:lstStyle/>
          <a:p>
            <a:pPr>
              <a:defRPr sz="1050">
                <a:solidFill>
                  <a:srgbClr val="17324D"/>
                </a:solidFill>
                <a:latin typeface="DejaVu Sans"/>
                <a:ea typeface="DejaVu Sans"/>
                <a:cs typeface="DejaVu Sans"/>
              </a:defRPr>
            </a:pPr>
            <a:endParaRPr lang="es-ES"/>
          </a:p>
        </c:txPr>
        <c:crossAx val="48650112"/>
        <c:crosses val="autoZero"/>
        <c:crossBetween val="between"/>
      </c:valAx>
      <c:spPr>
        <a:solidFill>
          <a:srgbClr val="FBF7EF"/>
        </a:solidFill>
      </c:spPr>
    </c:plotArea>
    <c:plotVisOnly val="1"/>
    <c:dispBlanksAs val="zero"/>
    <c:showDLblsOverMax val="1"/>
  </c:chart>
  <c:spPr>
    <a:solidFill>
      <a:srgbClr val="FBF7E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evening. This project begins with a situation I know from real estate work in Mallorca: a buyer writes in another language, gives only part of the information, and expects a fast answer. PropLead helps a small agency turn that message into a structured, reviewable first response without removing the agent from the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operational problem in one message. Before an agent can reply, they must understand the language, structure the request, assess readiness, search listings and write a response. In a small team, the quality and speed of this process changes with workload.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Chleo is a fictional scenario designed to represent the operating reality of a microagency. The assumptions are five employees, forty active listings and sixty enquiries per month. The business positioning includes accessible and premium properties, relocation, lifestyle, investment and renovation opportunities. I will replace these assumptions with measured data during discovery.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INE reported annual house-price growth of 13.6 percent in Illes Balears in the first quarter of 2026. This does not prove that faster replies create sales. It does show that the agency operates in a market where availability and buyer expectations can move quickly.</a:t>
            </a:r>
          </a:p>
          <a:p>
            <a:endParaRPr/>
          </a:p>
          <a:p>
            <a:r>
              <a:t>Sources:</a:t>
            </a:r>
          </a:p>
          <a:p>
            <a:r>
              <a:t>- INE House Price Index, Q1 2026: https://www.ine.es/dyngs/Prensa/IPV1T26.htm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Foreign buyers represented 31.47 percent of registered home purchases in Illes Balears in the fourth quarter of 2025. That is more than twice the Spanish share. This directly supports multilingual intake as part of the MVP rather than as a later feature.</a:t>
            </a:r>
          </a:p>
          <a:p>
            <a:endParaRPr/>
          </a:p>
          <a:p>
            <a:r>
              <a:t>Sources:</a:t>
            </a:r>
          </a:p>
          <a:p>
            <a:r>
              <a:t>- Colegio de Registradores, Q4 2025: https://www.registradores.org/-/el-precio-medio-de-la-vivienda-crece-un-2-2-en-el-%C3%BAltimo-trimestre-del-a%C3%B1o-y-alcanza-el-9-5-anual-en-2025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Eurostat reported that 17.2 percent of small Spanish enterprises used AI in 2025, compared with 57.5 percent of large enterprises. The survey begins at ten employees, so it excludes Chleo. I use it only as implementation context. The practical response is a narrow, controlled pilot rather than an enterprise-scale programme.</a:t>
            </a:r>
          </a:p>
          <a:p>
            <a:endParaRPr/>
          </a:p>
          <a:p>
            <a:r>
              <a:t>Sources:</a:t>
            </a:r>
          </a:p>
          <a:p>
            <a:r>
              <a:t>- Eurostat, AI technologies in the EU, 2025: https://ec.europa.eu/eurostat/documents/7870049/23260410/KS-01-26-009-EN-N.pdf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two charts use synthetic data. They do not claim to describe a real client. They define what discovery must measure: the actual language mix and which qualification fields are commonly missing. The baseline assumes that eighty percent of enquiries require a non-Spanish response and that financing, timing and budget create the largest information gaps.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uses two primary public datasets. INE provides current regional market pressure. The Spanish Land Registrars provide the foreign-buyer evidence that directly supports multilingual service. Eurostat is supporting context with a clear limitation. Internal operating data and the property catalogue are synthetic so Round 1 can be tested without personal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Automated follow-up scores slightly higher because it is easier. I selected lead qualification and matching because it addresses the earliest bottleneck and proves a complete business journey. The comparison is transparent. Automatic outbound messages, CRM writes, negotiation and legal advice remain outside Round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smallest MVP that proves the use case. One free-text enquiry becomes a structured profile, a transparent readiness score, up to three compatible properties and a response draft. The process stops at agent approval. The Round 1 POC uses rules, not an LLM. Round 2 upgrades the extraction while preserving the schema and human 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tested Round 1 example. The workflow detects English, extracts an eight-hundred-thousand-euro budget, Palma, apartment, two bedrooms and a three-month timeline. The transparent score is one hundred, and the catalogue returns PM-101 at 575,000 euros. The workflow ends in an agent review queue. The package includes the n8n JSON, documentation and a browser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controls are part of the product, not an appendix. PropLead shows the extracted fields, leaves unknown values blank, explains the score and gives the match reason. It uses only a controlled catalogue and asks an agent to reconfirm availability. During the pilot, the agent approves every recommendation and outbound reply.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evaluation plan has five criteria and five scored cases. The rules baseline passes all five crafted cases. I do not treat this as production accuracy. Round 2 will expand the dataset, trace executions in LangSmith and run at least one experiment covering extraction, hallucination, translation and matching behaviour.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upfront estimate is 4,200 euros. After the pilot, the operating estimate is 240 euros per month for hosting, model usage and monitoring. VAT, paid CRM licences and custom connectors are excluded. The pilot runs for four weeks, and deployment only proceeds after the evaluation thresholds and GDPR controls are approved.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1 requires a decision after the presentation. My current recommendation is to keep the real-estate industry and lead-qualification use case, but the formal decision remains pending until I capture your feedback. I will complete the decision file immediately afterward. For Round 2, the highest risks are GDPR, ROI evidence and final AI Act classification.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92CCB22A-602D-441A-9164-BFC526FF6E1F}"/>
              </a:ext>
            </a:extLst>
          </p:cNvPr>
          <p:cNvSpPr>
            <a:spLocks noGrp="1"/>
          </p:cNvSpPr>
          <p:nvPr/>
        </p:nvSpPr>
        <p:spPr>
          <a:xfrm>
            <a:off x="0" y="0"/>
            <a:ext cx="4095750" cy="6858000"/>
          </a:xfrm>
          <a:prstGeom prst="rect">
            <a:avLst/>
          </a:prstGeom>
          <a:solidFill>
            <a:srgbClr val="17324D"/>
          </a:solidFill>
          <a:ln w="0">
            <a:noFill/>
          </a:ln>
        </p:spPr>
      </p:sp>
      <p:sp>
        <p:nvSpPr>
          <p:cNvPr id="2" name="Rectángulo 1">
            <a:extLst>
              <a:ext uri="{FF2B5EF4-FFF2-40B4-BE49-F238E27FC236}">
                <a16:creationId xmlns:a16="http://schemas.microsoft.com/office/drawing/2014/main" id="{E1000043-E42F-45AD-9E61-ED991DD6E666}"/>
              </a:ext>
            </a:extLst>
          </p:cNvPr>
          <p:cNvSpPr>
            <a:spLocks noGrp="1"/>
          </p:cNvSpPr>
          <p:nvPr/>
        </p:nvSpPr>
        <p:spPr>
          <a:xfrm>
            <a:off x="4095750" y="0"/>
            <a:ext cx="171450" cy="6858000"/>
          </a:xfrm>
          <a:prstGeom prst="rect">
            <a:avLst/>
          </a:prstGeom>
          <a:solidFill>
            <a:srgbClr val="C96A4B"/>
          </a:solidFill>
          <a:ln w="0">
            <a:noFill/>
          </a:ln>
        </p:spPr>
      </p:sp>
      <p:sp>
        <p:nvSpPr>
          <p:cNvPr id="3" name="Rectángulo 2">
            <a:extLst>
              <a:ext uri="{FF2B5EF4-FFF2-40B4-BE49-F238E27FC236}">
                <a16:creationId xmlns:a16="http://schemas.microsoft.com/office/drawing/2014/main" id="{B78A0E1A-8399-4A62-B01C-BA89DB693F18}"/>
              </a:ext>
            </a:extLst>
          </p:cNvPr>
          <p:cNvSpPr>
            <a:spLocks noGrp="1"/>
          </p:cNvSpPr>
          <p:nvPr/>
        </p:nvSpPr>
        <p:spPr>
          <a:xfrm>
            <a:off x="609600" y="552450"/>
            <a:ext cx="2952750" cy="228600"/>
          </a:xfrm>
          <a:prstGeom prst="rect">
            <a:avLst/>
          </a:prstGeom>
          <a:noFill/>
          <a:ln w="0">
            <a:noFill/>
          </a:ln>
        </p:spPr>
        <p:txBody>
          <a:bodyPr anchor="t">
            <a:normAutofit/>
          </a:bodyPr>
          <a:lstStyle/>
          <a:p>
            <a:pPr algn="l">
              <a:defRPr sz="900" b="1" i="0">
                <a:solidFill>
                  <a:srgbClr val="DCEAE7"/>
                </a:solidFill>
                <a:latin typeface="DejaVu Sans"/>
                <a:ea typeface="DejaVu Sans"/>
                <a:cs typeface="DejaVu Sans"/>
              </a:defRPr>
            </a:pPr>
            <a:r>
              <a:rPr sz="900" b="1" i="0">
                <a:solidFill>
                  <a:srgbClr val="DCEAE7"/>
                </a:solidFill>
                <a:latin typeface="DejaVu Sans"/>
                <a:ea typeface="DejaVu Sans"/>
                <a:cs typeface="DejaVu Sans"/>
              </a:rPr>
              <a:t>CHLEO REALTY MALLORCA</a:t>
            </a:r>
          </a:p>
        </p:txBody>
      </p:sp>
      <p:sp>
        <p:nvSpPr>
          <p:cNvPr id="4" name="Rectángulo 3">
            <a:extLst>
              <a:ext uri="{FF2B5EF4-FFF2-40B4-BE49-F238E27FC236}">
                <a16:creationId xmlns:a16="http://schemas.microsoft.com/office/drawing/2014/main" id="{A2DB92AF-7DB5-40CC-A15F-B0D9D27C6C93}"/>
              </a:ext>
            </a:extLst>
          </p:cNvPr>
          <p:cNvSpPr>
            <a:spLocks noGrp="1"/>
          </p:cNvSpPr>
          <p:nvPr/>
        </p:nvSpPr>
        <p:spPr>
          <a:xfrm>
            <a:off x="590550" y="1381125"/>
            <a:ext cx="3000375" cy="723900"/>
          </a:xfrm>
          <a:prstGeom prst="rect">
            <a:avLst/>
          </a:prstGeom>
          <a:noFill/>
          <a:ln w="0">
            <a:noFill/>
          </a:ln>
        </p:spPr>
        <p:txBody>
          <a:bodyPr anchor="t">
            <a:normAutofit/>
          </a:bodyPr>
          <a:lstStyle/>
          <a:p>
            <a:pPr algn="l">
              <a:defRPr sz="3600" b="1" i="0">
                <a:solidFill>
                  <a:srgbClr val="FFFFFF"/>
                </a:solidFill>
                <a:latin typeface="DejaVu Serif"/>
                <a:ea typeface="DejaVu Serif"/>
                <a:cs typeface="DejaVu Serif"/>
              </a:defRPr>
            </a:pPr>
            <a:r>
              <a:rPr sz="3600" b="1" i="0">
                <a:solidFill>
                  <a:srgbClr val="FFFFFF"/>
                </a:solidFill>
                <a:latin typeface="DejaVu Serif"/>
                <a:ea typeface="DejaVu Serif"/>
                <a:cs typeface="DejaVu Serif"/>
              </a:rPr>
              <a:t>PropLead</a:t>
            </a:r>
          </a:p>
        </p:txBody>
      </p:sp>
      <p:sp>
        <p:nvSpPr>
          <p:cNvPr id="5" name="Rectángulo 4">
            <a:extLst>
              <a:ext uri="{FF2B5EF4-FFF2-40B4-BE49-F238E27FC236}">
                <a16:creationId xmlns:a16="http://schemas.microsoft.com/office/drawing/2014/main" id="{46C928A3-3110-4B42-9526-71FE81B12A0E}"/>
              </a:ext>
            </a:extLst>
          </p:cNvPr>
          <p:cNvSpPr>
            <a:spLocks noGrp="1"/>
          </p:cNvSpPr>
          <p:nvPr/>
        </p:nvSpPr>
        <p:spPr>
          <a:xfrm>
            <a:off x="628650" y="2238375"/>
            <a:ext cx="2857500" cy="1047750"/>
          </a:xfrm>
          <a:prstGeom prst="rect">
            <a:avLst/>
          </a:prstGeom>
          <a:noFill/>
          <a:ln w="0">
            <a:noFill/>
          </a:ln>
        </p:spPr>
        <p:txBody>
          <a:bodyPr anchor="t">
            <a:normAutofit fontScale="90942"/>
          </a:bodyPr>
          <a:lstStyle/>
          <a:p>
            <a:pPr algn="l">
              <a:defRPr sz="1725" b="0" i="0">
                <a:solidFill>
                  <a:srgbClr val="FFFFFF"/>
                </a:solidFill>
                <a:latin typeface="DejaVu Sans"/>
                <a:ea typeface="DejaVu Sans"/>
                <a:cs typeface="DejaVu Sans"/>
              </a:defRPr>
            </a:pPr>
            <a:r>
              <a:rPr sz="1725" b="0" i="0">
                <a:solidFill>
                  <a:srgbClr val="FFFFFF"/>
                </a:solidFill>
                <a:latin typeface="DejaVu Sans"/>
                <a:ea typeface="DejaVu Sans"/>
                <a:cs typeface="DejaVu Sans"/>
              </a:rPr>
              <a:t>AI-assisted lead qualification for a five-person Mallorca agency</a:t>
            </a:r>
          </a:p>
        </p:txBody>
      </p:sp>
      <p:sp>
        <p:nvSpPr>
          <p:cNvPr id="6" name="Rectángulo 5">
            <a:extLst>
              <a:ext uri="{FF2B5EF4-FFF2-40B4-BE49-F238E27FC236}">
                <a16:creationId xmlns:a16="http://schemas.microsoft.com/office/drawing/2014/main" id="{48531663-CB5D-47A7-A536-598D4F1A1A82}"/>
              </a:ext>
            </a:extLst>
          </p:cNvPr>
          <p:cNvSpPr>
            <a:spLocks noGrp="1"/>
          </p:cNvSpPr>
          <p:nvPr/>
        </p:nvSpPr>
        <p:spPr>
          <a:xfrm>
            <a:off x="619125" y="3667125"/>
            <a:ext cx="2714625" cy="19050"/>
          </a:xfrm>
          <a:prstGeom prst="rect">
            <a:avLst/>
          </a:prstGeom>
          <a:solidFill>
            <a:srgbClr val="C96A4B"/>
          </a:solidFill>
          <a:ln w="0">
            <a:noFill/>
          </a:ln>
        </p:spPr>
      </p:sp>
      <p:sp>
        <p:nvSpPr>
          <p:cNvPr id="7" name="Rectángulo 6">
            <a:extLst>
              <a:ext uri="{FF2B5EF4-FFF2-40B4-BE49-F238E27FC236}">
                <a16:creationId xmlns:a16="http://schemas.microsoft.com/office/drawing/2014/main" id="{7FEC7AA6-9B58-463D-A892-AC6CA5F0C14B}"/>
              </a:ext>
            </a:extLst>
          </p:cNvPr>
          <p:cNvSpPr>
            <a:spLocks noGrp="1"/>
          </p:cNvSpPr>
          <p:nvPr/>
        </p:nvSpPr>
        <p:spPr>
          <a:xfrm>
            <a:off x="619125" y="3943350"/>
            <a:ext cx="2762250" cy="247650"/>
          </a:xfrm>
          <a:prstGeom prst="rect">
            <a:avLst/>
          </a:prstGeom>
          <a:noFill/>
          <a:ln w="0">
            <a:noFill/>
          </a:ln>
        </p:spPr>
        <p:txBody>
          <a:bodyPr anchor="t">
            <a:normAutofit/>
          </a:bodyPr>
          <a:lstStyle/>
          <a:p>
            <a:pPr algn="l">
              <a:defRPr sz="900" b="1" i="0">
                <a:solidFill>
                  <a:srgbClr val="DCEAE7"/>
                </a:solidFill>
                <a:latin typeface="DejaVu Sans"/>
                <a:ea typeface="DejaVu Sans"/>
                <a:cs typeface="DejaVu Sans"/>
              </a:defRPr>
            </a:pPr>
            <a:r>
              <a:rPr sz="900" b="1" i="0">
                <a:solidFill>
                  <a:srgbClr val="DCEAE7"/>
                </a:solidFill>
                <a:latin typeface="DejaVu Sans"/>
                <a:ea typeface="DejaVu Sans"/>
                <a:cs typeface="DejaVu Sans"/>
              </a:rPr>
              <a:t>IRONHACK CAPSTONE · ROUND 1</a:t>
            </a:r>
          </a:p>
        </p:txBody>
      </p:sp>
      <p:sp>
        <p:nvSpPr>
          <p:cNvPr id="8" name="Rectángulo 7">
            <a:extLst>
              <a:ext uri="{FF2B5EF4-FFF2-40B4-BE49-F238E27FC236}">
                <a16:creationId xmlns:a16="http://schemas.microsoft.com/office/drawing/2014/main" id="{71DF3FFC-4013-40BD-9AF5-8D4DDBE46AF7}"/>
              </a:ext>
            </a:extLst>
          </p:cNvPr>
          <p:cNvSpPr>
            <a:spLocks noGrp="1"/>
          </p:cNvSpPr>
          <p:nvPr/>
        </p:nvSpPr>
        <p:spPr>
          <a:xfrm>
            <a:off x="619125" y="5048250"/>
            <a:ext cx="2762250" cy="590550"/>
          </a:xfrm>
          <a:prstGeom prst="rect">
            <a:avLst/>
          </a:prstGeom>
          <a:noFill/>
          <a:ln w="0">
            <a:noFill/>
          </a:ln>
        </p:spPr>
        <p:txBody>
          <a:bodyPr anchor="t">
            <a:normAutofit/>
          </a:bodyPr>
          <a:lstStyle/>
          <a:p>
            <a:pPr algn="l">
              <a:defRPr sz="1350" b="1" i="0">
                <a:solidFill>
                  <a:srgbClr val="FFFFFF"/>
                </a:solidFill>
                <a:latin typeface="DejaVu Sans"/>
                <a:ea typeface="DejaVu Sans"/>
                <a:cs typeface="DejaVu Sans"/>
              </a:defRPr>
            </a:pPr>
            <a:r>
              <a:rPr sz="1350" b="1" i="0">
                <a:solidFill>
                  <a:srgbClr val="FFFFFF"/>
                </a:solidFill>
                <a:latin typeface="DejaVu Sans"/>
                <a:ea typeface="DejaVu Sans"/>
                <a:cs typeface="DejaVu Sans"/>
              </a:rPr>
              <a:t>Carlos Felipe Valencia</a:t>
            </a:r>
          </a:p>
          <a:p>
            <a:pPr algn="l">
              <a:defRPr sz="1350" b="1" i="0">
                <a:solidFill>
                  <a:srgbClr val="FFFFFF"/>
                </a:solidFill>
                <a:latin typeface="DejaVu Sans"/>
                <a:ea typeface="DejaVu Sans"/>
                <a:cs typeface="DejaVu Sans"/>
              </a:defRPr>
            </a:pPr>
            <a:r>
              <a:rPr sz="1350" b="1" i="0">
                <a:solidFill>
                  <a:srgbClr val="FFFFFF"/>
                </a:solidFill>
                <a:latin typeface="DejaVu Sans"/>
                <a:ea typeface="DejaVu Sans"/>
                <a:cs typeface="DejaVu Sans"/>
              </a:rPr>
              <a:t>September 2026</a:t>
            </a:r>
          </a:p>
        </p:txBody>
      </p:sp>
      <p:sp>
        <p:nvSpPr>
          <p:cNvPr id="9" name="Elipse 8">
            <a:extLst>
              <a:ext uri="{FF2B5EF4-FFF2-40B4-BE49-F238E27FC236}">
                <a16:creationId xmlns:a16="http://schemas.microsoft.com/office/drawing/2014/main" id="{0FF05C24-17CA-41D7-AEE8-87D1715B0850}"/>
              </a:ext>
            </a:extLst>
          </p:cNvPr>
          <p:cNvSpPr>
            <a:spLocks noGrp="1"/>
          </p:cNvSpPr>
          <p:nvPr/>
        </p:nvSpPr>
        <p:spPr>
          <a:xfrm>
            <a:off x="5429250" y="904875"/>
            <a:ext cx="4857750" cy="4857750"/>
          </a:xfrm>
          <a:prstGeom prst="ellipse">
            <a:avLst/>
          </a:prstGeom>
          <a:solidFill>
            <a:srgbClr val="F1E8D7"/>
          </a:solidFill>
          <a:ln w="0">
            <a:noFill/>
          </a:ln>
        </p:spPr>
      </p:sp>
      <p:sp>
        <p:nvSpPr>
          <p:cNvPr id="10" name="Elipse 9">
            <a:extLst>
              <a:ext uri="{FF2B5EF4-FFF2-40B4-BE49-F238E27FC236}">
                <a16:creationId xmlns:a16="http://schemas.microsoft.com/office/drawing/2014/main" id="{A626A582-E2F6-4B76-9063-6B18BE2878BC}"/>
              </a:ext>
            </a:extLst>
          </p:cNvPr>
          <p:cNvSpPr>
            <a:spLocks noGrp="1"/>
          </p:cNvSpPr>
          <p:nvPr/>
        </p:nvSpPr>
        <p:spPr>
          <a:xfrm>
            <a:off x="6667500" y="2000250"/>
            <a:ext cx="2952750" cy="2952750"/>
          </a:xfrm>
          <a:prstGeom prst="ellipse">
            <a:avLst/>
          </a:prstGeom>
          <a:solidFill>
            <a:srgbClr val="DCEAE7"/>
          </a:solidFill>
          <a:ln w="0">
            <a:noFill/>
          </a:ln>
        </p:spPr>
      </p:sp>
      <p:sp>
        <p:nvSpPr>
          <p:cNvPr id="11" name="Rectángulo: esquinas redondeadas 10">
            <a:extLst>
              <a:ext uri="{FF2B5EF4-FFF2-40B4-BE49-F238E27FC236}">
                <a16:creationId xmlns:a16="http://schemas.microsoft.com/office/drawing/2014/main" id="{A698056A-E9A4-480B-A59F-FCB8C44AAC99}"/>
              </a:ext>
            </a:extLst>
          </p:cNvPr>
          <p:cNvSpPr>
            <a:spLocks noGrp="1"/>
          </p:cNvSpPr>
          <p:nvPr/>
        </p:nvSpPr>
        <p:spPr>
          <a:xfrm>
            <a:off x="5829300" y="1866900"/>
            <a:ext cx="3714750" cy="2400300"/>
          </a:xfrm>
          <a:prstGeom prst="roundRect">
            <a:avLst>
              <a:gd name="adj" fmla="val 7937"/>
            </a:avLst>
          </a:prstGeom>
          <a:solidFill>
            <a:srgbClr val="FFFFFF"/>
          </a:solidFill>
          <a:ln w="9525">
            <a:solidFill>
              <a:srgbClr val="D8D1C4"/>
            </a:solidFill>
            <a:prstDash val="solid"/>
          </a:ln>
        </p:spPr>
      </p:sp>
      <p:sp>
        <p:nvSpPr>
          <p:cNvPr id="12" name="Rectángulo: esquinas redondeadas 11">
            <a:extLst>
              <a:ext uri="{FF2B5EF4-FFF2-40B4-BE49-F238E27FC236}">
                <a16:creationId xmlns:a16="http://schemas.microsoft.com/office/drawing/2014/main" id="{D265B213-A1E8-47FE-9A51-A1786DCC152F}"/>
              </a:ext>
            </a:extLst>
          </p:cNvPr>
          <p:cNvSpPr>
            <a:spLocks noGrp="1"/>
          </p:cNvSpPr>
          <p:nvPr/>
        </p:nvSpPr>
        <p:spPr>
          <a:xfrm>
            <a:off x="6153150" y="2133600"/>
            <a:ext cx="1562100" cy="266700"/>
          </a:xfrm>
          <a:prstGeom prst="roundRect">
            <a:avLst>
              <a:gd name="adj" fmla="val 42857"/>
            </a:avLst>
          </a:prstGeom>
          <a:solidFill>
            <a:srgbClr val="F5E3DC"/>
          </a:solidFill>
          <a:ln w="0">
            <a:noFill/>
          </a:ln>
        </p:spPr>
        <p:txBody>
          <a:bodyPr anchor="ctr">
            <a:normAutofit fontScale="78963"/>
          </a:bodyPr>
          <a:lstStyle/>
          <a:p>
            <a:pPr algn="ctr">
              <a:defRPr sz="900" b="1" i="0">
                <a:solidFill>
                  <a:srgbClr val="C96A4B"/>
                </a:solidFill>
                <a:latin typeface="DejaVu Sans"/>
                <a:ea typeface="DejaVu Sans"/>
                <a:cs typeface="DejaVu Sans"/>
              </a:defRPr>
            </a:pPr>
            <a:r>
              <a:rPr sz="900" b="1" i="0">
                <a:solidFill>
                  <a:srgbClr val="C96A4B"/>
                </a:solidFill>
                <a:latin typeface="DejaVu Sans"/>
                <a:ea typeface="DejaVu Sans"/>
                <a:cs typeface="DejaVu Sans"/>
              </a:rPr>
              <a:t>NEW BUYER ENQUIRY</a:t>
            </a:r>
          </a:p>
        </p:txBody>
      </p:sp>
      <p:sp>
        <p:nvSpPr>
          <p:cNvPr id="13" name="Rectángulo 12">
            <a:extLst>
              <a:ext uri="{FF2B5EF4-FFF2-40B4-BE49-F238E27FC236}">
                <a16:creationId xmlns:a16="http://schemas.microsoft.com/office/drawing/2014/main" id="{B922E480-6896-4D85-8C91-EF756FCB93B0}"/>
              </a:ext>
            </a:extLst>
          </p:cNvPr>
          <p:cNvSpPr>
            <a:spLocks noGrp="1"/>
          </p:cNvSpPr>
          <p:nvPr/>
        </p:nvSpPr>
        <p:spPr>
          <a:xfrm>
            <a:off x="6172200" y="2590800"/>
            <a:ext cx="3048000" cy="1009650"/>
          </a:xfrm>
          <a:prstGeom prst="rect">
            <a:avLst/>
          </a:prstGeom>
          <a:noFill/>
          <a:ln w="0">
            <a:noFill/>
          </a:ln>
        </p:spPr>
        <p:txBody>
          <a:bodyPr anchor="t">
            <a:normAutofit/>
          </a:bodyPr>
          <a:lstStyle/>
          <a:p>
            <a:pPr algn="l">
              <a:defRPr sz="1500" b="0" i="1">
                <a:solidFill>
                  <a:srgbClr val="17324D"/>
                </a:solidFill>
                <a:latin typeface="DejaVu Serif"/>
                <a:ea typeface="DejaVu Serif"/>
                <a:cs typeface="DejaVu Serif"/>
              </a:defRPr>
            </a:pPr>
            <a:r>
              <a:rPr sz="1500" b="0" i="1">
                <a:solidFill>
                  <a:srgbClr val="17324D"/>
                </a:solidFill>
                <a:latin typeface="DejaVu Serif"/>
                <a:ea typeface="DejaVu Serif"/>
                <a:cs typeface="DejaVu Serif"/>
              </a:rPr>
              <a:t>“Looking for a 2-bedroom apartment in Palma. Budget €800k. We want to buy within three months.”</a:t>
            </a:r>
          </a:p>
        </p:txBody>
      </p:sp>
      <p:sp>
        <p:nvSpPr>
          <p:cNvPr id="14" name="Rectángulo 13">
            <a:extLst>
              <a:ext uri="{FF2B5EF4-FFF2-40B4-BE49-F238E27FC236}">
                <a16:creationId xmlns:a16="http://schemas.microsoft.com/office/drawing/2014/main" id="{AB84A570-70D1-4FE6-A158-FE4B29404E0D}"/>
              </a:ext>
            </a:extLst>
          </p:cNvPr>
          <p:cNvSpPr>
            <a:spLocks noGrp="1"/>
          </p:cNvSpPr>
          <p:nvPr/>
        </p:nvSpPr>
        <p:spPr>
          <a:xfrm>
            <a:off x="6172200" y="3752850"/>
            <a:ext cx="2857500" cy="228600"/>
          </a:xfrm>
          <a:prstGeom prst="rect">
            <a:avLst/>
          </a:prstGeom>
          <a:noFill/>
          <a:ln w="0">
            <a:noFill/>
          </a:ln>
        </p:spPr>
        <p:txBody>
          <a:bodyPr anchor="t">
            <a:normAutofit fontScale="92308"/>
          </a:bodyPr>
          <a:lstStyle/>
          <a:p>
            <a:pPr algn="l">
              <a:defRPr sz="975" b="0" i="0">
                <a:solidFill>
                  <a:srgbClr val="6D7E87"/>
                </a:solidFill>
                <a:latin typeface="DejaVu Sans"/>
                <a:ea typeface="DejaVu Sans"/>
                <a:cs typeface="DejaVu Sans"/>
              </a:defRPr>
            </a:pPr>
            <a:r>
              <a:rPr sz="975" b="0" i="0">
                <a:solidFill>
                  <a:srgbClr val="6D7E87"/>
                </a:solidFill>
                <a:latin typeface="DejaVu Sans"/>
                <a:ea typeface="DejaVu Sans"/>
                <a:cs typeface="DejaVu Sans"/>
              </a:rPr>
              <a:t>English · WhatsApp · 09:14</a:t>
            </a:r>
          </a:p>
        </p:txBody>
      </p:sp>
      <p:sp>
        <p:nvSpPr>
          <p:cNvPr id="15" name="Rectángulo: esquinas redondeadas 14">
            <a:extLst>
              <a:ext uri="{FF2B5EF4-FFF2-40B4-BE49-F238E27FC236}">
                <a16:creationId xmlns:a16="http://schemas.microsoft.com/office/drawing/2014/main" id="{EE792093-DD21-4DFA-9DB4-476903EB3B90}"/>
              </a:ext>
            </a:extLst>
          </p:cNvPr>
          <p:cNvSpPr>
            <a:spLocks noGrp="1"/>
          </p:cNvSpPr>
          <p:nvPr/>
        </p:nvSpPr>
        <p:spPr>
          <a:xfrm>
            <a:off x="6953250" y="4629150"/>
            <a:ext cx="3429000" cy="838200"/>
          </a:xfrm>
          <a:prstGeom prst="roundRect">
            <a:avLst>
              <a:gd name="adj" fmla="val 20455"/>
            </a:avLst>
          </a:prstGeom>
          <a:solidFill>
            <a:srgbClr val="1C7180"/>
          </a:solidFill>
          <a:ln w="0">
            <a:noFill/>
          </a:ln>
        </p:spPr>
      </p:sp>
      <p:sp>
        <p:nvSpPr>
          <p:cNvPr id="16" name="Rectángulo 15">
            <a:extLst>
              <a:ext uri="{FF2B5EF4-FFF2-40B4-BE49-F238E27FC236}">
                <a16:creationId xmlns:a16="http://schemas.microsoft.com/office/drawing/2014/main" id="{A6717091-D081-45EC-8F20-3AF83CA3E6AA}"/>
              </a:ext>
            </a:extLst>
          </p:cNvPr>
          <p:cNvSpPr>
            <a:spLocks noGrp="1"/>
          </p:cNvSpPr>
          <p:nvPr/>
        </p:nvSpPr>
        <p:spPr>
          <a:xfrm>
            <a:off x="7258050" y="4829175"/>
            <a:ext cx="2857500" cy="438150"/>
          </a:xfrm>
          <a:prstGeom prst="rect">
            <a:avLst/>
          </a:prstGeom>
          <a:noFill/>
          <a:ln w="0">
            <a:noFill/>
          </a:ln>
        </p:spPr>
        <p:txBody>
          <a:bodyPr anchor="ctr">
            <a:normAutofit fontScale="68939"/>
          </a:bodyPr>
          <a:lstStyle/>
          <a:p>
            <a:pPr algn="ctr">
              <a:defRPr sz="1650" b="1" i="0">
                <a:solidFill>
                  <a:srgbClr val="FFFFFF"/>
                </a:solidFill>
                <a:latin typeface="DejaVu Sans"/>
                <a:ea typeface="DejaVu Sans"/>
                <a:cs typeface="DejaVu Sans"/>
              </a:defRPr>
            </a:pPr>
            <a:r>
              <a:rPr sz="1650" b="1" i="0">
                <a:solidFill>
                  <a:srgbClr val="FFFFFF"/>
                </a:solidFill>
                <a:latin typeface="DejaVu Sans"/>
                <a:ea typeface="DejaVu Sans"/>
                <a:cs typeface="DejaVu Sans"/>
              </a:rPr>
              <a:t>One enquiry. One clear next action.</a:t>
            </a:r>
          </a:p>
        </p:txBody>
      </p:sp>
    </p:spTree>
    <p:extLst>
      <p:ext uri="{BB962C8B-B14F-4D97-AF65-F5344CB8AC3E}">
        <p14:creationId xmlns:p14="http://schemas.microsoft.com/office/powerpoint/2010/main" val="2097914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28" name="Rectángulo 27">
            <a:extLst>
              <a:ext uri="{FF2B5EF4-FFF2-40B4-BE49-F238E27FC236}">
                <a16:creationId xmlns:a16="http://schemas.microsoft.com/office/drawing/2014/main" id="{78EA85CF-6C17-4927-9B30-E8358D0C5710}"/>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72AA8F05-497A-4D16-8970-3437569527FA}"/>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PROPLead · CHLEO REALTY MALLORCA</a:t>
            </a:r>
          </a:p>
        </p:txBody>
      </p:sp>
      <p:sp>
        <p:nvSpPr>
          <p:cNvPr id="3" name="Rectángulo 2">
            <a:extLst>
              <a:ext uri="{FF2B5EF4-FFF2-40B4-BE49-F238E27FC236}">
                <a16:creationId xmlns:a16="http://schemas.microsoft.com/office/drawing/2014/main" id="{6AEBED89-1C1C-4EB5-8CEF-068256A0759A}"/>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A normal enquiry creates five separate tasks</a:t>
            </a:r>
          </a:p>
        </p:txBody>
      </p:sp>
      <p:sp>
        <p:nvSpPr>
          <p:cNvPr id="4" name="Rectángulo 3">
            <a:extLst>
              <a:ext uri="{FF2B5EF4-FFF2-40B4-BE49-F238E27FC236}">
                <a16:creationId xmlns:a16="http://schemas.microsoft.com/office/drawing/2014/main" id="{87DA0354-DC38-4713-9C0C-A38E283E03F6}"/>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02</a:t>
            </a:r>
          </a:p>
        </p:txBody>
      </p:sp>
      <p:sp>
        <p:nvSpPr>
          <p:cNvPr id="5" name="Rectángulo 4">
            <a:extLst>
              <a:ext uri="{FF2B5EF4-FFF2-40B4-BE49-F238E27FC236}">
                <a16:creationId xmlns:a16="http://schemas.microsoft.com/office/drawing/2014/main" id="{566B2DBC-5155-405F-AD92-9AC5CC9F54FD}"/>
              </a:ext>
            </a:extLst>
          </p:cNvPr>
          <p:cNvSpPr>
            <a:spLocks noGrp="1"/>
          </p:cNvSpPr>
          <p:nvPr/>
        </p:nvSpPr>
        <p:spPr>
          <a:xfrm>
            <a:off x="609600" y="1304925"/>
            <a:ext cx="10972800" cy="9525"/>
          </a:xfrm>
          <a:prstGeom prst="rect">
            <a:avLst/>
          </a:prstGeom>
          <a:solidFill>
            <a:srgbClr val="D8D1C4"/>
          </a:solidFill>
          <a:ln w="0">
            <a:noFill/>
          </a:ln>
        </p:spPr>
      </p:sp>
      <p:sp>
        <p:nvSpPr>
          <p:cNvPr id="6" name="Rectángulo 5">
            <a:extLst>
              <a:ext uri="{FF2B5EF4-FFF2-40B4-BE49-F238E27FC236}">
                <a16:creationId xmlns:a16="http://schemas.microsoft.com/office/drawing/2014/main" id="{85396EE2-AA5F-40F2-8AF7-2358CE88C5CE}"/>
              </a:ext>
            </a:extLst>
          </p:cNvPr>
          <p:cNvSpPr>
            <a:spLocks noGrp="1"/>
          </p:cNvSpPr>
          <p:nvPr/>
        </p:nvSpPr>
        <p:spPr>
          <a:xfrm>
            <a:off x="685800" y="1638300"/>
            <a:ext cx="1238250" cy="419100"/>
          </a:xfrm>
          <a:prstGeom prst="rect">
            <a:avLst/>
          </a:prstGeom>
          <a:noFill/>
          <a:ln w="0">
            <a:noFill/>
          </a:ln>
        </p:spPr>
        <p:txBody>
          <a:bodyPr anchor="t">
            <a:normAutofit fontScale="95556"/>
          </a:bodyPr>
          <a:lstStyle/>
          <a:p>
            <a:pPr algn="l">
              <a:defRPr sz="2250" b="1" i="0">
                <a:solidFill>
                  <a:srgbClr val="C96A4B"/>
                </a:solidFill>
                <a:latin typeface="DejaVu Serif"/>
                <a:ea typeface="DejaVu Serif"/>
                <a:cs typeface="DejaVu Serif"/>
              </a:defRPr>
            </a:pPr>
            <a:r>
              <a:rPr sz="2250" b="1" i="0" dirty="0">
                <a:solidFill>
                  <a:srgbClr val="C96A4B"/>
                </a:solidFill>
                <a:latin typeface="DejaVu Serif"/>
                <a:ea typeface="DejaVu Serif"/>
                <a:cs typeface="DejaVu Serif"/>
              </a:rPr>
              <a:t>09:14</a:t>
            </a:r>
          </a:p>
        </p:txBody>
      </p:sp>
      <p:sp>
        <p:nvSpPr>
          <p:cNvPr id="7" name="Rectángulo: esquinas redondeadas 6">
            <a:extLst>
              <a:ext uri="{FF2B5EF4-FFF2-40B4-BE49-F238E27FC236}">
                <a16:creationId xmlns:a16="http://schemas.microsoft.com/office/drawing/2014/main" id="{EAB294EF-88AB-4D35-9B72-711C08849889}"/>
              </a:ext>
            </a:extLst>
          </p:cNvPr>
          <p:cNvSpPr>
            <a:spLocks noGrp="1"/>
          </p:cNvSpPr>
          <p:nvPr/>
        </p:nvSpPr>
        <p:spPr>
          <a:xfrm>
            <a:off x="685800" y="2171700"/>
            <a:ext cx="4905375" cy="2428875"/>
          </a:xfrm>
          <a:prstGeom prst="roundRect">
            <a:avLst>
              <a:gd name="adj" fmla="val 7059"/>
            </a:avLst>
          </a:prstGeom>
          <a:solidFill>
            <a:srgbClr val="FFFFFF"/>
          </a:solidFill>
          <a:ln w="9525">
            <a:solidFill>
              <a:srgbClr val="D8D1C4"/>
            </a:solidFill>
            <a:prstDash val="solid"/>
          </a:ln>
        </p:spPr>
      </p:sp>
      <p:sp>
        <p:nvSpPr>
          <p:cNvPr id="8" name="Rectángulo: esquinas redondeadas 7">
            <a:extLst>
              <a:ext uri="{FF2B5EF4-FFF2-40B4-BE49-F238E27FC236}">
                <a16:creationId xmlns:a16="http://schemas.microsoft.com/office/drawing/2014/main" id="{1D76A7E1-4B0F-4E2B-BC02-D910B543FC03}"/>
              </a:ext>
            </a:extLst>
          </p:cNvPr>
          <p:cNvSpPr>
            <a:spLocks noGrp="1"/>
          </p:cNvSpPr>
          <p:nvPr/>
        </p:nvSpPr>
        <p:spPr>
          <a:xfrm>
            <a:off x="933450" y="2400300"/>
            <a:ext cx="1619250"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WHATSAPP · ENGLISH</a:t>
            </a:r>
          </a:p>
        </p:txBody>
      </p:sp>
      <p:sp>
        <p:nvSpPr>
          <p:cNvPr id="9" name="Rectángulo 8">
            <a:extLst>
              <a:ext uri="{FF2B5EF4-FFF2-40B4-BE49-F238E27FC236}">
                <a16:creationId xmlns:a16="http://schemas.microsoft.com/office/drawing/2014/main" id="{E17B6DD7-A516-4440-A33D-E9AB6F22BDF6}"/>
              </a:ext>
            </a:extLst>
          </p:cNvPr>
          <p:cNvSpPr>
            <a:spLocks noGrp="1"/>
          </p:cNvSpPr>
          <p:nvPr/>
        </p:nvSpPr>
        <p:spPr>
          <a:xfrm>
            <a:off x="952500" y="2857500"/>
            <a:ext cx="4191000" cy="1104900"/>
          </a:xfrm>
          <a:prstGeom prst="rect">
            <a:avLst/>
          </a:prstGeom>
          <a:noFill/>
          <a:ln w="0">
            <a:noFill/>
          </a:ln>
        </p:spPr>
        <p:txBody>
          <a:bodyPr anchor="t">
            <a:normAutofit/>
          </a:bodyPr>
          <a:lstStyle/>
          <a:p>
            <a:pPr algn="l">
              <a:defRPr sz="1575" b="0" i="0">
                <a:solidFill>
                  <a:srgbClr val="17324D"/>
                </a:solidFill>
                <a:latin typeface="DejaVu Serif"/>
                <a:ea typeface="DejaVu Serif"/>
                <a:cs typeface="DejaVu Serif"/>
              </a:defRPr>
            </a:pPr>
            <a:r>
              <a:rPr sz="1575" b="0" i="0">
                <a:solidFill>
                  <a:srgbClr val="17324D"/>
                </a:solidFill>
                <a:latin typeface="DejaVu Serif"/>
                <a:ea typeface="DejaVu Serif"/>
                <a:cs typeface="DejaVu Serif"/>
              </a:rPr>
              <a:t>Hi, I’m looking for a 2-bedroom apartment in Palma with a budget of €800,000. I would like to buy within the next three months.</a:t>
            </a:r>
          </a:p>
        </p:txBody>
      </p:sp>
      <p:sp>
        <p:nvSpPr>
          <p:cNvPr id="10" name="Rectángulo 9">
            <a:extLst>
              <a:ext uri="{FF2B5EF4-FFF2-40B4-BE49-F238E27FC236}">
                <a16:creationId xmlns:a16="http://schemas.microsoft.com/office/drawing/2014/main" id="{154B52D8-01A1-40DC-A068-57E5F6DBF6E6}"/>
              </a:ext>
            </a:extLst>
          </p:cNvPr>
          <p:cNvSpPr>
            <a:spLocks noGrp="1"/>
          </p:cNvSpPr>
          <p:nvPr/>
        </p:nvSpPr>
        <p:spPr>
          <a:xfrm>
            <a:off x="952500" y="4162425"/>
            <a:ext cx="2095500" cy="209550"/>
          </a:xfrm>
          <a:prstGeom prst="rect">
            <a:avLst/>
          </a:prstGeom>
          <a:noFill/>
          <a:ln w="0">
            <a:noFill/>
          </a:ln>
        </p:spPr>
        <p:txBody>
          <a:bodyPr anchor="t">
            <a:normAutofit fontScale="79487"/>
          </a:bodyPr>
          <a:lstStyle/>
          <a:p>
            <a:pPr algn="l">
              <a:defRPr sz="975" b="1" i="0">
                <a:solidFill>
                  <a:srgbClr val="6D7E87"/>
                </a:solidFill>
                <a:latin typeface="DejaVu Sans"/>
                <a:ea typeface="DejaVu Sans"/>
                <a:cs typeface="DejaVu Sans"/>
              </a:defRPr>
            </a:pPr>
            <a:r>
              <a:rPr sz="975" b="1" i="0">
                <a:solidFill>
                  <a:srgbClr val="6D7E87"/>
                </a:solidFill>
                <a:latin typeface="DejaVu Sans"/>
                <a:ea typeface="DejaVu Sans"/>
                <a:cs typeface="DejaVu Sans"/>
              </a:rPr>
              <a:t>Prospective buyer</a:t>
            </a:r>
          </a:p>
        </p:txBody>
      </p:sp>
      <p:sp>
        <p:nvSpPr>
          <p:cNvPr id="11" name="Elipse 10">
            <a:extLst>
              <a:ext uri="{FF2B5EF4-FFF2-40B4-BE49-F238E27FC236}">
                <a16:creationId xmlns:a16="http://schemas.microsoft.com/office/drawing/2014/main" id="{8B5AB6EC-285E-4527-B1FA-042225663E0B}"/>
              </a:ext>
            </a:extLst>
          </p:cNvPr>
          <p:cNvSpPr>
            <a:spLocks noGrp="1"/>
          </p:cNvSpPr>
          <p:nvPr/>
        </p:nvSpPr>
        <p:spPr>
          <a:xfrm>
            <a:off x="6429375" y="1657350"/>
            <a:ext cx="400050" cy="400050"/>
          </a:xfrm>
          <a:prstGeom prst="ellipse">
            <a:avLst/>
          </a:prstGeom>
          <a:solidFill>
            <a:srgbClr val="1C7180"/>
          </a:solidFill>
          <a:ln w="0">
            <a:noFill/>
          </a:ln>
        </p:spPr>
      </p:sp>
      <p:sp>
        <p:nvSpPr>
          <p:cNvPr id="12" name="Rectángulo 11">
            <a:extLst>
              <a:ext uri="{FF2B5EF4-FFF2-40B4-BE49-F238E27FC236}">
                <a16:creationId xmlns:a16="http://schemas.microsoft.com/office/drawing/2014/main" id="{FDA997C1-D2EB-4208-AF99-BD8DA81B4E0A}"/>
              </a:ext>
            </a:extLst>
          </p:cNvPr>
          <p:cNvSpPr>
            <a:spLocks noGrp="1"/>
          </p:cNvSpPr>
          <p:nvPr/>
        </p:nvSpPr>
        <p:spPr>
          <a:xfrm>
            <a:off x="6429375" y="1676400"/>
            <a:ext cx="400050" cy="36195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1</a:t>
            </a:r>
          </a:p>
        </p:txBody>
      </p:sp>
      <p:sp>
        <p:nvSpPr>
          <p:cNvPr id="13" name="Rectángulo 12">
            <a:extLst>
              <a:ext uri="{FF2B5EF4-FFF2-40B4-BE49-F238E27FC236}">
                <a16:creationId xmlns:a16="http://schemas.microsoft.com/office/drawing/2014/main" id="{125200C2-23D1-488E-801D-4BC95258181E}"/>
              </a:ext>
            </a:extLst>
          </p:cNvPr>
          <p:cNvSpPr>
            <a:spLocks noGrp="1"/>
          </p:cNvSpPr>
          <p:nvPr/>
        </p:nvSpPr>
        <p:spPr>
          <a:xfrm>
            <a:off x="7029450" y="1676400"/>
            <a:ext cx="3714750" cy="361950"/>
          </a:xfrm>
          <a:prstGeom prst="rect">
            <a:avLst/>
          </a:prstGeom>
          <a:noFill/>
          <a:ln w="0">
            <a:noFill/>
          </a:ln>
        </p:spPr>
        <p:txBody>
          <a:bodyPr anchor="ctr">
            <a:normAutofit/>
          </a:bodyPr>
          <a:lstStyle/>
          <a:p>
            <a:pPr algn="l">
              <a:defRPr sz="1575" b="1" i="0">
                <a:solidFill>
                  <a:srgbClr val="17324D"/>
                </a:solidFill>
                <a:latin typeface="DejaVu Sans"/>
                <a:ea typeface="DejaVu Sans"/>
                <a:cs typeface="DejaVu Sans"/>
              </a:defRPr>
            </a:pPr>
            <a:r>
              <a:rPr sz="1575" b="1" i="0">
                <a:solidFill>
                  <a:srgbClr val="17324D"/>
                </a:solidFill>
                <a:latin typeface="DejaVu Sans"/>
                <a:ea typeface="DejaVu Sans"/>
                <a:cs typeface="DejaVu Sans"/>
              </a:rPr>
              <a:t>Translate and interpret</a:t>
            </a:r>
          </a:p>
        </p:txBody>
      </p:sp>
      <p:sp>
        <p:nvSpPr>
          <p:cNvPr id="14" name="Elipse 13">
            <a:extLst>
              <a:ext uri="{FF2B5EF4-FFF2-40B4-BE49-F238E27FC236}">
                <a16:creationId xmlns:a16="http://schemas.microsoft.com/office/drawing/2014/main" id="{C6651E46-1BB0-4C23-A24A-F3ECDEE0B0E0}"/>
              </a:ext>
            </a:extLst>
          </p:cNvPr>
          <p:cNvSpPr>
            <a:spLocks noGrp="1"/>
          </p:cNvSpPr>
          <p:nvPr/>
        </p:nvSpPr>
        <p:spPr>
          <a:xfrm>
            <a:off x="6429375" y="2438400"/>
            <a:ext cx="400050" cy="400050"/>
          </a:xfrm>
          <a:prstGeom prst="ellipse">
            <a:avLst/>
          </a:prstGeom>
          <a:solidFill>
            <a:srgbClr val="1C7180"/>
          </a:solidFill>
          <a:ln w="0">
            <a:noFill/>
          </a:ln>
        </p:spPr>
      </p:sp>
      <p:sp>
        <p:nvSpPr>
          <p:cNvPr id="15" name="Rectángulo 14">
            <a:extLst>
              <a:ext uri="{FF2B5EF4-FFF2-40B4-BE49-F238E27FC236}">
                <a16:creationId xmlns:a16="http://schemas.microsoft.com/office/drawing/2014/main" id="{97C3E70B-E928-43EE-A36C-0F44EC9C6E0B}"/>
              </a:ext>
            </a:extLst>
          </p:cNvPr>
          <p:cNvSpPr>
            <a:spLocks noGrp="1"/>
          </p:cNvSpPr>
          <p:nvPr/>
        </p:nvSpPr>
        <p:spPr>
          <a:xfrm>
            <a:off x="6429375" y="2457450"/>
            <a:ext cx="400050" cy="36195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2</a:t>
            </a:r>
          </a:p>
        </p:txBody>
      </p:sp>
      <p:sp>
        <p:nvSpPr>
          <p:cNvPr id="16" name="Rectángulo 15">
            <a:extLst>
              <a:ext uri="{FF2B5EF4-FFF2-40B4-BE49-F238E27FC236}">
                <a16:creationId xmlns:a16="http://schemas.microsoft.com/office/drawing/2014/main" id="{BAC87243-C477-40B8-8284-B349B0B33FDE}"/>
              </a:ext>
            </a:extLst>
          </p:cNvPr>
          <p:cNvSpPr>
            <a:spLocks noGrp="1"/>
          </p:cNvSpPr>
          <p:nvPr/>
        </p:nvSpPr>
        <p:spPr>
          <a:xfrm>
            <a:off x="7029450" y="2457450"/>
            <a:ext cx="3714750" cy="361950"/>
          </a:xfrm>
          <a:prstGeom prst="rect">
            <a:avLst/>
          </a:prstGeom>
          <a:noFill/>
          <a:ln w="0">
            <a:noFill/>
          </a:ln>
        </p:spPr>
        <p:txBody>
          <a:bodyPr anchor="ctr">
            <a:normAutofit/>
          </a:bodyPr>
          <a:lstStyle/>
          <a:p>
            <a:pPr algn="l">
              <a:defRPr sz="1575" b="1" i="0">
                <a:solidFill>
                  <a:srgbClr val="17324D"/>
                </a:solidFill>
                <a:latin typeface="DejaVu Sans"/>
                <a:ea typeface="DejaVu Sans"/>
                <a:cs typeface="DejaVu Sans"/>
              </a:defRPr>
            </a:pPr>
            <a:r>
              <a:rPr sz="1575" b="1" i="0">
                <a:solidFill>
                  <a:srgbClr val="17324D"/>
                </a:solidFill>
                <a:latin typeface="DejaVu Sans"/>
                <a:ea typeface="DejaVu Sans"/>
                <a:cs typeface="DejaVu Sans"/>
              </a:rPr>
              <a:t>Identify missing details</a:t>
            </a:r>
          </a:p>
        </p:txBody>
      </p:sp>
      <p:sp>
        <p:nvSpPr>
          <p:cNvPr id="17" name="Elipse 16">
            <a:extLst>
              <a:ext uri="{FF2B5EF4-FFF2-40B4-BE49-F238E27FC236}">
                <a16:creationId xmlns:a16="http://schemas.microsoft.com/office/drawing/2014/main" id="{3A4694C8-507D-400D-86EE-7B9AF58F00D3}"/>
              </a:ext>
            </a:extLst>
          </p:cNvPr>
          <p:cNvSpPr>
            <a:spLocks noGrp="1"/>
          </p:cNvSpPr>
          <p:nvPr/>
        </p:nvSpPr>
        <p:spPr>
          <a:xfrm>
            <a:off x="6429375" y="3219450"/>
            <a:ext cx="400050" cy="400050"/>
          </a:xfrm>
          <a:prstGeom prst="ellipse">
            <a:avLst/>
          </a:prstGeom>
          <a:solidFill>
            <a:srgbClr val="1C7180"/>
          </a:solidFill>
          <a:ln w="0">
            <a:noFill/>
          </a:ln>
        </p:spPr>
      </p:sp>
      <p:sp>
        <p:nvSpPr>
          <p:cNvPr id="18" name="Rectángulo 17">
            <a:extLst>
              <a:ext uri="{FF2B5EF4-FFF2-40B4-BE49-F238E27FC236}">
                <a16:creationId xmlns:a16="http://schemas.microsoft.com/office/drawing/2014/main" id="{87C13F07-5B8F-404C-9EC2-35AF9A6DC3F7}"/>
              </a:ext>
            </a:extLst>
          </p:cNvPr>
          <p:cNvSpPr>
            <a:spLocks noGrp="1"/>
          </p:cNvSpPr>
          <p:nvPr/>
        </p:nvSpPr>
        <p:spPr>
          <a:xfrm>
            <a:off x="6429375" y="3238500"/>
            <a:ext cx="400050" cy="36195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3</a:t>
            </a:r>
          </a:p>
        </p:txBody>
      </p:sp>
      <p:sp>
        <p:nvSpPr>
          <p:cNvPr id="19" name="Rectángulo 18">
            <a:extLst>
              <a:ext uri="{FF2B5EF4-FFF2-40B4-BE49-F238E27FC236}">
                <a16:creationId xmlns:a16="http://schemas.microsoft.com/office/drawing/2014/main" id="{F88CCAA5-89AD-4973-B94D-E1CDB7499ACF}"/>
              </a:ext>
            </a:extLst>
          </p:cNvPr>
          <p:cNvSpPr>
            <a:spLocks noGrp="1"/>
          </p:cNvSpPr>
          <p:nvPr/>
        </p:nvSpPr>
        <p:spPr>
          <a:xfrm>
            <a:off x="7029450" y="3238500"/>
            <a:ext cx="3714750" cy="361950"/>
          </a:xfrm>
          <a:prstGeom prst="rect">
            <a:avLst/>
          </a:prstGeom>
          <a:noFill/>
          <a:ln w="0">
            <a:noFill/>
          </a:ln>
        </p:spPr>
        <p:txBody>
          <a:bodyPr anchor="ctr">
            <a:normAutofit/>
          </a:bodyPr>
          <a:lstStyle/>
          <a:p>
            <a:pPr algn="l">
              <a:defRPr sz="1575" b="1" i="0">
                <a:solidFill>
                  <a:srgbClr val="17324D"/>
                </a:solidFill>
                <a:latin typeface="DejaVu Sans"/>
                <a:ea typeface="DejaVu Sans"/>
                <a:cs typeface="DejaVu Sans"/>
              </a:defRPr>
            </a:pPr>
            <a:r>
              <a:rPr sz="1575" b="1" i="0">
                <a:solidFill>
                  <a:srgbClr val="17324D"/>
                </a:solidFill>
                <a:latin typeface="DejaVu Sans"/>
                <a:ea typeface="DejaVu Sans"/>
                <a:cs typeface="DejaVu Sans"/>
              </a:rPr>
              <a:t>Judge lead readiness</a:t>
            </a:r>
          </a:p>
        </p:txBody>
      </p:sp>
      <p:sp>
        <p:nvSpPr>
          <p:cNvPr id="20" name="Elipse 19">
            <a:extLst>
              <a:ext uri="{FF2B5EF4-FFF2-40B4-BE49-F238E27FC236}">
                <a16:creationId xmlns:a16="http://schemas.microsoft.com/office/drawing/2014/main" id="{359268E8-A28A-4FF5-9980-879714A09B4A}"/>
              </a:ext>
            </a:extLst>
          </p:cNvPr>
          <p:cNvSpPr>
            <a:spLocks noGrp="1"/>
          </p:cNvSpPr>
          <p:nvPr/>
        </p:nvSpPr>
        <p:spPr>
          <a:xfrm>
            <a:off x="6429375" y="4000500"/>
            <a:ext cx="400050" cy="400050"/>
          </a:xfrm>
          <a:prstGeom prst="ellipse">
            <a:avLst/>
          </a:prstGeom>
          <a:solidFill>
            <a:srgbClr val="1C7180"/>
          </a:solidFill>
          <a:ln w="0">
            <a:noFill/>
          </a:ln>
        </p:spPr>
      </p:sp>
      <p:sp>
        <p:nvSpPr>
          <p:cNvPr id="21" name="Rectángulo 20">
            <a:extLst>
              <a:ext uri="{FF2B5EF4-FFF2-40B4-BE49-F238E27FC236}">
                <a16:creationId xmlns:a16="http://schemas.microsoft.com/office/drawing/2014/main" id="{991ADF24-5723-4E66-9E98-07542215AAD5}"/>
              </a:ext>
            </a:extLst>
          </p:cNvPr>
          <p:cNvSpPr>
            <a:spLocks noGrp="1"/>
          </p:cNvSpPr>
          <p:nvPr/>
        </p:nvSpPr>
        <p:spPr>
          <a:xfrm>
            <a:off x="6429375" y="4019550"/>
            <a:ext cx="400050" cy="36195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4</a:t>
            </a:r>
          </a:p>
        </p:txBody>
      </p:sp>
      <p:sp>
        <p:nvSpPr>
          <p:cNvPr id="22" name="Rectángulo 21">
            <a:extLst>
              <a:ext uri="{FF2B5EF4-FFF2-40B4-BE49-F238E27FC236}">
                <a16:creationId xmlns:a16="http://schemas.microsoft.com/office/drawing/2014/main" id="{72FEC7AA-2034-434B-8D41-BA4B43E89726}"/>
              </a:ext>
            </a:extLst>
          </p:cNvPr>
          <p:cNvSpPr>
            <a:spLocks noGrp="1"/>
          </p:cNvSpPr>
          <p:nvPr/>
        </p:nvSpPr>
        <p:spPr>
          <a:xfrm>
            <a:off x="7029450" y="4019550"/>
            <a:ext cx="3714750" cy="361950"/>
          </a:xfrm>
          <a:prstGeom prst="rect">
            <a:avLst/>
          </a:prstGeom>
          <a:noFill/>
          <a:ln w="0">
            <a:noFill/>
          </a:ln>
        </p:spPr>
        <p:txBody>
          <a:bodyPr anchor="ctr">
            <a:normAutofit/>
          </a:bodyPr>
          <a:lstStyle/>
          <a:p>
            <a:pPr algn="l">
              <a:defRPr sz="1575" b="1" i="0">
                <a:solidFill>
                  <a:srgbClr val="17324D"/>
                </a:solidFill>
                <a:latin typeface="DejaVu Sans"/>
                <a:ea typeface="DejaVu Sans"/>
                <a:cs typeface="DejaVu Sans"/>
              </a:defRPr>
            </a:pPr>
            <a:r>
              <a:rPr sz="1575" b="1" i="0">
                <a:solidFill>
                  <a:srgbClr val="17324D"/>
                </a:solidFill>
                <a:latin typeface="DejaVu Sans"/>
                <a:ea typeface="DejaVu Sans"/>
                <a:cs typeface="DejaVu Sans"/>
              </a:rPr>
              <a:t>Search the catalogue</a:t>
            </a:r>
          </a:p>
        </p:txBody>
      </p:sp>
      <p:sp>
        <p:nvSpPr>
          <p:cNvPr id="23" name="Elipse 22">
            <a:extLst>
              <a:ext uri="{FF2B5EF4-FFF2-40B4-BE49-F238E27FC236}">
                <a16:creationId xmlns:a16="http://schemas.microsoft.com/office/drawing/2014/main" id="{843C09D5-F26E-44FD-9289-EA2B03A13860}"/>
              </a:ext>
            </a:extLst>
          </p:cNvPr>
          <p:cNvSpPr>
            <a:spLocks noGrp="1"/>
          </p:cNvSpPr>
          <p:nvPr/>
        </p:nvSpPr>
        <p:spPr>
          <a:xfrm>
            <a:off x="6429375" y="4781550"/>
            <a:ext cx="400050" cy="400050"/>
          </a:xfrm>
          <a:prstGeom prst="ellipse">
            <a:avLst/>
          </a:prstGeom>
          <a:solidFill>
            <a:srgbClr val="C96A4B"/>
          </a:solidFill>
          <a:ln w="0">
            <a:noFill/>
          </a:ln>
        </p:spPr>
      </p:sp>
      <p:sp>
        <p:nvSpPr>
          <p:cNvPr id="24" name="Rectángulo 23">
            <a:extLst>
              <a:ext uri="{FF2B5EF4-FFF2-40B4-BE49-F238E27FC236}">
                <a16:creationId xmlns:a16="http://schemas.microsoft.com/office/drawing/2014/main" id="{CD4C085E-2046-4844-819F-9638662C2553}"/>
              </a:ext>
            </a:extLst>
          </p:cNvPr>
          <p:cNvSpPr>
            <a:spLocks noGrp="1"/>
          </p:cNvSpPr>
          <p:nvPr/>
        </p:nvSpPr>
        <p:spPr>
          <a:xfrm>
            <a:off x="6429375" y="4800600"/>
            <a:ext cx="400050" cy="36195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5</a:t>
            </a:r>
          </a:p>
        </p:txBody>
      </p:sp>
      <p:sp>
        <p:nvSpPr>
          <p:cNvPr id="25" name="Rectángulo 24">
            <a:extLst>
              <a:ext uri="{FF2B5EF4-FFF2-40B4-BE49-F238E27FC236}">
                <a16:creationId xmlns:a16="http://schemas.microsoft.com/office/drawing/2014/main" id="{FDE9C4B0-B3F3-4DA1-8DEF-E2CF57A38753}"/>
              </a:ext>
            </a:extLst>
          </p:cNvPr>
          <p:cNvSpPr>
            <a:spLocks noGrp="1"/>
          </p:cNvSpPr>
          <p:nvPr/>
        </p:nvSpPr>
        <p:spPr>
          <a:xfrm>
            <a:off x="7029450" y="4800600"/>
            <a:ext cx="3714750" cy="361950"/>
          </a:xfrm>
          <a:prstGeom prst="rect">
            <a:avLst/>
          </a:prstGeom>
          <a:noFill/>
          <a:ln w="0">
            <a:noFill/>
          </a:ln>
        </p:spPr>
        <p:txBody>
          <a:bodyPr anchor="ctr">
            <a:normAutofit/>
          </a:bodyPr>
          <a:lstStyle/>
          <a:p>
            <a:pPr algn="l">
              <a:defRPr sz="1575" b="1" i="0">
                <a:solidFill>
                  <a:srgbClr val="17324D"/>
                </a:solidFill>
                <a:latin typeface="DejaVu Sans"/>
                <a:ea typeface="DejaVu Sans"/>
                <a:cs typeface="DejaVu Sans"/>
              </a:defRPr>
            </a:pPr>
            <a:r>
              <a:rPr sz="1575" b="1" i="0">
                <a:solidFill>
                  <a:srgbClr val="17324D"/>
                </a:solidFill>
                <a:latin typeface="DejaVu Sans"/>
                <a:ea typeface="DejaVu Sans"/>
                <a:cs typeface="DejaVu Sans"/>
              </a:rPr>
              <a:t>Write a relevant reply</a:t>
            </a:r>
          </a:p>
        </p:txBody>
      </p:sp>
      <p:sp>
        <p:nvSpPr>
          <p:cNvPr id="26" name="Rectángulo: esquinas redondeadas 25">
            <a:extLst>
              <a:ext uri="{FF2B5EF4-FFF2-40B4-BE49-F238E27FC236}">
                <a16:creationId xmlns:a16="http://schemas.microsoft.com/office/drawing/2014/main" id="{258E992C-ECE2-42A1-BD7C-56F57D010208}"/>
              </a:ext>
            </a:extLst>
          </p:cNvPr>
          <p:cNvSpPr>
            <a:spLocks noGrp="1"/>
          </p:cNvSpPr>
          <p:nvPr/>
        </p:nvSpPr>
        <p:spPr>
          <a:xfrm>
            <a:off x="685800" y="5286375"/>
            <a:ext cx="10287000" cy="742950"/>
          </a:xfrm>
          <a:prstGeom prst="roundRect">
            <a:avLst>
              <a:gd name="adj" fmla="val 17949"/>
            </a:avLst>
          </a:prstGeom>
          <a:solidFill>
            <a:srgbClr val="F1E8D7"/>
          </a:solidFill>
          <a:ln w="0">
            <a:noFill/>
          </a:ln>
        </p:spPr>
      </p:sp>
      <p:sp>
        <p:nvSpPr>
          <p:cNvPr id="27" name="Rectángulo 26">
            <a:extLst>
              <a:ext uri="{FF2B5EF4-FFF2-40B4-BE49-F238E27FC236}">
                <a16:creationId xmlns:a16="http://schemas.microsoft.com/office/drawing/2014/main" id="{DE87A421-8783-447E-9491-7FD542E74CD6}"/>
              </a:ext>
            </a:extLst>
          </p:cNvPr>
          <p:cNvSpPr>
            <a:spLocks noGrp="1"/>
          </p:cNvSpPr>
          <p:nvPr/>
        </p:nvSpPr>
        <p:spPr>
          <a:xfrm>
            <a:off x="990600" y="5467350"/>
            <a:ext cx="9677400" cy="381000"/>
          </a:xfrm>
          <a:prstGeom prst="rect">
            <a:avLst/>
          </a:prstGeom>
          <a:noFill/>
          <a:ln w="0">
            <a:noFill/>
          </a:ln>
        </p:spPr>
        <p:txBody>
          <a:bodyPr anchor="ctr">
            <a:normAutofit fontScale="86455"/>
          </a:bodyPr>
          <a:lstStyle/>
          <a:p>
            <a:pPr algn="ctr">
              <a:defRPr sz="1575" b="1" i="0">
                <a:solidFill>
                  <a:srgbClr val="17324D"/>
                </a:solidFill>
                <a:latin typeface="DejaVu Sans"/>
                <a:ea typeface="DejaVu Sans"/>
                <a:cs typeface="DejaVu Sans"/>
              </a:defRPr>
            </a:pPr>
            <a:r>
              <a:rPr sz="1575" b="1" i="0" dirty="0">
                <a:solidFill>
                  <a:srgbClr val="17324D"/>
                </a:solidFill>
                <a:latin typeface="DejaVu Sans"/>
                <a:ea typeface="DejaVu Sans"/>
                <a:cs typeface="DejaVu Sans"/>
              </a:rPr>
              <a:t>The first response depends on agent availability, language confidence and catalogue knowledge.</a:t>
            </a:r>
          </a:p>
        </p:txBody>
      </p:sp>
    </p:spTree>
    <p:extLst>
      <p:ext uri="{BB962C8B-B14F-4D97-AF65-F5344CB8AC3E}">
        <p14:creationId xmlns:p14="http://schemas.microsoft.com/office/powerpoint/2010/main" val="1419147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9675A701-9049-4696-B704-9181ECD3261B}"/>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59ED3FE8-D229-4DED-BE08-DA28AB73F1AC}"/>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PROPLead · CHLEO REALTY MALLORCA</a:t>
            </a:r>
          </a:p>
        </p:txBody>
      </p:sp>
      <p:sp>
        <p:nvSpPr>
          <p:cNvPr id="3" name="Rectángulo 2">
            <a:extLst>
              <a:ext uri="{FF2B5EF4-FFF2-40B4-BE49-F238E27FC236}">
                <a16:creationId xmlns:a16="http://schemas.microsoft.com/office/drawing/2014/main" id="{37D78BB7-4714-40F2-BA80-D3F523060208}"/>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Chleo has no dedicated lead qualification team</a:t>
            </a:r>
          </a:p>
        </p:txBody>
      </p:sp>
      <p:sp>
        <p:nvSpPr>
          <p:cNvPr id="4" name="Rectángulo 3">
            <a:extLst>
              <a:ext uri="{FF2B5EF4-FFF2-40B4-BE49-F238E27FC236}">
                <a16:creationId xmlns:a16="http://schemas.microsoft.com/office/drawing/2014/main" id="{8F93FA18-B756-4EBF-89EC-6C18069EDB4D}"/>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03</a:t>
            </a:r>
          </a:p>
        </p:txBody>
      </p:sp>
      <p:sp>
        <p:nvSpPr>
          <p:cNvPr id="5" name="Rectángulo 4">
            <a:extLst>
              <a:ext uri="{FF2B5EF4-FFF2-40B4-BE49-F238E27FC236}">
                <a16:creationId xmlns:a16="http://schemas.microsoft.com/office/drawing/2014/main" id="{846BDAF2-9F0F-4A65-8E5D-A203FF161C22}"/>
              </a:ext>
            </a:extLst>
          </p:cNvPr>
          <p:cNvSpPr>
            <a:spLocks noGrp="1"/>
          </p:cNvSpPr>
          <p:nvPr/>
        </p:nvSpPr>
        <p:spPr>
          <a:xfrm>
            <a:off x="609600" y="1304925"/>
            <a:ext cx="10972800" cy="9525"/>
          </a:xfrm>
          <a:prstGeom prst="rect">
            <a:avLst/>
          </a:prstGeom>
          <a:solidFill>
            <a:srgbClr val="D8D1C4"/>
          </a:solidFill>
          <a:ln w="0">
            <a:noFill/>
          </a:ln>
        </p:spPr>
      </p:sp>
      <p:sp>
        <p:nvSpPr>
          <p:cNvPr id="6" name="Rectángulo 5">
            <a:extLst>
              <a:ext uri="{FF2B5EF4-FFF2-40B4-BE49-F238E27FC236}">
                <a16:creationId xmlns:a16="http://schemas.microsoft.com/office/drawing/2014/main" id="{828E24BE-73E1-4C7C-BE4C-6767BFA11E0E}"/>
              </a:ext>
            </a:extLst>
          </p:cNvPr>
          <p:cNvSpPr>
            <a:spLocks noGrp="1"/>
          </p:cNvSpPr>
          <p:nvPr/>
        </p:nvSpPr>
        <p:spPr>
          <a:xfrm>
            <a:off x="685800" y="1571625"/>
            <a:ext cx="3238500" cy="266700"/>
          </a:xfrm>
          <a:prstGeom prst="rect">
            <a:avLst/>
          </a:prstGeom>
          <a:noFill/>
          <a:ln w="0">
            <a:noFill/>
          </a:ln>
        </p:spPr>
        <p:txBody>
          <a:bodyPr anchor="t">
            <a:normAutofit/>
          </a:bodyPr>
          <a:lstStyle/>
          <a:p>
            <a:pPr algn="l">
              <a:defRPr sz="1050" b="1" i="0">
                <a:solidFill>
                  <a:srgbClr val="C96A4B"/>
                </a:solidFill>
                <a:latin typeface="DejaVu Sans"/>
                <a:ea typeface="DejaVu Sans"/>
                <a:cs typeface="DejaVu Sans"/>
              </a:defRPr>
            </a:pPr>
            <a:r>
              <a:rPr sz="1050" b="1" i="0">
                <a:solidFill>
                  <a:srgbClr val="C96A4B"/>
                </a:solidFill>
                <a:latin typeface="DejaVu Sans"/>
                <a:ea typeface="DejaVu Sans"/>
                <a:cs typeface="DejaVu Sans"/>
              </a:rPr>
              <a:t>Working discovery profile</a:t>
            </a:r>
          </a:p>
        </p:txBody>
      </p:sp>
      <p:sp>
        <p:nvSpPr>
          <p:cNvPr id="7" name="Rectángulo 6">
            <a:extLst>
              <a:ext uri="{FF2B5EF4-FFF2-40B4-BE49-F238E27FC236}">
                <a16:creationId xmlns:a16="http://schemas.microsoft.com/office/drawing/2014/main" id="{168D0D31-B97A-4890-95BD-AD9071B7D19B}"/>
              </a:ext>
            </a:extLst>
          </p:cNvPr>
          <p:cNvSpPr>
            <a:spLocks noGrp="1"/>
          </p:cNvSpPr>
          <p:nvPr/>
        </p:nvSpPr>
        <p:spPr>
          <a:xfrm>
            <a:off x="685800" y="1924050"/>
            <a:ext cx="4953000" cy="971550"/>
          </a:xfrm>
          <a:prstGeom prst="rect">
            <a:avLst/>
          </a:prstGeom>
          <a:noFill/>
          <a:ln w="0">
            <a:noFill/>
          </a:ln>
        </p:spPr>
        <p:txBody>
          <a:bodyPr anchor="t">
            <a:normAutofit fontScale="88506"/>
          </a:bodyPr>
          <a:lstStyle/>
          <a:p>
            <a:pPr algn="l">
              <a:defRPr sz="2175" b="1" i="0">
                <a:solidFill>
                  <a:srgbClr val="17324D"/>
                </a:solidFill>
                <a:latin typeface="DejaVu Serif"/>
                <a:ea typeface="DejaVu Serif"/>
                <a:cs typeface="DejaVu Serif"/>
              </a:defRPr>
            </a:pPr>
            <a:r>
              <a:rPr sz="2175" b="1" i="0">
                <a:solidFill>
                  <a:srgbClr val="17324D"/>
                </a:solidFill>
                <a:latin typeface="DejaVu Serif"/>
                <a:ea typeface="DejaVu Serif"/>
                <a:cs typeface="DejaVu Serif"/>
              </a:rPr>
              <a:t>A Mallorca microagency serving local buyers, relocation clients and international investors</a:t>
            </a:r>
          </a:p>
        </p:txBody>
      </p:sp>
      <p:sp>
        <p:nvSpPr>
          <p:cNvPr id="8" name="Rectángulo: esquinas redondeadas 7">
            <a:extLst>
              <a:ext uri="{FF2B5EF4-FFF2-40B4-BE49-F238E27FC236}">
                <a16:creationId xmlns:a16="http://schemas.microsoft.com/office/drawing/2014/main" id="{85AD3CB2-DD0B-45E6-B9E3-FA226887FF87}"/>
              </a:ext>
            </a:extLst>
          </p:cNvPr>
          <p:cNvSpPr>
            <a:spLocks noGrp="1"/>
          </p:cNvSpPr>
          <p:nvPr/>
        </p:nvSpPr>
        <p:spPr>
          <a:xfrm>
            <a:off x="685800" y="3257550"/>
            <a:ext cx="1466850" cy="1066800"/>
          </a:xfrm>
          <a:prstGeom prst="roundRect">
            <a:avLst>
              <a:gd name="adj" fmla="val 12500"/>
            </a:avLst>
          </a:prstGeom>
          <a:solidFill>
            <a:srgbClr val="17324D"/>
          </a:solidFill>
          <a:ln w="9525">
            <a:solidFill>
              <a:srgbClr val="17324D"/>
            </a:solidFill>
            <a:prstDash val="solid"/>
          </a:ln>
        </p:spPr>
      </p:sp>
      <p:sp>
        <p:nvSpPr>
          <p:cNvPr id="9" name="Rectángulo 8">
            <a:extLst>
              <a:ext uri="{FF2B5EF4-FFF2-40B4-BE49-F238E27FC236}">
                <a16:creationId xmlns:a16="http://schemas.microsoft.com/office/drawing/2014/main" id="{C002C37B-7E91-4C44-AB3D-F8F32DE76CD8}"/>
              </a:ext>
            </a:extLst>
          </p:cNvPr>
          <p:cNvSpPr>
            <a:spLocks noGrp="1"/>
          </p:cNvSpPr>
          <p:nvPr/>
        </p:nvSpPr>
        <p:spPr>
          <a:xfrm>
            <a:off x="800100" y="3390900"/>
            <a:ext cx="1238250" cy="438150"/>
          </a:xfrm>
          <a:prstGeom prst="rect">
            <a:avLst/>
          </a:prstGeom>
          <a:noFill/>
          <a:ln w="0">
            <a:noFill/>
          </a:ln>
        </p:spPr>
        <p:txBody>
          <a:bodyPr anchor="t">
            <a:normAutofit fontScale="89216"/>
          </a:bodyPr>
          <a:lstStyle/>
          <a:p>
            <a:pPr algn="ctr">
              <a:defRPr sz="2550" b="1" i="0">
                <a:solidFill>
                  <a:srgbClr val="FFFFFF"/>
                </a:solidFill>
                <a:latin typeface="DejaVu Serif"/>
                <a:ea typeface="DejaVu Serif"/>
                <a:cs typeface="DejaVu Serif"/>
              </a:defRPr>
            </a:pPr>
            <a:r>
              <a:rPr sz="2550" b="1" i="0">
                <a:solidFill>
                  <a:srgbClr val="FFFFFF"/>
                </a:solidFill>
                <a:latin typeface="DejaVu Serif"/>
                <a:ea typeface="DejaVu Serif"/>
                <a:cs typeface="DejaVu Serif"/>
              </a:rPr>
              <a:t>5</a:t>
            </a:r>
          </a:p>
        </p:txBody>
      </p:sp>
      <p:sp>
        <p:nvSpPr>
          <p:cNvPr id="10" name="Rectángulo 9">
            <a:extLst>
              <a:ext uri="{FF2B5EF4-FFF2-40B4-BE49-F238E27FC236}">
                <a16:creationId xmlns:a16="http://schemas.microsoft.com/office/drawing/2014/main" id="{EFB287B7-5B99-44E2-BBA8-5D34018A6D04}"/>
              </a:ext>
            </a:extLst>
          </p:cNvPr>
          <p:cNvSpPr>
            <a:spLocks noGrp="1"/>
          </p:cNvSpPr>
          <p:nvPr/>
        </p:nvSpPr>
        <p:spPr>
          <a:xfrm>
            <a:off x="800100" y="3886200"/>
            <a:ext cx="1238250" cy="266700"/>
          </a:xfrm>
          <a:prstGeom prst="rect">
            <a:avLst/>
          </a:prstGeom>
          <a:noFill/>
          <a:ln w="0">
            <a:noFill/>
          </a:ln>
        </p:spPr>
        <p:txBody>
          <a:bodyPr anchor="t">
            <a:normAutofit/>
          </a:bodyPr>
          <a:lstStyle/>
          <a:p>
            <a:pPr algn="ctr">
              <a:defRPr sz="1050" b="0" i="0">
                <a:solidFill>
                  <a:srgbClr val="DCEAE7"/>
                </a:solidFill>
                <a:latin typeface="DejaVu Sans"/>
                <a:ea typeface="DejaVu Sans"/>
                <a:cs typeface="DejaVu Sans"/>
              </a:defRPr>
            </a:pPr>
            <a:r>
              <a:rPr sz="1050" b="0" i="0">
                <a:solidFill>
                  <a:srgbClr val="DCEAE7"/>
                </a:solidFill>
                <a:latin typeface="DejaVu Sans"/>
                <a:ea typeface="DejaVu Sans"/>
                <a:cs typeface="DejaVu Sans"/>
              </a:rPr>
              <a:t>employees</a:t>
            </a:r>
          </a:p>
        </p:txBody>
      </p:sp>
      <p:sp>
        <p:nvSpPr>
          <p:cNvPr id="11" name="Rectángulo: esquinas redondeadas 10">
            <a:extLst>
              <a:ext uri="{FF2B5EF4-FFF2-40B4-BE49-F238E27FC236}">
                <a16:creationId xmlns:a16="http://schemas.microsoft.com/office/drawing/2014/main" id="{91650E1D-A3C6-4BCB-870C-30EA2BA4A69D}"/>
              </a:ext>
            </a:extLst>
          </p:cNvPr>
          <p:cNvSpPr>
            <a:spLocks noGrp="1"/>
          </p:cNvSpPr>
          <p:nvPr/>
        </p:nvSpPr>
        <p:spPr>
          <a:xfrm>
            <a:off x="2343150" y="3257550"/>
            <a:ext cx="1466850" cy="1066800"/>
          </a:xfrm>
          <a:prstGeom prst="roundRect">
            <a:avLst>
              <a:gd name="adj" fmla="val 12500"/>
            </a:avLst>
          </a:prstGeom>
          <a:solidFill>
            <a:srgbClr val="FFFFFF"/>
          </a:solidFill>
          <a:ln w="9525">
            <a:solidFill>
              <a:srgbClr val="D8D1C4"/>
            </a:solidFill>
            <a:prstDash val="solid"/>
          </a:ln>
        </p:spPr>
      </p:sp>
      <p:sp>
        <p:nvSpPr>
          <p:cNvPr id="12" name="Rectángulo 11">
            <a:extLst>
              <a:ext uri="{FF2B5EF4-FFF2-40B4-BE49-F238E27FC236}">
                <a16:creationId xmlns:a16="http://schemas.microsoft.com/office/drawing/2014/main" id="{23D29860-D76D-450F-8E40-B34515D53F84}"/>
              </a:ext>
            </a:extLst>
          </p:cNvPr>
          <p:cNvSpPr>
            <a:spLocks noGrp="1"/>
          </p:cNvSpPr>
          <p:nvPr/>
        </p:nvSpPr>
        <p:spPr>
          <a:xfrm>
            <a:off x="2457450" y="3390900"/>
            <a:ext cx="1238250" cy="438150"/>
          </a:xfrm>
          <a:prstGeom prst="rect">
            <a:avLst/>
          </a:prstGeom>
          <a:noFill/>
          <a:ln w="0">
            <a:noFill/>
          </a:ln>
        </p:spPr>
        <p:txBody>
          <a:bodyPr anchor="t">
            <a:normAutofit fontScale="89216"/>
          </a:bodyPr>
          <a:lstStyle/>
          <a:p>
            <a:pPr algn="ctr">
              <a:defRPr sz="2550" b="1" i="0">
                <a:solidFill>
                  <a:srgbClr val="1C7180"/>
                </a:solidFill>
                <a:latin typeface="DejaVu Serif"/>
                <a:ea typeface="DejaVu Serif"/>
                <a:cs typeface="DejaVu Serif"/>
              </a:defRPr>
            </a:pPr>
            <a:r>
              <a:rPr sz="2550" b="1" i="0">
                <a:solidFill>
                  <a:srgbClr val="1C7180"/>
                </a:solidFill>
                <a:latin typeface="DejaVu Serif"/>
                <a:ea typeface="DejaVu Serif"/>
                <a:cs typeface="DejaVu Serif"/>
              </a:rPr>
              <a:t>40</a:t>
            </a:r>
          </a:p>
        </p:txBody>
      </p:sp>
      <p:sp>
        <p:nvSpPr>
          <p:cNvPr id="13" name="Rectángulo 12">
            <a:extLst>
              <a:ext uri="{FF2B5EF4-FFF2-40B4-BE49-F238E27FC236}">
                <a16:creationId xmlns:a16="http://schemas.microsoft.com/office/drawing/2014/main" id="{AA5D4649-5CD2-42F0-8F9B-869767ABA4B9}"/>
              </a:ext>
            </a:extLst>
          </p:cNvPr>
          <p:cNvSpPr>
            <a:spLocks noGrp="1"/>
          </p:cNvSpPr>
          <p:nvPr/>
        </p:nvSpPr>
        <p:spPr>
          <a:xfrm>
            <a:off x="2457450" y="3886200"/>
            <a:ext cx="1238250" cy="266700"/>
          </a:xfrm>
          <a:prstGeom prst="rect">
            <a:avLst/>
          </a:prstGeom>
          <a:noFill/>
          <a:ln w="0">
            <a:noFill/>
          </a:ln>
        </p:spPr>
        <p:txBody>
          <a:bodyPr anchor="t">
            <a:normAutofit/>
          </a:bodyPr>
          <a:lstStyle/>
          <a:p>
            <a:pPr algn="ct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active listings</a:t>
            </a:r>
          </a:p>
        </p:txBody>
      </p:sp>
      <p:sp>
        <p:nvSpPr>
          <p:cNvPr id="14" name="Rectángulo: esquinas redondeadas 13">
            <a:extLst>
              <a:ext uri="{FF2B5EF4-FFF2-40B4-BE49-F238E27FC236}">
                <a16:creationId xmlns:a16="http://schemas.microsoft.com/office/drawing/2014/main" id="{88CBBBDA-983E-4417-A815-750C02B474EC}"/>
              </a:ext>
            </a:extLst>
          </p:cNvPr>
          <p:cNvSpPr>
            <a:spLocks noGrp="1"/>
          </p:cNvSpPr>
          <p:nvPr/>
        </p:nvSpPr>
        <p:spPr>
          <a:xfrm>
            <a:off x="4000500" y="3257550"/>
            <a:ext cx="1466850" cy="1066800"/>
          </a:xfrm>
          <a:prstGeom prst="roundRect">
            <a:avLst>
              <a:gd name="adj" fmla="val 12500"/>
            </a:avLst>
          </a:prstGeom>
          <a:solidFill>
            <a:srgbClr val="FFFFFF"/>
          </a:solidFill>
          <a:ln w="9525">
            <a:solidFill>
              <a:srgbClr val="D8D1C4"/>
            </a:solidFill>
            <a:prstDash val="solid"/>
          </a:ln>
        </p:spPr>
      </p:sp>
      <p:sp>
        <p:nvSpPr>
          <p:cNvPr id="15" name="Rectángulo 14">
            <a:extLst>
              <a:ext uri="{FF2B5EF4-FFF2-40B4-BE49-F238E27FC236}">
                <a16:creationId xmlns:a16="http://schemas.microsoft.com/office/drawing/2014/main" id="{A9D27480-3D2E-4EF1-8CE6-9690EF18FC35}"/>
              </a:ext>
            </a:extLst>
          </p:cNvPr>
          <p:cNvSpPr>
            <a:spLocks noGrp="1"/>
          </p:cNvSpPr>
          <p:nvPr/>
        </p:nvSpPr>
        <p:spPr>
          <a:xfrm>
            <a:off x="4114800" y="3390900"/>
            <a:ext cx="1238250" cy="438150"/>
          </a:xfrm>
          <a:prstGeom prst="rect">
            <a:avLst/>
          </a:prstGeom>
          <a:noFill/>
          <a:ln w="0">
            <a:noFill/>
          </a:ln>
        </p:spPr>
        <p:txBody>
          <a:bodyPr anchor="t">
            <a:normAutofit fontScale="89216"/>
          </a:bodyPr>
          <a:lstStyle/>
          <a:p>
            <a:pPr algn="ctr">
              <a:defRPr sz="2550" b="1" i="0">
                <a:solidFill>
                  <a:srgbClr val="1C7180"/>
                </a:solidFill>
                <a:latin typeface="DejaVu Serif"/>
                <a:ea typeface="DejaVu Serif"/>
                <a:cs typeface="DejaVu Serif"/>
              </a:defRPr>
            </a:pPr>
            <a:r>
              <a:rPr sz="2550" b="1" i="0">
                <a:solidFill>
                  <a:srgbClr val="1C7180"/>
                </a:solidFill>
                <a:latin typeface="DejaVu Serif"/>
                <a:ea typeface="DejaVu Serif"/>
                <a:cs typeface="DejaVu Serif"/>
              </a:rPr>
              <a:t>60</a:t>
            </a:r>
          </a:p>
        </p:txBody>
      </p:sp>
      <p:sp>
        <p:nvSpPr>
          <p:cNvPr id="16" name="Rectángulo 15">
            <a:extLst>
              <a:ext uri="{FF2B5EF4-FFF2-40B4-BE49-F238E27FC236}">
                <a16:creationId xmlns:a16="http://schemas.microsoft.com/office/drawing/2014/main" id="{D9C33E5F-5048-48AB-8581-818075D65C69}"/>
              </a:ext>
            </a:extLst>
          </p:cNvPr>
          <p:cNvSpPr>
            <a:spLocks noGrp="1"/>
          </p:cNvSpPr>
          <p:nvPr/>
        </p:nvSpPr>
        <p:spPr>
          <a:xfrm>
            <a:off x="4114800" y="3886200"/>
            <a:ext cx="1238250" cy="266700"/>
          </a:xfrm>
          <a:prstGeom prst="rect">
            <a:avLst/>
          </a:prstGeom>
          <a:noFill/>
          <a:ln w="0">
            <a:noFill/>
          </a:ln>
        </p:spPr>
        <p:txBody>
          <a:bodyPr anchor="t">
            <a:normAutofit fontScale="89282"/>
          </a:bodyPr>
          <a:lstStyle/>
          <a:p>
            <a:pPr algn="ct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enquiries / month</a:t>
            </a:r>
          </a:p>
        </p:txBody>
      </p:sp>
      <p:sp>
        <p:nvSpPr>
          <p:cNvPr id="17" name="Rectángulo 16">
            <a:extLst>
              <a:ext uri="{FF2B5EF4-FFF2-40B4-BE49-F238E27FC236}">
                <a16:creationId xmlns:a16="http://schemas.microsoft.com/office/drawing/2014/main" id="{2F3607FA-8E57-4AD8-A93C-0A5565985FD1}"/>
              </a:ext>
            </a:extLst>
          </p:cNvPr>
          <p:cNvSpPr>
            <a:spLocks noGrp="1"/>
          </p:cNvSpPr>
          <p:nvPr/>
        </p:nvSpPr>
        <p:spPr>
          <a:xfrm>
            <a:off x="685800" y="4572000"/>
            <a:ext cx="4762500" cy="228600"/>
          </a:xfrm>
          <a:prstGeom prst="rect">
            <a:avLst/>
          </a:prstGeom>
          <a:noFill/>
          <a:ln w="0">
            <a:noFill/>
          </a:ln>
        </p:spPr>
        <p:txBody>
          <a:bodyPr anchor="t">
            <a:normAutofit fontScale="92308"/>
          </a:bodyPr>
          <a:lstStyle/>
          <a:p>
            <a:pPr algn="l">
              <a:defRPr sz="975" b="0" i="1">
                <a:solidFill>
                  <a:srgbClr val="6D7E87"/>
                </a:solidFill>
                <a:latin typeface="DejaVu Sans"/>
                <a:ea typeface="DejaVu Sans"/>
                <a:cs typeface="DejaVu Sans"/>
              </a:defRPr>
            </a:pPr>
            <a:r>
              <a:rPr sz="975" b="0" i="1">
                <a:solidFill>
                  <a:srgbClr val="6D7E87"/>
                </a:solidFill>
                <a:latin typeface="DejaVu Sans"/>
                <a:ea typeface="DejaVu Sans"/>
                <a:cs typeface="DejaVu Sans"/>
              </a:rPr>
              <a:t>Synthetic assumptions for discovery</a:t>
            </a:r>
          </a:p>
        </p:txBody>
      </p:sp>
      <p:sp>
        <p:nvSpPr>
          <p:cNvPr id="18" name="Rectángulo: esquinas redondeadas 17">
            <a:extLst>
              <a:ext uri="{FF2B5EF4-FFF2-40B4-BE49-F238E27FC236}">
                <a16:creationId xmlns:a16="http://schemas.microsoft.com/office/drawing/2014/main" id="{F9F7506B-AF22-4C56-A4DA-6516E2123B37}"/>
              </a:ext>
            </a:extLst>
          </p:cNvPr>
          <p:cNvSpPr>
            <a:spLocks noGrp="1"/>
          </p:cNvSpPr>
          <p:nvPr/>
        </p:nvSpPr>
        <p:spPr>
          <a:xfrm>
            <a:off x="6191250" y="1581150"/>
            <a:ext cx="4953000" cy="3714750"/>
          </a:xfrm>
          <a:prstGeom prst="roundRect">
            <a:avLst>
              <a:gd name="adj" fmla="val 4615"/>
            </a:avLst>
          </a:prstGeom>
          <a:solidFill>
            <a:srgbClr val="F1E8D7"/>
          </a:solidFill>
          <a:ln w="0">
            <a:noFill/>
          </a:ln>
        </p:spPr>
      </p:sp>
      <p:sp>
        <p:nvSpPr>
          <p:cNvPr id="19" name="Rectángulo 18">
            <a:extLst>
              <a:ext uri="{FF2B5EF4-FFF2-40B4-BE49-F238E27FC236}">
                <a16:creationId xmlns:a16="http://schemas.microsoft.com/office/drawing/2014/main" id="{B688DB33-A90F-407F-B3A9-517E21A331F0}"/>
              </a:ext>
            </a:extLst>
          </p:cNvPr>
          <p:cNvSpPr>
            <a:spLocks noGrp="1"/>
          </p:cNvSpPr>
          <p:nvPr/>
        </p:nvSpPr>
        <p:spPr>
          <a:xfrm>
            <a:off x="6496050" y="1847850"/>
            <a:ext cx="2857500" cy="342900"/>
          </a:xfrm>
          <a:prstGeom prst="rect">
            <a:avLst/>
          </a:prstGeom>
          <a:noFill/>
          <a:ln w="0">
            <a:noFill/>
          </a:ln>
        </p:spPr>
        <p:txBody>
          <a:bodyPr anchor="t">
            <a:normAutofit fontScale="98652"/>
          </a:bodyPr>
          <a:lstStyle/>
          <a:p>
            <a:pPr algn="l">
              <a:defRPr sz="1650" b="1" i="0">
                <a:solidFill>
                  <a:srgbClr val="17324D"/>
                </a:solidFill>
                <a:latin typeface="DejaVu Serif"/>
                <a:ea typeface="DejaVu Serif"/>
                <a:cs typeface="DejaVu Serif"/>
              </a:defRPr>
            </a:pPr>
            <a:r>
              <a:rPr sz="1650" b="1" i="0">
                <a:solidFill>
                  <a:srgbClr val="17324D"/>
                </a:solidFill>
                <a:latin typeface="DejaVu Serif"/>
                <a:ea typeface="DejaVu Serif"/>
                <a:cs typeface="DejaVu Serif"/>
              </a:rPr>
              <a:t>Where enquiries arrive</a:t>
            </a:r>
          </a:p>
        </p:txBody>
      </p:sp>
      <p:sp>
        <p:nvSpPr>
          <p:cNvPr id="20" name="Rectángulo 19">
            <a:extLst>
              <a:ext uri="{FF2B5EF4-FFF2-40B4-BE49-F238E27FC236}">
                <a16:creationId xmlns:a16="http://schemas.microsoft.com/office/drawing/2014/main" id="{FECAB9FF-4756-498A-BBA5-7A33E56B5D70}"/>
              </a:ext>
            </a:extLst>
          </p:cNvPr>
          <p:cNvSpPr>
            <a:spLocks noGrp="1"/>
          </p:cNvSpPr>
          <p:nvPr/>
        </p:nvSpPr>
        <p:spPr>
          <a:xfrm>
            <a:off x="6524625" y="2476500"/>
            <a:ext cx="1428750" cy="285750"/>
          </a:xfrm>
          <a:prstGeom prst="rect">
            <a:avLst/>
          </a:prstGeom>
          <a:noFill/>
          <a:ln w="0">
            <a:noFill/>
          </a:ln>
        </p:spPr>
        <p:txBody>
          <a:bodyPr anchor="t">
            <a:normAutofit fontScale="94444"/>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WhatsApp</a:t>
            </a:r>
          </a:p>
        </p:txBody>
      </p:sp>
      <p:sp>
        <p:nvSpPr>
          <p:cNvPr id="21" name="Rectángulo: esquinas redondeadas 20">
            <a:extLst>
              <a:ext uri="{FF2B5EF4-FFF2-40B4-BE49-F238E27FC236}">
                <a16:creationId xmlns:a16="http://schemas.microsoft.com/office/drawing/2014/main" id="{01A0B018-25AF-4C09-A4CE-D88D8773819F}"/>
              </a:ext>
            </a:extLst>
          </p:cNvPr>
          <p:cNvSpPr>
            <a:spLocks noGrp="1"/>
          </p:cNvSpPr>
          <p:nvPr/>
        </p:nvSpPr>
        <p:spPr>
          <a:xfrm>
            <a:off x="8096250" y="2495550"/>
            <a:ext cx="1981200" cy="247650"/>
          </a:xfrm>
          <a:prstGeom prst="roundRect">
            <a:avLst>
              <a:gd name="adj" fmla="val 30769"/>
            </a:avLst>
          </a:prstGeom>
          <a:solidFill>
            <a:srgbClr val="1C7180"/>
          </a:solidFill>
          <a:ln w="0">
            <a:noFill/>
          </a:ln>
        </p:spPr>
      </p:sp>
      <p:sp>
        <p:nvSpPr>
          <p:cNvPr id="22" name="Rectángulo 21">
            <a:extLst>
              <a:ext uri="{FF2B5EF4-FFF2-40B4-BE49-F238E27FC236}">
                <a16:creationId xmlns:a16="http://schemas.microsoft.com/office/drawing/2014/main" id="{AF876997-9B99-41BE-AC2F-8BFBA9701301}"/>
              </a:ext>
            </a:extLst>
          </p:cNvPr>
          <p:cNvSpPr>
            <a:spLocks noGrp="1"/>
          </p:cNvSpPr>
          <p:nvPr/>
        </p:nvSpPr>
        <p:spPr>
          <a:xfrm>
            <a:off x="10191750" y="2476500"/>
            <a:ext cx="523875" cy="285750"/>
          </a:xfrm>
          <a:prstGeom prst="rect">
            <a:avLst/>
          </a:prstGeom>
          <a:noFill/>
          <a:ln w="0">
            <a:noFill/>
          </a:ln>
        </p:spPr>
        <p:txBody>
          <a:bodyPr anchor="t">
            <a:normAutofit fontScale="94444"/>
          </a:bodyPr>
          <a:lstStyle/>
          <a:p>
            <a:pPr algn="r">
              <a:defRPr sz="1350" b="1" i="0">
                <a:solidFill>
                  <a:srgbClr val="1C7180"/>
                </a:solidFill>
                <a:latin typeface="DejaVu Sans"/>
                <a:ea typeface="DejaVu Sans"/>
                <a:cs typeface="DejaVu Sans"/>
              </a:defRPr>
            </a:pPr>
            <a:r>
              <a:rPr sz="1350" b="1" i="0">
                <a:solidFill>
                  <a:srgbClr val="1C7180"/>
                </a:solidFill>
                <a:latin typeface="DejaVu Sans"/>
                <a:ea typeface="DejaVu Sans"/>
                <a:cs typeface="DejaVu Sans"/>
              </a:rPr>
              <a:t>26</a:t>
            </a:r>
          </a:p>
        </p:txBody>
      </p:sp>
      <p:sp>
        <p:nvSpPr>
          <p:cNvPr id="23" name="Rectángulo 22">
            <a:extLst>
              <a:ext uri="{FF2B5EF4-FFF2-40B4-BE49-F238E27FC236}">
                <a16:creationId xmlns:a16="http://schemas.microsoft.com/office/drawing/2014/main" id="{EE6D7B12-17EB-4E3A-B6F5-E02D91AE0D7B}"/>
              </a:ext>
            </a:extLst>
          </p:cNvPr>
          <p:cNvSpPr>
            <a:spLocks noGrp="1"/>
          </p:cNvSpPr>
          <p:nvPr/>
        </p:nvSpPr>
        <p:spPr>
          <a:xfrm>
            <a:off x="6524625" y="3267075"/>
            <a:ext cx="1428750" cy="285750"/>
          </a:xfrm>
          <a:prstGeom prst="rect">
            <a:avLst/>
          </a:prstGeom>
          <a:noFill/>
          <a:ln w="0">
            <a:noFill/>
          </a:ln>
        </p:spPr>
        <p:txBody>
          <a:bodyPr anchor="t">
            <a:normAutofit fontScale="94444"/>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Web form</a:t>
            </a:r>
          </a:p>
        </p:txBody>
      </p:sp>
      <p:sp>
        <p:nvSpPr>
          <p:cNvPr id="24" name="Rectángulo: esquinas redondeadas 23">
            <a:extLst>
              <a:ext uri="{FF2B5EF4-FFF2-40B4-BE49-F238E27FC236}">
                <a16:creationId xmlns:a16="http://schemas.microsoft.com/office/drawing/2014/main" id="{3ABFEFA3-C63F-49F0-ACF7-78DCA5027A38}"/>
              </a:ext>
            </a:extLst>
          </p:cNvPr>
          <p:cNvSpPr>
            <a:spLocks noGrp="1"/>
          </p:cNvSpPr>
          <p:nvPr/>
        </p:nvSpPr>
        <p:spPr>
          <a:xfrm>
            <a:off x="8096250" y="3286125"/>
            <a:ext cx="1371600" cy="247650"/>
          </a:xfrm>
          <a:prstGeom prst="roundRect">
            <a:avLst>
              <a:gd name="adj" fmla="val 30769"/>
            </a:avLst>
          </a:prstGeom>
          <a:solidFill>
            <a:srgbClr val="7A8C5A"/>
          </a:solidFill>
          <a:ln w="0">
            <a:noFill/>
          </a:ln>
        </p:spPr>
      </p:sp>
      <p:sp>
        <p:nvSpPr>
          <p:cNvPr id="25" name="Rectángulo 24">
            <a:extLst>
              <a:ext uri="{FF2B5EF4-FFF2-40B4-BE49-F238E27FC236}">
                <a16:creationId xmlns:a16="http://schemas.microsoft.com/office/drawing/2014/main" id="{0A8CB4AC-FA03-45A9-904A-DEFF461B4ACA}"/>
              </a:ext>
            </a:extLst>
          </p:cNvPr>
          <p:cNvSpPr>
            <a:spLocks noGrp="1"/>
          </p:cNvSpPr>
          <p:nvPr/>
        </p:nvSpPr>
        <p:spPr>
          <a:xfrm>
            <a:off x="10191750" y="3267075"/>
            <a:ext cx="523875" cy="285750"/>
          </a:xfrm>
          <a:prstGeom prst="rect">
            <a:avLst/>
          </a:prstGeom>
          <a:noFill/>
          <a:ln w="0">
            <a:noFill/>
          </a:ln>
        </p:spPr>
        <p:txBody>
          <a:bodyPr anchor="t">
            <a:normAutofit fontScale="94444"/>
          </a:bodyPr>
          <a:lstStyle/>
          <a:p>
            <a:pPr algn="r">
              <a:defRPr sz="1350" b="1" i="0">
                <a:solidFill>
                  <a:srgbClr val="7A8C5A"/>
                </a:solidFill>
                <a:latin typeface="DejaVu Sans"/>
                <a:ea typeface="DejaVu Sans"/>
                <a:cs typeface="DejaVu Sans"/>
              </a:defRPr>
            </a:pPr>
            <a:r>
              <a:rPr sz="1350" b="1" i="0">
                <a:solidFill>
                  <a:srgbClr val="7A8C5A"/>
                </a:solidFill>
                <a:latin typeface="DejaVu Sans"/>
                <a:ea typeface="DejaVu Sans"/>
                <a:cs typeface="DejaVu Sans"/>
              </a:rPr>
              <a:t>18</a:t>
            </a:r>
          </a:p>
        </p:txBody>
      </p:sp>
      <p:sp>
        <p:nvSpPr>
          <p:cNvPr id="26" name="Rectángulo 25">
            <a:extLst>
              <a:ext uri="{FF2B5EF4-FFF2-40B4-BE49-F238E27FC236}">
                <a16:creationId xmlns:a16="http://schemas.microsoft.com/office/drawing/2014/main" id="{F3190878-3E25-409F-BEF6-607E009D5F93}"/>
              </a:ext>
            </a:extLst>
          </p:cNvPr>
          <p:cNvSpPr>
            <a:spLocks noGrp="1"/>
          </p:cNvSpPr>
          <p:nvPr/>
        </p:nvSpPr>
        <p:spPr>
          <a:xfrm>
            <a:off x="6524625" y="4057650"/>
            <a:ext cx="1428750" cy="285750"/>
          </a:xfrm>
          <a:prstGeom prst="rect">
            <a:avLst/>
          </a:prstGeom>
          <a:noFill/>
          <a:ln w="0">
            <a:noFill/>
          </a:ln>
        </p:spPr>
        <p:txBody>
          <a:bodyPr anchor="t">
            <a:normAutofit fontScale="94444"/>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Email</a:t>
            </a:r>
          </a:p>
        </p:txBody>
      </p:sp>
      <p:sp>
        <p:nvSpPr>
          <p:cNvPr id="27" name="Rectángulo: esquinas redondeadas 26">
            <a:extLst>
              <a:ext uri="{FF2B5EF4-FFF2-40B4-BE49-F238E27FC236}">
                <a16:creationId xmlns:a16="http://schemas.microsoft.com/office/drawing/2014/main" id="{60E2558E-AC47-4C2E-A4C3-2F6E984163B5}"/>
              </a:ext>
            </a:extLst>
          </p:cNvPr>
          <p:cNvSpPr>
            <a:spLocks noGrp="1"/>
          </p:cNvSpPr>
          <p:nvPr/>
        </p:nvSpPr>
        <p:spPr>
          <a:xfrm>
            <a:off x="8096250" y="4076700"/>
            <a:ext cx="1219200" cy="247650"/>
          </a:xfrm>
          <a:prstGeom prst="roundRect">
            <a:avLst>
              <a:gd name="adj" fmla="val 30769"/>
            </a:avLst>
          </a:prstGeom>
          <a:solidFill>
            <a:srgbClr val="C96A4B"/>
          </a:solidFill>
          <a:ln w="0">
            <a:noFill/>
          </a:ln>
        </p:spPr>
      </p:sp>
      <p:sp>
        <p:nvSpPr>
          <p:cNvPr id="28" name="Rectángulo 27">
            <a:extLst>
              <a:ext uri="{FF2B5EF4-FFF2-40B4-BE49-F238E27FC236}">
                <a16:creationId xmlns:a16="http://schemas.microsoft.com/office/drawing/2014/main" id="{C7FB6F79-7F58-4F3B-A999-52C3A03D2C84}"/>
              </a:ext>
            </a:extLst>
          </p:cNvPr>
          <p:cNvSpPr>
            <a:spLocks noGrp="1"/>
          </p:cNvSpPr>
          <p:nvPr/>
        </p:nvSpPr>
        <p:spPr>
          <a:xfrm>
            <a:off x="10191750" y="4057650"/>
            <a:ext cx="523875" cy="285750"/>
          </a:xfrm>
          <a:prstGeom prst="rect">
            <a:avLst/>
          </a:prstGeom>
          <a:noFill/>
          <a:ln w="0">
            <a:noFill/>
          </a:ln>
        </p:spPr>
        <p:txBody>
          <a:bodyPr anchor="t">
            <a:normAutofit fontScale="94444"/>
          </a:bodyPr>
          <a:lstStyle/>
          <a:p>
            <a:pPr algn="r">
              <a:defRPr sz="1350" b="1" i="0">
                <a:solidFill>
                  <a:srgbClr val="C96A4B"/>
                </a:solidFill>
                <a:latin typeface="DejaVu Sans"/>
                <a:ea typeface="DejaVu Sans"/>
                <a:cs typeface="DejaVu Sans"/>
              </a:defRPr>
            </a:pPr>
            <a:r>
              <a:rPr sz="1350" b="1" i="0">
                <a:solidFill>
                  <a:srgbClr val="C96A4B"/>
                </a:solidFill>
                <a:latin typeface="DejaVu Sans"/>
                <a:ea typeface="DejaVu Sans"/>
                <a:cs typeface="DejaVu Sans"/>
              </a:rPr>
              <a:t>16</a:t>
            </a:r>
          </a:p>
        </p:txBody>
      </p:sp>
      <p:sp>
        <p:nvSpPr>
          <p:cNvPr id="29" name="Rectángulo 28">
            <a:extLst>
              <a:ext uri="{FF2B5EF4-FFF2-40B4-BE49-F238E27FC236}">
                <a16:creationId xmlns:a16="http://schemas.microsoft.com/office/drawing/2014/main" id="{B8A9E36B-7648-40EC-9CF2-5263969274F6}"/>
              </a:ext>
            </a:extLst>
          </p:cNvPr>
          <p:cNvSpPr>
            <a:spLocks noGrp="1"/>
          </p:cNvSpPr>
          <p:nvPr/>
        </p:nvSpPr>
        <p:spPr>
          <a:xfrm>
            <a:off x="6496050" y="4705350"/>
            <a:ext cx="4238625" cy="400050"/>
          </a:xfrm>
          <a:prstGeom prst="rect">
            <a:avLst/>
          </a:prstGeom>
          <a:noFill/>
          <a:ln w="0">
            <a:noFill/>
          </a:ln>
        </p:spPr>
        <p:txBody>
          <a:bodyPr anchor="t">
            <a:normAutofit fontScale="79412"/>
          </a:bodyPr>
          <a:lstStyle/>
          <a:p>
            <a:pPr algn="l">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Current process: manual translation, qualification, matching and reply drafting</a:t>
            </a:r>
          </a:p>
        </p:txBody>
      </p:sp>
      <p:sp>
        <p:nvSpPr>
          <p:cNvPr id="30" name="Rectángulo: esquinas redondeadas 29">
            <a:extLst>
              <a:ext uri="{FF2B5EF4-FFF2-40B4-BE49-F238E27FC236}">
                <a16:creationId xmlns:a16="http://schemas.microsoft.com/office/drawing/2014/main" id="{7AD7BD9C-ECE7-4B84-B146-450572AB543F}"/>
              </a:ext>
            </a:extLst>
          </p:cNvPr>
          <p:cNvSpPr>
            <a:spLocks noGrp="1"/>
          </p:cNvSpPr>
          <p:nvPr/>
        </p:nvSpPr>
        <p:spPr>
          <a:xfrm>
            <a:off x="685800" y="5715000"/>
            <a:ext cx="10458450" cy="457200"/>
          </a:xfrm>
          <a:prstGeom prst="roundRect">
            <a:avLst>
              <a:gd name="adj" fmla="val 25000"/>
            </a:avLst>
          </a:prstGeom>
          <a:solidFill>
            <a:srgbClr val="DCEAE7"/>
          </a:solidFill>
          <a:ln w="0">
            <a:noFill/>
          </a:ln>
        </p:spPr>
      </p:sp>
      <p:sp>
        <p:nvSpPr>
          <p:cNvPr id="31" name="Rectángulo 30">
            <a:extLst>
              <a:ext uri="{FF2B5EF4-FFF2-40B4-BE49-F238E27FC236}">
                <a16:creationId xmlns:a16="http://schemas.microsoft.com/office/drawing/2014/main" id="{8BB2A00F-B608-48CA-9BEB-7B49D033BD3E}"/>
              </a:ext>
            </a:extLst>
          </p:cNvPr>
          <p:cNvSpPr>
            <a:spLocks noGrp="1"/>
          </p:cNvSpPr>
          <p:nvPr/>
        </p:nvSpPr>
        <p:spPr>
          <a:xfrm>
            <a:off x="952500" y="5800725"/>
            <a:ext cx="9906000" cy="285750"/>
          </a:xfrm>
          <a:prstGeom prst="rect">
            <a:avLst/>
          </a:prstGeom>
          <a:noFill/>
          <a:ln w="0">
            <a:noFill/>
          </a:ln>
        </p:spPr>
        <p:txBody>
          <a:bodyPr anchor="ctr">
            <a:normAutofit fontScale="80952"/>
          </a:bodyPr>
          <a:lstStyle/>
          <a:p>
            <a:pPr algn="ctr">
              <a:defRPr sz="1575" b="1" i="0">
                <a:solidFill>
                  <a:srgbClr val="145463"/>
                </a:solidFill>
                <a:latin typeface="DejaVu Sans"/>
                <a:ea typeface="DejaVu Sans"/>
                <a:cs typeface="DejaVu Sans"/>
              </a:defRPr>
            </a:pPr>
            <a:r>
              <a:rPr sz="1575" b="1" i="0">
                <a:solidFill>
                  <a:srgbClr val="145463"/>
                </a:solidFill>
                <a:latin typeface="DejaVu Sans"/>
                <a:ea typeface="DejaVu Sans"/>
                <a:cs typeface="DejaVu Sans"/>
              </a:rPr>
              <a:t>Round 1 goal: give every lead a fast, relevant and reviewable first response</a:t>
            </a:r>
          </a:p>
        </p:txBody>
      </p:sp>
    </p:spTree>
    <p:extLst>
      <p:ext uri="{BB962C8B-B14F-4D97-AF65-F5344CB8AC3E}">
        <p14:creationId xmlns:p14="http://schemas.microsoft.com/office/powerpoint/2010/main" val="618457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A94D040C-476B-4617-BAF6-CDBADB609194}"/>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005C4E5D-C1D5-4918-878D-62BCDBC1EA8D}"/>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PUBLIC EVIDENCE · MARKET PRESSURE</a:t>
            </a:r>
          </a:p>
        </p:txBody>
      </p:sp>
      <p:sp>
        <p:nvSpPr>
          <p:cNvPr id="3" name="Rectángulo 2">
            <a:extLst>
              <a:ext uri="{FF2B5EF4-FFF2-40B4-BE49-F238E27FC236}">
                <a16:creationId xmlns:a16="http://schemas.microsoft.com/office/drawing/2014/main" id="{65B49B87-E0A2-4C10-B5B2-BCA67CEF44ED}"/>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Mallorca buyers operate in a fast-moving market</a:t>
            </a:r>
          </a:p>
        </p:txBody>
      </p:sp>
      <p:sp>
        <p:nvSpPr>
          <p:cNvPr id="4" name="Rectángulo 3">
            <a:extLst>
              <a:ext uri="{FF2B5EF4-FFF2-40B4-BE49-F238E27FC236}">
                <a16:creationId xmlns:a16="http://schemas.microsoft.com/office/drawing/2014/main" id="{64FB14EA-BA3C-414C-B8C7-B6DE2018F93F}"/>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04</a:t>
            </a:r>
          </a:p>
        </p:txBody>
      </p:sp>
      <p:sp>
        <p:nvSpPr>
          <p:cNvPr id="5" name="Rectángulo 4">
            <a:extLst>
              <a:ext uri="{FF2B5EF4-FFF2-40B4-BE49-F238E27FC236}">
                <a16:creationId xmlns:a16="http://schemas.microsoft.com/office/drawing/2014/main" id="{5DFA542D-2DC6-493C-BE88-05327F594E6E}"/>
              </a:ext>
            </a:extLst>
          </p:cNvPr>
          <p:cNvSpPr>
            <a:spLocks noGrp="1"/>
          </p:cNvSpPr>
          <p:nvPr/>
        </p:nvSpPr>
        <p:spPr>
          <a:xfrm>
            <a:off x="609600" y="1304925"/>
            <a:ext cx="10972800" cy="9525"/>
          </a:xfrm>
          <a:prstGeom prst="rect">
            <a:avLst/>
          </a:prstGeom>
          <a:solidFill>
            <a:srgbClr val="D8D1C4"/>
          </a:solidFill>
          <a:ln w="0">
            <a:noFill/>
          </a:ln>
        </p:spPr>
      </p:sp>
      <p:graphicFrame>
        <p:nvGraphicFramePr>
          <p:cNvPr id="19" name="Chart"/>
          <p:cNvGraphicFramePr/>
          <p:nvPr/>
        </p:nvGraphicFramePr>
        <p:xfrm>
          <a:off x="609600" y="1619250"/>
          <a:ext cx="7667625"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esquinas redondeadas 6">
            <a:extLst>
              <a:ext uri="{FF2B5EF4-FFF2-40B4-BE49-F238E27FC236}">
                <a16:creationId xmlns:a16="http://schemas.microsoft.com/office/drawing/2014/main" id="{CC40F5A9-8AC6-41C8-B79A-50F64FF17C16}"/>
              </a:ext>
            </a:extLst>
          </p:cNvPr>
          <p:cNvSpPr>
            <a:spLocks noGrp="1"/>
          </p:cNvSpPr>
          <p:nvPr/>
        </p:nvSpPr>
        <p:spPr>
          <a:xfrm>
            <a:off x="8667750" y="1809750"/>
            <a:ext cx="2476500" cy="2333625"/>
          </a:xfrm>
          <a:prstGeom prst="roundRect">
            <a:avLst>
              <a:gd name="adj" fmla="val 7347"/>
            </a:avLst>
          </a:prstGeom>
          <a:solidFill>
            <a:srgbClr val="17324D"/>
          </a:solidFill>
          <a:ln w="0">
            <a:noFill/>
          </a:ln>
        </p:spPr>
      </p:sp>
      <p:sp>
        <p:nvSpPr>
          <p:cNvPr id="8" name="Rectángulo 7">
            <a:extLst>
              <a:ext uri="{FF2B5EF4-FFF2-40B4-BE49-F238E27FC236}">
                <a16:creationId xmlns:a16="http://schemas.microsoft.com/office/drawing/2014/main" id="{6C74B9AD-2D56-4D3C-B33E-AF286D7543BF}"/>
              </a:ext>
            </a:extLst>
          </p:cNvPr>
          <p:cNvSpPr>
            <a:spLocks noGrp="1"/>
          </p:cNvSpPr>
          <p:nvPr/>
        </p:nvSpPr>
        <p:spPr>
          <a:xfrm>
            <a:off x="8877300" y="2095500"/>
            <a:ext cx="2057400" cy="704850"/>
          </a:xfrm>
          <a:prstGeom prst="rect">
            <a:avLst/>
          </a:prstGeom>
          <a:noFill/>
          <a:ln w="0">
            <a:noFill/>
          </a:ln>
        </p:spPr>
        <p:txBody>
          <a:bodyPr anchor="t">
            <a:normAutofit/>
          </a:bodyPr>
          <a:lstStyle/>
          <a:p>
            <a:pPr algn="ctr">
              <a:defRPr sz="3600" b="1" i="0">
                <a:solidFill>
                  <a:srgbClr val="FFFFFF"/>
                </a:solidFill>
                <a:latin typeface="DejaVu Serif"/>
                <a:ea typeface="DejaVu Serif"/>
                <a:cs typeface="DejaVu Serif"/>
              </a:defRPr>
            </a:pPr>
            <a:r>
              <a:rPr sz="3600" b="1" i="0">
                <a:solidFill>
                  <a:srgbClr val="FFFFFF"/>
                </a:solidFill>
                <a:latin typeface="DejaVu Serif"/>
                <a:ea typeface="DejaVu Serif"/>
                <a:cs typeface="DejaVu Serif"/>
              </a:rPr>
              <a:t>13.6%</a:t>
            </a:r>
          </a:p>
        </p:txBody>
      </p:sp>
      <p:sp>
        <p:nvSpPr>
          <p:cNvPr id="9" name="Rectángulo 8">
            <a:extLst>
              <a:ext uri="{FF2B5EF4-FFF2-40B4-BE49-F238E27FC236}">
                <a16:creationId xmlns:a16="http://schemas.microsoft.com/office/drawing/2014/main" id="{E9BA142F-04B6-4B9A-86AA-3160C7532F82}"/>
              </a:ext>
            </a:extLst>
          </p:cNvPr>
          <p:cNvSpPr>
            <a:spLocks noGrp="1"/>
          </p:cNvSpPr>
          <p:nvPr/>
        </p:nvSpPr>
        <p:spPr>
          <a:xfrm>
            <a:off x="9010650" y="2905125"/>
            <a:ext cx="1790700" cy="609600"/>
          </a:xfrm>
          <a:prstGeom prst="rect">
            <a:avLst/>
          </a:prstGeom>
          <a:noFill/>
          <a:ln w="0">
            <a:noFill/>
          </a:ln>
        </p:spPr>
        <p:txBody>
          <a:bodyPr anchor="t">
            <a:normAutofit fontScale="79532"/>
          </a:bodyPr>
          <a:lstStyle/>
          <a:p>
            <a:pPr algn="ctr">
              <a:defRPr sz="1425" b="1" i="0">
                <a:solidFill>
                  <a:srgbClr val="DCEAE7"/>
                </a:solidFill>
                <a:latin typeface="DejaVu Sans"/>
                <a:ea typeface="DejaVu Sans"/>
                <a:cs typeface="DejaVu Sans"/>
              </a:defRPr>
            </a:pPr>
            <a:r>
              <a:rPr sz="1425" b="1" i="0">
                <a:solidFill>
                  <a:srgbClr val="DCEAE7"/>
                </a:solidFill>
                <a:latin typeface="DejaVu Sans"/>
                <a:ea typeface="DejaVu Sans"/>
                <a:cs typeface="DejaVu Sans"/>
              </a:rPr>
              <a:t>annual price growth</a:t>
            </a:r>
          </a:p>
          <a:p>
            <a:pPr algn="ctr">
              <a:defRPr sz="1425" b="1" i="0">
                <a:solidFill>
                  <a:srgbClr val="DCEAE7"/>
                </a:solidFill>
                <a:latin typeface="DejaVu Sans"/>
                <a:ea typeface="DejaVu Sans"/>
                <a:cs typeface="DejaVu Sans"/>
              </a:defRPr>
            </a:pPr>
            <a:r>
              <a:rPr sz="1425" b="1" i="0">
                <a:solidFill>
                  <a:srgbClr val="DCEAE7"/>
                </a:solidFill>
                <a:latin typeface="DejaVu Sans"/>
                <a:ea typeface="DejaVu Sans"/>
                <a:cs typeface="DejaVu Sans"/>
              </a:rPr>
              <a:t>in Illes Balears</a:t>
            </a:r>
          </a:p>
        </p:txBody>
      </p:sp>
      <p:sp>
        <p:nvSpPr>
          <p:cNvPr id="10" name="Rectángulo 9">
            <a:extLst>
              <a:ext uri="{FF2B5EF4-FFF2-40B4-BE49-F238E27FC236}">
                <a16:creationId xmlns:a16="http://schemas.microsoft.com/office/drawing/2014/main" id="{6C3D424F-6AF1-4236-A32A-4D22537DE672}"/>
              </a:ext>
            </a:extLst>
          </p:cNvPr>
          <p:cNvSpPr>
            <a:spLocks noGrp="1"/>
          </p:cNvSpPr>
          <p:nvPr/>
        </p:nvSpPr>
        <p:spPr>
          <a:xfrm>
            <a:off x="9182100" y="3705225"/>
            <a:ext cx="1428750" cy="266700"/>
          </a:xfrm>
          <a:prstGeom prst="rect">
            <a:avLst/>
          </a:prstGeom>
          <a:noFill/>
          <a:ln w="0">
            <a:noFill/>
          </a:ln>
        </p:spPr>
        <p:txBody>
          <a:bodyPr anchor="t">
            <a:normAutofit/>
          </a:bodyPr>
          <a:lstStyle/>
          <a:p>
            <a:pPr algn="ctr">
              <a:defRPr sz="1050" b="0" i="0">
                <a:solidFill>
                  <a:srgbClr val="FFFFFF"/>
                </a:solidFill>
                <a:latin typeface="DejaVu Sans"/>
                <a:ea typeface="DejaVu Sans"/>
                <a:cs typeface="DejaVu Sans"/>
              </a:defRPr>
            </a:pPr>
            <a:r>
              <a:rPr sz="1050" b="0" i="0">
                <a:solidFill>
                  <a:srgbClr val="FFFFFF"/>
                </a:solidFill>
                <a:latin typeface="DejaVu Sans"/>
                <a:ea typeface="DejaVu Sans"/>
                <a:cs typeface="DejaVu Sans"/>
              </a:rPr>
              <a:t>Q1 2026</a:t>
            </a:r>
          </a:p>
        </p:txBody>
      </p:sp>
      <p:sp>
        <p:nvSpPr>
          <p:cNvPr id="11" name="Rectángulo 10">
            <a:extLst>
              <a:ext uri="{FF2B5EF4-FFF2-40B4-BE49-F238E27FC236}">
                <a16:creationId xmlns:a16="http://schemas.microsoft.com/office/drawing/2014/main" id="{56A68830-C263-41FA-81F3-722EA34E6569}"/>
              </a:ext>
            </a:extLst>
          </p:cNvPr>
          <p:cNvSpPr>
            <a:spLocks noGrp="1"/>
          </p:cNvSpPr>
          <p:nvPr/>
        </p:nvSpPr>
        <p:spPr>
          <a:xfrm>
            <a:off x="8858250" y="4552950"/>
            <a:ext cx="2047875" cy="266700"/>
          </a:xfrm>
          <a:prstGeom prst="rect">
            <a:avLst/>
          </a:prstGeom>
          <a:noFill/>
          <a:ln w="0">
            <a:noFill/>
          </a:ln>
        </p:spPr>
        <p:txBody>
          <a:bodyPr anchor="t">
            <a:normAutofit fontScale="95833"/>
          </a:bodyPr>
          <a:lstStyle/>
          <a:p>
            <a:pPr algn="ctr">
              <a:defRPr sz="1200" b="1" i="0">
                <a:solidFill>
                  <a:srgbClr val="C96A4B"/>
                </a:solidFill>
                <a:latin typeface="DejaVu Sans"/>
                <a:ea typeface="DejaVu Sans"/>
                <a:cs typeface="DejaVu Sans"/>
              </a:defRPr>
            </a:pPr>
            <a:r>
              <a:rPr sz="1200" b="1" i="0">
                <a:solidFill>
                  <a:srgbClr val="C96A4B"/>
                </a:solidFill>
                <a:latin typeface="DejaVu Sans"/>
                <a:ea typeface="DejaVu Sans"/>
                <a:cs typeface="DejaVu Sans"/>
              </a:rPr>
              <a:t>Why it matters</a:t>
            </a:r>
          </a:p>
        </p:txBody>
      </p:sp>
      <p:sp>
        <p:nvSpPr>
          <p:cNvPr id="12" name="Rectángulo 11">
            <a:extLst>
              <a:ext uri="{FF2B5EF4-FFF2-40B4-BE49-F238E27FC236}">
                <a16:creationId xmlns:a16="http://schemas.microsoft.com/office/drawing/2014/main" id="{D167EA23-AB03-4B0E-8734-8647E7C216D7}"/>
              </a:ext>
            </a:extLst>
          </p:cNvPr>
          <p:cNvSpPr>
            <a:spLocks noGrp="1"/>
          </p:cNvSpPr>
          <p:nvPr/>
        </p:nvSpPr>
        <p:spPr>
          <a:xfrm>
            <a:off x="8848725" y="4953000"/>
            <a:ext cx="2076450" cy="781050"/>
          </a:xfrm>
          <a:prstGeom prst="rect">
            <a:avLst/>
          </a:prstGeom>
          <a:noFill/>
          <a:ln w="0">
            <a:noFill/>
          </a:ln>
        </p:spPr>
        <p:txBody>
          <a:bodyPr anchor="t">
            <a:normAutofit fontScale="83638"/>
          </a:bodyPr>
          <a:lstStyle/>
          <a:p>
            <a:pPr algn="ctr">
              <a:defRPr sz="1275" b="0" i="0">
                <a:solidFill>
                  <a:srgbClr val="17324D"/>
                </a:solidFill>
                <a:latin typeface="DejaVu Sans"/>
                <a:ea typeface="DejaVu Sans"/>
                <a:cs typeface="DejaVu Sans"/>
              </a:defRPr>
            </a:pPr>
            <a:r>
              <a:rPr sz="1275" b="0" i="0">
                <a:solidFill>
                  <a:srgbClr val="17324D"/>
                </a:solidFill>
                <a:latin typeface="DejaVu Sans"/>
                <a:ea typeface="DejaVu Sans"/>
                <a:cs typeface="DejaVu Sans"/>
              </a:rPr>
              <a:t>Availability changes quickly. Agents need to qualify and match enquiries while listings remain relevant.</a:t>
            </a:r>
          </a:p>
        </p:txBody>
      </p:sp>
      <p:sp>
        <p:nvSpPr>
          <p:cNvPr id="13" name="Rectángulo 12">
            <a:extLst>
              <a:ext uri="{FF2B5EF4-FFF2-40B4-BE49-F238E27FC236}">
                <a16:creationId xmlns:a16="http://schemas.microsoft.com/office/drawing/2014/main" id="{0860356D-77BF-46D6-BE8C-DD6436DE37D5}"/>
              </a:ext>
            </a:extLst>
          </p:cNvPr>
          <p:cNvSpPr>
            <a:spLocks noGrp="1"/>
          </p:cNvSpPr>
          <p:nvPr/>
        </p:nvSpPr>
        <p:spPr>
          <a:xfrm>
            <a:off x="857250" y="5905500"/>
            <a:ext cx="4953000" cy="190500"/>
          </a:xfrm>
          <a:prstGeom prst="rect">
            <a:avLst/>
          </a:prstGeom>
          <a:noFill/>
          <a:ln w="0">
            <a:noFill/>
          </a:ln>
        </p:spPr>
        <p:txBody>
          <a:bodyPr anchor="t">
            <a:normAutofit fontScale="78788"/>
          </a:bodyPr>
          <a:lstStyle/>
          <a:p>
            <a:pPr algn="l">
              <a:defRPr sz="825" b="0" i="0">
                <a:solidFill>
                  <a:srgbClr val="6D7E87"/>
                </a:solidFill>
                <a:latin typeface="DejaVu Sans"/>
                <a:ea typeface="DejaVu Sans"/>
                <a:cs typeface="DejaVu Sans"/>
              </a:defRPr>
            </a:pPr>
            <a:r>
              <a:rPr sz="825" b="0" i="0">
                <a:solidFill>
                  <a:srgbClr val="6D7E87"/>
                </a:solidFill>
                <a:latin typeface="DejaVu Sans"/>
                <a:ea typeface="DejaVu Sans"/>
                <a:cs typeface="DejaVu Sans"/>
              </a:rPr>
              <a:t>Source: INE House Price Index, Q1 2026</a:t>
            </a:r>
          </a:p>
        </p:txBody>
      </p:sp>
    </p:spTree>
    <p:extLst>
      <p:ext uri="{BB962C8B-B14F-4D97-AF65-F5344CB8AC3E}">
        <p14:creationId xmlns:p14="http://schemas.microsoft.com/office/powerpoint/2010/main" val="445680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D62C2DAC-A5C3-420D-9F79-7E0BAD1C0CF0}"/>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A0EF77B0-3201-474A-A5C7-0F56B2BBACE7}"/>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PUBLIC EVIDENCE · CUSTOMER MIX</a:t>
            </a:r>
          </a:p>
        </p:txBody>
      </p:sp>
      <p:sp>
        <p:nvSpPr>
          <p:cNvPr id="3" name="Rectángulo 2">
            <a:extLst>
              <a:ext uri="{FF2B5EF4-FFF2-40B4-BE49-F238E27FC236}">
                <a16:creationId xmlns:a16="http://schemas.microsoft.com/office/drawing/2014/main" id="{45E82F01-3079-4BC5-BC91-A41BC13A04F2}"/>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One in three Balearic purchases involves a foreign buyer</a:t>
            </a:r>
          </a:p>
        </p:txBody>
      </p:sp>
      <p:sp>
        <p:nvSpPr>
          <p:cNvPr id="4" name="Rectángulo 3">
            <a:extLst>
              <a:ext uri="{FF2B5EF4-FFF2-40B4-BE49-F238E27FC236}">
                <a16:creationId xmlns:a16="http://schemas.microsoft.com/office/drawing/2014/main" id="{256EA0D8-16C6-463C-9A2A-431FAC023BF3}"/>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05</a:t>
            </a:r>
          </a:p>
        </p:txBody>
      </p:sp>
      <p:sp>
        <p:nvSpPr>
          <p:cNvPr id="5" name="Rectángulo 4">
            <a:extLst>
              <a:ext uri="{FF2B5EF4-FFF2-40B4-BE49-F238E27FC236}">
                <a16:creationId xmlns:a16="http://schemas.microsoft.com/office/drawing/2014/main" id="{F184CE32-C8BC-480A-A295-F1C499794F16}"/>
              </a:ext>
            </a:extLst>
          </p:cNvPr>
          <p:cNvSpPr>
            <a:spLocks noGrp="1"/>
          </p:cNvSpPr>
          <p:nvPr/>
        </p:nvSpPr>
        <p:spPr>
          <a:xfrm>
            <a:off x="609600" y="1304925"/>
            <a:ext cx="10972800" cy="9525"/>
          </a:xfrm>
          <a:prstGeom prst="rect">
            <a:avLst/>
          </a:prstGeom>
          <a:solidFill>
            <a:srgbClr val="D8D1C4"/>
          </a:solidFill>
          <a:ln w="0">
            <a:noFill/>
          </a:ln>
        </p:spPr>
      </p:sp>
      <p:graphicFrame>
        <p:nvGraphicFramePr>
          <p:cNvPr id="19" name="Chart"/>
          <p:cNvGraphicFramePr/>
          <p:nvPr/>
        </p:nvGraphicFramePr>
        <p:xfrm>
          <a:off x="609600" y="1666875"/>
          <a:ext cx="781050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esquinas redondeadas 6">
            <a:extLst>
              <a:ext uri="{FF2B5EF4-FFF2-40B4-BE49-F238E27FC236}">
                <a16:creationId xmlns:a16="http://schemas.microsoft.com/office/drawing/2014/main" id="{BDD15179-5741-42FB-B367-A030880F051D}"/>
              </a:ext>
            </a:extLst>
          </p:cNvPr>
          <p:cNvSpPr>
            <a:spLocks noGrp="1"/>
          </p:cNvSpPr>
          <p:nvPr/>
        </p:nvSpPr>
        <p:spPr>
          <a:xfrm>
            <a:off x="8858250" y="1885950"/>
            <a:ext cx="2238375" cy="1952625"/>
          </a:xfrm>
          <a:prstGeom prst="roundRect">
            <a:avLst>
              <a:gd name="adj" fmla="val 8780"/>
            </a:avLst>
          </a:prstGeom>
          <a:solidFill>
            <a:srgbClr val="F1E8D7"/>
          </a:solidFill>
          <a:ln w="0">
            <a:noFill/>
          </a:ln>
        </p:spPr>
      </p:sp>
      <p:sp>
        <p:nvSpPr>
          <p:cNvPr id="8" name="Rectángulo 7">
            <a:extLst>
              <a:ext uri="{FF2B5EF4-FFF2-40B4-BE49-F238E27FC236}">
                <a16:creationId xmlns:a16="http://schemas.microsoft.com/office/drawing/2014/main" id="{0162B34E-C1B8-4D95-B4BA-EE7B52758A0A}"/>
              </a:ext>
            </a:extLst>
          </p:cNvPr>
          <p:cNvSpPr>
            <a:spLocks noGrp="1"/>
          </p:cNvSpPr>
          <p:nvPr/>
        </p:nvSpPr>
        <p:spPr>
          <a:xfrm>
            <a:off x="9029700" y="2152650"/>
            <a:ext cx="1885950" cy="628650"/>
          </a:xfrm>
          <a:prstGeom prst="rect">
            <a:avLst/>
          </a:prstGeom>
          <a:noFill/>
          <a:ln w="0">
            <a:noFill/>
          </a:ln>
        </p:spPr>
        <p:txBody>
          <a:bodyPr anchor="t">
            <a:normAutofit/>
          </a:bodyPr>
          <a:lstStyle/>
          <a:p>
            <a:pPr algn="ctr">
              <a:defRPr sz="3225" b="1" i="0">
                <a:solidFill>
                  <a:srgbClr val="C96A4B"/>
                </a:solidFill>
                <a:latin typeface="DejaVu Serif"/>
                <a:ea typeface="DejaVu Serif"/>
                <a:cs typeface="DejaVu Serif"/>
              </a:defRPr>
            </a:pPr>
            <a:r>
              <a:rPr sz="3225" b="1" i="0">
                <a:solidFill>
                  <a:srgbClr val="C96A4B"/>
                </a:solidFill>
                <a:latin typeface="DejaVu Serif"/>
                <a:ea typeface="DejaVu Serif"/>
                <a:cs typeface="DejaVu Serif"/>
              </a:rPr>
              <a:t>31.47%</a:t>
            </a:r>
          </a:p>
        </p:txBody>
      </p:sp>
      <p:sp>
        <p:nvSpPr>
          <p:cNvPr id="9" name="Rectángulo 8">
            <a:extLst>
              <a:ext uri="{FF2B5EF4-FFF2-40B4-BE49-F238E27FC236}">
                <a16:creationId xmlns:a16="http://schemas.microsoft.com/office/drawing/2014/main" id="{ACC2F117-BF59-4567-ACDB-7900C9CEF189}"/>
              </a:ext>
            </a:extLst>
          </p:cNvPr>
          <p:cNvSpPr>
            <a:spLocks noGrp="1"/>
          </p:cNvSpPr>
          <p:nvPr/>
        </p:nvSpPr>
        <p:spPr>
          <a:xfrm>
            <a:off x="9086850" y="2914650"/>
            <a:ext cx="1790700" cy="285750"/>
          </a:xfrm>
          <a:prstGeom prst="rect">
            <a:avLst/>
          </a:prstGeom>
          <a:noFill/>
          <a:ln w="0">
            <a:noFill/>
          </a:ln>
        </p:spPr>
        <p:txBody>
          <a:bodyPr anchor="t">
            <a:normAutofit fontScale="89474"/>
          </a:bodyPr>
          <a:lstStyle/>
          <a:p>
            <a:pPr algn="ctr">
              <a:defRPr sz="1425" b="1" i="0">
                <a:solidFill>
                  <a:srgbClr val="17324D"/>
                </a:solidFill>
                <a:latin typeface="DejaVu Sans"/>
                <a:ea typeface="DejaVu Sans"/>
                <a:cs typeface="DejaVu Sans"/>
              </a:defRPr>
            </a:pPr>
            <a:r>
              <a:rPr sz="1425" b="1" i="0">
                <a:solidFill>
                  <a:srgbClr val="17324D"/>
                </a:solidFill>
                <a:latin typeface="DejaVu Sans"/>
                <a:ea typeface="DejaVu Sans"/>
                <a:cs typeface="DejaVu Sans"/>
              </a:rPr>
              <a:t>Illes Balears</a:t>
            </a:r>
          </a:p>
        </p:txBody>
      </p:sp>
      <p:sp>
        <p:nvSpPr>
          <p:cNvPr id="10" name="Rectángulo 9">
            <a:extLst>
              <a:ext uri="{FF2B5EF4-FFF2-40B4-BE49-F238E27FC236}">
                <a16:creationId xmlns:a16="http://schemas.microsoft.com/office/drawing/2014/main" id="{27921029-94AC-4836-B25C-1D5F13576E01}"/>
              </a:ext>
            </a:extLst>
          </p:cNvPr>
          <p:cNvSpPr>
            <a:spLocks noGrp="1"/>
          </p:cNvSpPr>
          <p:nvPr/>
        </p:nvSpPr>
        <p:spPr>
          <a:xfrm>
            <a:off x="9124950" y="3286125"/>
            <a:ext cx="1714500" cy="428625"/>
          </a:xfrm>
          <a:prstGeom prst="rect">
            <a:avLst/>
          </a:prstGeom>
          <a:noFill/>
          <a:ln w="0">
            <a:noFill/>
          </a:ln>
        </p:spPr>
        <p:txBody>
          <a:bodyPr anchor="t">
            <a:normAutofit fontScale="98333"/>
          </a:bodyPr>
          <a:lstStyle/>
          <a:p>
            <a:pPr algn="ctr">
              <a:defRPr sz="1125" b="0" i="0">
                <a:solidFill>
                  <a:srgbClr val="6D7E87"/>
                </a:solidFill>
                <a:latin typeface="DejaVu Sans"/>
                <a:ea typeface="DejaVu Sans"/>
                <a:cs typeface="DejaVu Sans"/>
              </a:defRPr>
            </a:pPr>
            <a:r>
              <a:rPr sz="1125" b="0" i="0">
                <a:solidFill>
                  <a:srgbClr val="6D7E87"/>
                </a:solidFill>
                <a:latin typeface="DejaVu Sans"/>
                <a:ea typeface="DejaVu Sans"/>
                <a:cs typeface="DejaVu Sans"/>
              </a:rPr>
              <a:t>More than twice the Spanish share</a:t>
            </a:r>
          </a:p>
        </p:txBody>
      </p:sp>
      <p:sp>
        <p:nvSpPr>
          <p:cNvPr id="11" name="Rectángulo: esquinas redondeadas 10">
            <a:extLst>
              <a:ext uri="{FF2B5EF4-FFF2-40B4-BE49-F238E27FC236}">
                <a16:creationId xmlns:a16="http://schemas.microsoft.com/office/drawing/2014/main" id="{EC76A5D6-4904-4224-B39B-682DC7CB67CB}"/>
              </a:ext>
            </a:extLst>
          </p:cNvPr>
          <p:cNvSpPr>
            <a:spLocks noGrp="1"/>
          </p:cNvSpPr>
          <p:nvPr/>
        </p:nvSpPr>
        <p:spPr>
          <a:xfrm>
            <a:off x="9086850" y="4381500"/>
            <a:ext cx="1771650"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DESIGN IMPLICATION</a:t>
            </a:r>
          </a:p>
        </p:txBody>
      </p:sp>
      <p:sp>
        <p:nvSpPr>
          <p:cNvPr id="12" name="Rectángulo 11">
            <a:extLst>
              <a:ext uri="{FF2B5EF4-FFF2-40B4-BE49-F238E27FC236}">
                <a16:creationId xmlns:a16="http://schemas.microsoft.com/office/drawing/2014/main" id="{E098DCDE-FA34-4BDE-8B30-AAE3DB8A5889}"/>
              </a:ext>
            </a:extLst>
          </p:cNvPr>
          <p:cNvSpPr>
            <a:spLocks noGrp="1"/>
          </p:cNvSpPr>
          <p:nvPr/>
        </p:nvSpPr>
        <p:spPr>
          <a:xfrm>
            <a:off x="8991600" y="4848225"/>
            <a:ext cx="1952625" cy="723900"/>
          </a:xfrm>
          <a:prstGeom prst="rect">
            <a:avLst/>
          </a:prstGeom>
          <a:noFill/>
          <a:ln w="0">
            <a:noFill/>
          </a:ln>
        </p:spPr>
        <p:txBody>
          <a:bodyPr anchor="t">
            <a:normAutofit fontScale="81373"/>
          </a:bodyPr>
          <a:lstStyle/>
          <a:p>
            <a:pPr algn="ctr">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The intake must work in English, German and Spanish from the first version.</a:t>
            </a:r>
          </a:p>
        </p:txBody>
      </p:sp>
      <p:sp>
        <p:nvSpPr>
          <p:cNvPr id="13" name="Rectángulo 12">
            <a:extLst>
              <a:ext uri="{FF2B5EF4-FFF2-40B4-BE49-F238E27FC236}">
                <a16:creationId xmlns:a16="http://schemas.microsoft.com/office/drawing/2014/main" id="{4EC996A8-D189-45F5-B221-9C1D0767C94F}"/>
              </a:ext>
            </a:extLst>
          </p:cNvPr>
          <p:cNvSpPr>
            <a:spLocks noGrp="1"/>
          </p:cNvSpPr>
          <p:nvPr/>
        </p:nvSpPr>
        <p:spPr>
          <a:xfrm>
            <a:off x="857250" y="5905500"/>
            <a:ext cx="4953000" cy="190500"/>
          </a:xfrm>
          <a:prstGeom prst="rect">
            <a:avLst/>
          </a:prstGeom>
          <a:noFill/>
          <a:ln w="0">
            <a:noFill/>
          </a:ln>
        </p:spPr>
        <p:txBody>
          <a:bodyPr anchor="t">
            <a:normAutofit fontScale="78788"/>
          </a:bodyPr>
          <a:lstStyle/>
          <a:p>
            <a:pPr algn="l">
              <a:defRPr sz="825" b="0" i="0">
                <a:solidFill>
                  <a:srgbClr val="6D7E87"/>
                </a:solidFill>
                <a:latin typeface="DejaVu Sans"/>
                <a:ea typeface="DejaVu Sans"/>
                <a:cs typeface="DejaVu Sans"/>
              </a:defRPr>
            </a:pPr>
            <a:r>
              <a:rPr sz="825" b="0" i="0">
                <a:solidFill>
                  <a:srgbClr val="6D7E87"/>
                </a:solidFill>
                <a:latin typeface="DejaVu Sans"/>
                <a:ea typeface="DejaVu Sans"/>
                <a:cs typeface="DejaVu Sans"/>
              </a:rPr>
              <a:t>Source: Spanish Land Registrars, Q4 2025</a:t>
            </a:r>
          </a:p>
        </p:txBody>
      </p:sp>
    </p:spTree>
    <p:extLst>
      <p:ext uri="{BB962C8B-B14F-4D97-AF65-F5344CB8AC3E}">
        <p14:creationId xmlns:p14="http://schemas.microsoft.com/office/powerpoint/2010/main" val="1069020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6738E4A-A7FD-4B23-A41A-E27D270F6ECD}"/>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30B49CD1-83CA-4769-B13A-20366D87AAF1}"/>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PUBLIC EVIDENCE · IMPLEMENTATION REALITY</a:t>
            </a:r>
          </a:p>
        </p:txBody>
      </p:sp>
      <p:sp>
        <p:nvSpPr>
          <p:cNvPr id="3" name="Rectángulo 2">
            <a:extLst>
              <a:ext uri="{FF2B5EF4-FFF2-40B4-BE49-F238E27FC236}">
                <a16:creationId xmlns:a16="http://schemas.microsoft.com/office/drawing/2014/main" id="{78956D45-F6B3-47BA-A5A0-5501FCB8B3BD}"/>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Microagencies need a smaller path to adoption</a:t>
            </a:r>
          </a:p>
        </p:txBody>
      </p:sp>
      <p:sp>
        <p:nvSpPr>
          <p:cNvPr id="4" name="Rectángulo 3">
            <a:extLst>
              <a:ext uri="{FF2B5EF4-FFF2-40B4-BE49-F238E27FC236}">
                <a16:creationId xmlns:a16="http://schemas.microsoft.com/office/drawing/2014/main" id="{D1A79017-E9FF-44F6-988C-3BBE71AED2E0}"/>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06</a:t>
            </a:r>
          </a:p>
        </p:txBody>
      </p:sp>
      <p:sp>
        <p:nvSpPr>
          <p:cNvPr id="5" name="Rectángulo 4">
            <a:extLst>
              <a:ext uri="{FF2B5EF4-FFF2-40B4-BE49-F238E27FC236}">
                <a16:creationId xmlns:a16="http://schemas.microsoft.com/office/drawing/2014/main" id="{A5025524-CB65-4670-A0A4-A55A72A0E7B7}"/>
              </a:ext>
            </a:extLst>
          </p:cNvPr>
          <p:cNvSpPr>
            <a:spLocks noGrp="1"/>
          </p:cNvSpPr>
          <p:nvPr/>
        </p:nvSpPr>
        <p:spPr>
          <a:xfrm>
            <a:off x="609600" y="1304925"/>
            <a:ext cx="10972800" cy="9525"/>
          </a:xfrm>
          <a:prstGeom prst="rect">
            <a:avLst/>
          </a:prstGeom>
          <a:solidFill>
            <a:srgbClr val="D8D1C4"/>
          </a:solidFill>
          <a:ln w="0">
            <a:noFill/>
          </a:ln>
        </p:spPr>
      </p:sp>
      <p:graphicFrame>
        <p:nvGraphicFramePr>
          <p:cNvPr id="19" name="Chart"/>
          <p:cNvGraphicFramePr/>
          <p:nvPr/>
        </p:nvGraphicFramePr>
        <p:xfrm>
          <a:off x="762000" y="1762125"/>
          <a:ext cx="6810375"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esquinas redondeadas 6">
            <a:extLst>
              <a:ext uri="{FF2B5EF4-FFF2-40B4-BE49-F238E27FC236}">
                <a16:creationId xmlns:a16="http://schemas.microsoft.com/office/drawing/2014/main" id="{1F5E7714-5FF3-4B86-BEE0-5CF5AF3E7D12}"/>
              </a:ext>
            </a:extLst>
          </p:cNvPr>
          <p:cNvSpPr>
            <a:spLocks noGrp="1"/>
          </p:cNvSpPr>
          <p:nvPr/>
        </p:nvSpPr>
        <p:spPr>
          <a:xfrm>
            <a:off x="8096250" y="1714500"/>
            <a:ext cx="3143250" cy="3714750"/>
          </a:xfrm>
          <a:prstGeom prst="roundRect">
            <a:avLst>
              <a:gd name="adj" fmla="val 5455"/>
            </a:avLst>
          </a:prstGeom>
          <a:solidFill>
            <a:srgbClr val="17324D"/>
          </a:solidFill>
          <a:ln w="0">
            <a:noFill/>
          </a:ln>
        </p:spPr>
      </p:sp>
      <p:sp>
        <p:nvSpPr>
          <p:cNvPr id="8" name="Rectángulo: esquinas redondeadas 7">
            <a:extLst>
              <a:ext uri="{FF2B5EF4-FFF2-40B4-BE49-F238E27FC236}">
                <a16:creationId xmlns:a16="http://schemas.microsoft.com/office/drawing/2014/main" id="{4F8BF8C8-FB91-46C6-87BC-9F348AC0AA26}"/>
              </a:ext>
            </a:extLst>
          </p:cNvPr>
          <p:cNvSpPr>
            <a:spLocks noGrp="1"/>
          </p:cNvSpPr>
          <p:nvPr/>
        </p:nvSpPr>
        <p:spPr>
          <a:xfrm>
            <a:off x="8572500" y="2009775"/>
            <a:ext cx="2190750" cy="266700"/>
          </a:xfrm>
          <a:prstGeom prst="roundRect">
            <a:avLst>
              <a:gd name="adj" fmla="val 42857"/>
            </a:avLst>
          </a:prstGeom>
          <a:solidFill>
            <a:srgbClr val="F5E3DC"/>
          </a:solidFill>
          <a:ln w="0">
            <a:noFill/>
          </a:ln>
        </p:spPr>
        <p:txBody>
          <a:bodyPr anchor="ctr">
            <a:normAutofit fontScale="78963"/>
          </a:bodyPr>
          <a:lstStyle/>
          <a:p>
            <a:pPr algn="ctr">
              <a:defRPr sz="900" b="1" i="0">
                <a:solidFill>
                  <a:srgbClr val="C96A4B"/>
                </a:solidFill>
                <a:latin typeface="DejaVu Sans"/>
                <a:ea typeface="DejaVu Sans"/>
                <a:cs typeface="DejaVu Sans"/>
              </a:defRPr>
            </a:pPr>
            <a:r>
              <a:rPr sz="900" b="1" i="0">
                <a:solidFill>
                  <a:srgbClr val="C96A4B"/>
                </a:solidFill>
                <a:latin typeface="DejaVu Sans"/>
                <a:ea typeface="DejaVu Sans"/>
                <a:cs typeface="DejaVu Sans"/>
              </a:rPr>
              <a:t>IMPORTANT LIMITATION</a:t>
            </a:r>
          </a:p>
        </p:txBody>
      </p:sp>
      <p:sp>
        <p:nvSpPr>
          <p:cNvPr id="9" name="Rectángulo 8">
            <a:extLst>
              <a:ext uri="{FF2B5EF4-FFF2-40B4-BE49-F238E27FC236}">
                <a16:creationId xmlns:a16="http://schemas.microsoft.com/office/drawing/2014/main" id="{A77A4159-2D62-47C5-A1BE-19B2B068BE39}"/>
              </a:ext>
            </a:extLst>
          </p:cNvPr>
          <p:cNvSpPr>
            <a:spLocks noGrp="1"/>
          </p:cNvSpPr>
          <p:nvPr/>
        </p:nvSpPr>
        <p:spPr>
          <a:xfrm>
            <a:off x="8458200" y="2571750"/>
            <a:ext cx="2419350" cy="666750"/>
          </a:xfrm>
          <a:prstGeom prst="rect">
            <a:avLst/>
          </a:prstGeom>
          <a:noFill/>
          <a:ln w="0">
            <a:noFill/>
          </a:ln>
        </p:spPr>
        <p:txBody>
          <a:bodyPr anchor="t">
            <a:normAutofit/>
          </a:bodyPr>
          <a:lstStyle/>
          <a:p>
            <a:pPr algn="ctr">
              <a:defRPr sz="1875" b="1" i="0">
                <a:solidFill>
                  <a:srgbClr val="FFFFFF"/>
                </a:solidFill>
                <a:latin typeface="DejaVu Serif"/>
                <a:ea typeface="DejaVu Serif"/>
                <a:cs typeface="DejaVu Serif"/>
              </a:defRPr>
            </a:pPr>
            <a:r>
              <a:rPr sz="1875" b="1" i="0">
                <a:solidFill>
                  <a:srgbClr val="FFFFFF"/>
                </a:solidFill>
                <a:latin typeface="DejaVu Serif"/>
                <a:ea typeface="DejaVu Serif"/>
                <a:cs typeface="DejaVu Serif"/>
              </a:rPr>
              <a:t>Eurostat starts at 10 employees</a:t>
            </a:r>
          </a:p>
        </p:txBody>
      </p:sp>
      <p:sp>
        <p:nvSpPr>
          <p:cNvPr id="10" name="Rectángulo 9">
            <a:extLst>
              <a:ext uri="{FF2B5EF4-FFF2-40B4-BE49-F238E27FC236}">
                <a16:creationId xmlns:a16="http://schemas.microsoft.com/office/drawing/2014/main" id="{34C6DB17-44E7-4021-90F0-AC744E7389DE}"/>
              </a:ext>
            </a:extLst>
          </p:cNvPr>
          <p:cNvSpPr>
            <a:spLocks noGrp="1"/>
          </p:cNvSpPr>
          <p:nvPr/>
        </p:nvSpPr>
        <p:spPr>
          <a:xfrm>
            <a:off x="8553450" y="3448050"/>
            <a:ext cx="2238375" cy="685800"/>
          </a:xfrm>
          <a:prstGeom prst="rect">
            <a:avLst/>
          </a:prstGeom>
          <a:noFill/>
          <a:ln w="0">
            <a:noFill/>
          </a:ln>
        </p:spPr>
        <p:txBody>
          <a:bodyPr anchor="t">
            <a:normAutofit/>
          </a:bodyPr>
          <a:lstStyle/>
          <a:p>
            <a:pPr algn="ctr">
              <a:defRPr sz="1275" b="0" i="0">
                <a:solidFill>
                  <a:srgbClr val="DCEAE7"/>
                </a:solidFill>
                <a:latin typeface="DejaVu Sans"/>
                <a:ea typeface="DejaVu Sans"/>
                <a:cs typeface="DejaVu Sans"/>
              </a:defRPr>
            </a:pPr>
            <a:r>
              <a:rPr sz="1275" b="0" i="0">
                <a:solidFill>
                  <a:srgbClr val="DCEAE7"/>
                </a:solidFill>
                <a:latin typeface="DejaVu Sans"/>
                <a:ea typeface="DejaVu Sans"/>
                <a:cs typeface="DejaVu Sans"/>
              </a:rPr>
              <a:t>Chleo is smaller, so this dataset cannot describe its adoption rate.</a:t>
            </a:r>
          </a:p>
        </p:txBody>
      </p:sp>
      <p:sp>
        <p:nvSpPr>
          <p:cNvPr id="11" name="Rectángulo 10">
            <a:extLst>
              <a:ext uri="{FF2B5EF4-FFF2-40B4-BE49-F238E27FC236}">
                <a16:creationId xmlns:a16="http://schemas.microsoft.com/office/drawing/2014/main" id="{4A59A2C0-A23A-4F07-9BF6-CE15B574D3C9}"/>
              </a:ext>
            </a:extLst>
          </p:cNvPr>
          <p:cNvSpPr>
            <a:spLocks noGrp="1"/>
          </p:cNvSpPr>
          <p:nvPr/>
        </p:nvSpPr>
        <p:spPr>
          <a:xfrm>
            <a:off x="8763000" y="4419600"/>
            <a:ext cx="1809750" cy="228600"/>
          </a:xfrm>
          <a:prstGeom prst="rect">
            <a:avLst/>
          </a:prstGeom>
          <a:noFill/>
          <a:ln w="0">
            <a:noFill/>
          </a:ln>
        </p:spPr>
        <p:txBody>
          <a:bodyPr anchor="t">
            <a:normAutofit fontScale="85714"/>
          </a:bodyPr>
          <a:lstStyle/>
          <a:p>
            <a:pPr algn="ctr">
              <a:defRPr sz="1050" b="1" i="0">
                <a:solidFill>
                  <a:srgbClr val="C96A4B"/>
                </a:solidFill>
                <a:latin typeface="DejaVu Sans"/>
                <a:ea typeface="DejaVu Sans"/>
                <a:cs typeface="DejaVu Sans"/>
              </a:defRPr>
            </a:pPr>
            <a:r>
              <a:rPr sz="1050" b="1" i="0">
                <a:solidFill>
                  <a:srgbClr val="C96A4B"/>
                </a:solidFill>
                <a:latin typeface="DejaVu Sans"/>
                <a:ea typeface="DejaVu Sans"/>
                <a:cs typeface="DejaVu Sans"/>
              </a:rPr>
              <a:t>Project response</a:t>
            </a:r>
          </a:p>
        </p:txBody>
      </p:sp>
      <p:sp>
        <p:nvSpPr>
          <p:cNvPr id="12" name="Rectángulo 11">
            <a:extLst>
              <a:ext uri="{FF2B5EF4-FFF2-40B4-BE49-F238E27FC236}">
                <a16:creationId xmlns:a16="http://schemas.microsoft.com/office/drawing/2014/main" id="{4977609F-5906-4707-96BE-8B6B633D7721}"/>
              </a:ext>
            </a:extLst>
          </p:cNvPr>
          <p:cNvSpPr>
            <a:spLocks noGrp="1"/>
          </p:cNvSpPr>
          <p:nvPr/>
        </p:nvSpPr>
        <p:spPr>
          <a:xfrm>
            <a:off x="8572500" y="4762500"/>
            <a:ext cx="2190750" cy="514350"/>
          </a:xfrm>
          <a:prstGeom prst="rect">
            <a:avLst/>
          </a:prstGeom>
          <a:noFill/>
          <a:ln w="0">
            <a:noFill/>
          </a:ln>
        </p:spPr>
        <p:txBody>
          <a:bodyPr anchor="t">
            <a:normAutofit fontScale="72549"/>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One narrow workflow, transparent rules and a four-week controlled pilot.</a:t>
            </a:r>
          </a:p>
        </p:txBody>
      </p:sp>
      <p:sp>
        <p:nvSpPr>
          <p:cNvPr id="13" name="Rectángulo 12">
            <a:extLst>
              <a:ext uri="{FF2B5EF4-FFF2-40B4-BE49-F238E27FC236}">
                <a16:creationId xmlns:a16="http://schemas.microsoft.com/office/drawing/2014/main" id="{609FA53C-838C-4119-9C0E-52FE54922CF0}"/>
              </a:ext>
            </a:extLst>
          </p:cNvPr>
          <p:cNvSpPr>
            <a:spLocks noGrp="1"/>
          </p:cNvSpPr>
          <p:nvPr/>
        </p:nvSpPr>
        <p:spPr>
          <a:xfrm>
            <a:off x="857250" y="5905500"/>
            <a:ext cx="3619500" cy="190500"/>
          </a:xfrm>
          <a:prstGeom prst="rect">
            <a:avLst/>
          </a:prstGeom>
          <a:noFill/>
          <a:ln w="0">
            <a:noFill/>
          </a:ln>
        </p:spPr>
        <p:txBody>
          <a:bodyPr anchor="t">
            <a:normAutofit fontScale="78788"/>
          </a:bodyPr>
          <a:lstStyle/>
          <a:p>
            <a:pPr algn="l">
              <a:defRPr sz="825" b="0" i="0">
                <a:solidFill>
                  <a:srgbClr val="6D7E87"/>
                </a:solidFill>
                <a:latin typeface="DejaVu Sans"/>
                <a:ea typeface="DejaVu Sans"/>
                <a:cs typeface="DejaVu Sans"/>
              </a:defRPr>
            </a:pPr>
            <a:r>
              <a:rPr sz="825" b="0" i="0">
                <a:solidFill>
                  <a:srgbClr val="6D7E87"/>
                </a:solidFill>
                <a:latin typeface="DejaVu Sans"/>
                <a:ea typeface="DejaVu Sans"/>
                <a:cs typeface="DejaVu Sans"/>
              </a:rPr>
              <a:t>Source: Eurostat, 2025</a:t>
            </a:r>
          </a:p>
        </p:txBody>
      </p:sp>
    </p:spTree>
    <p:extLst>
      <p:ext uri="{BB962C8B-B14F-4D97-AF65-F5344CB8AC3E}">
        <p14:creationId xmlns:p14="http://schemas.microsoft.com/office/powerpoint/2010/main" val="1461201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8C8069AB-950C-4C22-837B-7F4E6E2639E0}"/>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CB158A1F-2D3D-4F5D-A32F-4E625CCEF458}"/>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SYNTHETIC BASELINE · TO REPLACE WITH CHLEO DATA</a:t>
            </a:r>
          </a:p>
        </p:txBody>
      </p:sp>
      <p:sp>
        <p:nvSpPr>
          <p:cNvPr id="3" name="Rectángulo 2">
            <a:extLst>
              <a:ext uri="{FF2B5EF4-FFF2-40B4-BE49-F238E27FC236}">
                <a16:creationId xmlns:a16="http://schemas.microsoft.com/office/drawing/2014/main" id="{D65BA06B-21D5-4406-955E-60E834DF7EE9}"/>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The first discovery questions are measurable</a:t>
            </a:r>
          </a:p>
        </p:txBody>
      </p:sp>
      <p:sp>
        <p:nvSpPr>
          <p:cNvPr id="4" name="Rectángulo 3">
            <a:extLst>
              <a:ext uri="{FF2B5EF4-FFF2-40B4-BE49-F238E27FC236}">
                <a16:creationId xmlns:a16="http://schemas.microsoft.com/office/drawing/2014/main" id="{8017AE64-8430-4CC0-9E4D-6465CCEF5FEC}"/>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07</a:t>
            </a:r>
          </a:p>
        </p:txBody>
      </p:sp>
      <p:sp>
        <p:nvSpPr>
          <p:cNvPr id="5" name="Rectángulo 4">
            <a:extLst>
              <a:ext uri="{FF2B5EF4-FFF2-40B4-BE49-F238E27FC236}">
                <a16:creationId xmlns:a16="http://schemas.microsoft.com/office/drawing/2014/main" id="{417CAA19-649F-4051-8F6C-27A2DE989155}"/>
              </a:ext>
            </a:extLst>
          </p:cNvPr>
          <p:cNvSpPr>
            <a:spLocks noGrp="1"/>
          </p:cNvSpPr>
          <p:nvPr/>
        </p:nvSpPr>
        <p:spPr>
          <a:xfrm>
            <a:off x="609600" y="1304925"/>
            <a:ext cx="10972800" cy="9525"/>
          </a:xfrm>
          <a:prstGeom prst="rect">
            <a:avLst/>
          </a:prstGeom>
          <a:solidFill>
            <a:srgbClr val="D8D1C4"/>
          </a:solidFill>
          <a:ln w="0">
            <a:noFill/>
          </a:ln>
        </p:spPr>
      </p:sp>
      <p:sp>
        <p:nvSpPr>
          <p:cNvPr id="6" name="Rectángulo 5">
            <a:extLst>
              <a:ext uri="{FF2B5EF4-FFF2-40B4-BE49-F238E27FC236}">
                <a16:creationId xmlns:a16="http://schemas.microsoft.com/office/drawing/2014/main" id="{8C5B226D-C88E-46BF-82C1-85CC43260D6B}"/>
              </a:ext>
            </a:extLst>
          </p:cNvPr>
          <p:cNvSpPr>
            <a:spLocks noGrp="1"/>
          </p:cNvSpPr>
          <p:nvPr/>
        </p:nvSpPr>
        <p:spPr>
          <a:xfrm>
            <a:off x="685800" y="1562100"/>
            <a:ext cx="4381500" cy="266700"/>
          </a:xfrm>
          <a:prstGeom prst="rect">
            <a:avLst/>
          </a:prstGeom>
          <a:noFill/>
          <a:ln w="0">
            <a:noFill/>
          </a:ln>
        </p:spPr>
        <p:txBody>
          <a:bodyPr anchor="t">
            <a:normAutofit fontScale="80702"/>
          </a:bodyPr>
          <a:lstStyle/>
          <a:p>
            <a:pPr algn="l">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Assumed monthly language mix</a:t>
            </a:r>
          </a:p>
        </p:txBody>
      </p:sp>
      <p:graphicFrame>
        <p:nvGraphicFramePr>
          <p:cNvPr id="20" name="Chart"/>
          <p:cNvGraphicFramePr/>
          <p:nvPr/>
        </p:nvGraphicFramePr>
        <p:xfrm>
          <a:off x="523875" y="1885950"/>
          <a:ext cx="495300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ángulo 7">
            <a:extLst>
              <a:ext uri="{FF2B5EF4-FFF2-40B4-BE49-F238E27FC236}">
                <a16:creationId xmlns:a16="http://schemas.microsoft.com/office/drawing/2014/main" id="{FE4686E2-6560-4BA4-BFC9-17CEA82DFFBA}"/>
              </a:ext>
            </a:extLst>
          </p:cNvPr>
          <p:cNvSpPr>
            <a:spLocks noGrp="1"/>
          </p:cNvSpPr>
          <p:nvPr/>
        </p:nvSpPr>
        <p:spPr>
          <a:xfrm>
            <a:off x="2333625" y="3143250"/>
            <a:ext cx="1333500" cy="438150"/>
          </a:xfrm>
          <a:prstGeom prst="rect">
            <a:avLst/>
          </a:prstGeom>
          <a:noFill/>
          <a:ln w="0">
            <a:noFill/>
          </a:ln>
        </p:spPr>
        <p:txBody>
          <a:bodyPr anchor="t">
            <a:normAutofit/>
          </a:bodyPr>
          <a:lstStyle/>
          <a:p>
            <a:pPr algn="ctr">
              <a:defRPr sz="2250" b="1" i="0">
                <a:solidFill>
                  <a:srgbClr val="17324D"/>
                </a:solidFill>
                <a:latin typeface="DejaVu Serif"/>
                <a:ea typeface="DejaVu Serif"/>
                <a:cs typeface="DejaVu Serif"/>
              </a:defRPr>
            </a:pPr>
            <a:r>
              <a:rPr sz="2250" b="1" i="0">
                <a:solidFill>
                  <a:srgbClr val="17324D"/>
                </a:solidFill>
                <a:latin typeface="DejaVu Serif"/>
                <a:ea typeface="DejaVu Serif"/>
                <a:cs typeface="DejaVu Serif"/>
              </a:rPr>
              <a:t>60</a:t>
            </a:r>
          </a:p>
        </p:txBody>
      </p:sp>
      <p:sp>
        <p:nvSpPr>
          <p:cNvPr id="9" name="Rectángulo 8">
            <a:extLst>
              <a:ext uri="{FF2B5EF4-FFF2-40B4-BE49-F238E27FC236}">
                <a16:creationId xmlns:a16="http://schemas.microsoft.com/office/drawing/2014/main" id="{2EA927E8-7C9C-4EB7-B3FC-0DB7A4298426}"/>
              </a:ext>
            </a:extLst>
          </p:cNvPr>
          <p:cNvSpPr>
            <a:spLocks noGrp="1"/>
          </p:cNvSpPr>
          <p:nvPr/>
        </p:nvSpPr>
        <p:spPr>
          <a:xfrm>
            <a:off x="2381250" y="3562350"/>
            <a:ext cx="1238250" cy="228600"/>
          </a:xfrm>
          <a:prstGeom prst="rect">
            <a:avLst/>
          </a:prstGeom>
          <a:noFill/>
          <a:ln w="0">
            <a:noFill/>
          </a:ln>
        </p:spPr>
        <p:txBody>
          <a:bodyPr anchor="t">
            <a:normAutofit/>
          </a:bodyPr>
          <a:lstStyle/>
          <a:p>
            <a:pPr algn="ctr">
              <a:defRPr sz="900" b="0" i="0">
                <a:solidFill>
                  <a:srgbClr val="6D7E87"/>
                </a:solidFill>
                <a:latin typeface="DejaVu Sans"/>
                <a:ea typeface="DejaVu Sans"/>
                <a:cs typeface="DejaVu Sans"/>
              </a:defRPr>
            </a:pPr>
            <a:r>
              <a:rPr sz="900" b="0" i="0">
                <a:solidFill>
                  <a:srgbClr val="6D7E87"/>
                </a:solidFill>
                <a:latin typeface="DejaVu Sans"/>
                <a:ea typeface="DejaVu Sans"/>
                <a:cs typeface="DejaVu Sans"/>
              </a:rPr>
              <a:t>enquiries</a:t>
            </a:r>
          </a:p>
        </p:txBody>
      </p:sp>
      <p:sp>
        <p:nvSpPr>
          <p:cNvPr id="10" name="Rectángulo 9">
            <a:extLst>
              <a:ext uri="{FF2B5EF4-FFF2-40B4-BE49-F238E27FC236}">
                <a16:creationId xmlns:a16="http://schemas.microsoft.com/office/drawing/2014/main" id="{A6D8663D-451E-402D-810F-FE6E3A5DD2F7}"/>
              </a:ext>
            </a:extLst>
          </p:cNvPr>
          <p:cNvSpPr>
            <a:spLocks noGrp="1"/>
          </p:cNvSpPr>
          <p:nvPr/>
        </p:nvSpPr>
        <p:spPr>
          <a:xfrm>
            <a:off x="6286500" y="1562100"/>
            <a:ext cx="4476750" cy="266700"/>
          </a:xfrm>
          <a:prstGeom prst="rect">
            <a:avLst/>
          </a:prstGeom>
          <a:noFill/>
          <a:ln w="0">
            <a:noFill/>
          </a:ln>
        </p:spPr>
        <p:txBody>
          <a:bodyPr anchor="t">
            <a:normAutofit fontScale="80702"/>
          </a:bodyPr>
          <a:lstStyle/>
          <a:p>
            <a:pPr algn="l">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Estimated missing information</a:t>
            </a:r>
          </a:p>
        </p:txBody>
      </p:sp>
      <p:graphicFrame>
        <p:nvGraphicFramePr>
          <p:cNvPr id="24" name="Chart"/>
          <p:cNvGraphicFramePr/>
          <p:nvPr/>
        </p:nvGraphicFramePr>
        <p:xfrm>
          <a:off x="6048375" y="1943100"/>
          <a:ext cx="5381625"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12" name="Rectángulo: esquinas redondeadas 11">
            <a:extLst>
              <a:ext uri="{FF2B5EF4-FFF2-40B4-BE49-F238E27FC236}">
                <a16:creationId xmlns:a16="http://schemas.microsoft.com/office/drawing/2014/main" id="{FA49A4C3-8098-47DD-8B06-C5D25E01BB1C}"/>
              </a:ext>
            </a:extLst>
          </p:cNvPr>
          <p:cNvSpPr>
            <a:spLocks noGrp="1"/>
          </p:cNvSpPr>
          <p:nvPr/>
        </p:nvSpPr>
        <p:spPr>
          <a:xfrm>
            <a:off x="685800" y="5581650"/>
            <a:ext cx="10744200" cy="552450"/>
          </a:xfrm>
          <a:prstGeom prst="roundRect">
            <a:avLst>
              <a:gd name="adj" fmla="val 20690"/>
            </a:avLst>
          </a:prstGeom>
          <a:solidFill>
            <a:srgbClr val="F1E8D7"/>
          </a:solidFill>
          <a:ln w="0">
            <a:noFill/>
          </a:ln>
        </p:spPr>
      </p:sp>
      <p:sp>
        <p:nvSpPr>
          <p:cNvPr id="13" name="Rectángulo 12">
            <a:extLst>
              <a:ext uri="{FF2B5EF4-FFF2-40B4-BE49-F238E27FC236}">
                <a16:creationId xmlns:a16="http://schemas.microsoft.com/office/drawing/2014/main" id="{03DFCE2C-36A9-4F06-846A-A5F4C04E1294}"/>
              </a:ext>
            </a:extLst>
          </p:cNvPr>
          <p:cNvSpPr>
            <a:spLocks noGrp="1"/>
          </p:cNvSpPr>
          <p:nvPr/>
        </p:nvSpPr>
        <p:spPr>
          <a:xfrm>
            <a:off x="914400" y="5695950"/>
            <a:ext cx="10287000" cy="304800"/>
          </a:xfrm>
          <a:prstGeom prst="rect">
            <a:avLst/>
          </a:prstGeom>
          <a:noFill/>
          <a:ln w="0">
            <a:noFill/>
          </a:ln>
        </p:spPr>
        <p:txBody>
          <a:bodyPr anchor="ctr">
            <a:normAutofit/>
          </a:bodyPr>
          <a:lstStyle/>
          <a:p>
            <a:pPr algn="ctr">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Pilot measurement: real language mix, missing-field rate, review time and match acceptance</a:t>
            </a:r>
          </a:p>
        </p:txBody>
      </p:sp>
    </p:spTree>
    <p:extLst>
      <p:ext uri="{BB962C8B-B14F-4D97-AF65-F5344CB8AC3E}">
        <p14:creationId xmlns:p14="http://schemas.microsoft.com/office/powerpoint/2010/main" val="845367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C1D12536-D84D-4A83-B29C-9526BED98ADD}"/>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BAAAA8FE-2BCC-4CCC-A0BA-0212E94FBDC9}"/>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DATASET SELECTION AND JUSTIFICATION</a:t>
            </a:r>
          </a:p>
        </p:txBody>
      </p:sp>
      <p:sp>
        <p:nvSpPr>
          <p:cNvPr id="3" name="Rectángulo 2">
            <a:extLst>
              <a:ext uri="{FF2B5EF4-FFF2-40B4-BE49-F238E27FC236}">
                <a16:creationId xmlns:a16="http://schemas.microsoft.com/office/drawing/2014/main" id="{82022A0E-5153-4709-A4BE-FC22D1A8A082}"/>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The data foundation separates evidence from hypotheses</a:t>
            </a:r>
          </a:p>
        </p:txBody>
      </p:sp>
      <p:sp>
        <p:nvSpPr>
          <p:cNvPr id="4" name="Rectángulo 3">
            <a:extLst>
              <a:ext uri="{FF2B5EF4-FFF2-40B4-BE49-F238E27FC236}">
                <a16:creationId xmlns:a16="http://schemas.microsoft.com/office/drawing/2014/main" id="{A0F1E10C-2F6F-4C7D-A6FD-6B2396759642}"/>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08</a:t>
            </a:r>
          </a:p>
        </p:txBody>
      </p:sp>
      <p:sp>
        <p:nvSpPr>
          <p:cNvPr id="5" name="Rectángulo 4">
            <a:extLst>
              <a:ext uri="{FF2B5EF4-FFF2-40B4-BE49-F238E27FC236}">
                <a16:creationId xmlns:a16="http://schemas.microsoft.com/office/drawing/2014/main" id="{CFA5B018-99CE-4AE6-AED5-C6829310227C}"/>
              </a:ext>
            </a:extLst>
          </p:cNvPr>
          <p:cNvSpPr>
            <a:spLocks noGrp="1"/>
          </p:cNvSpPr>
          <p:nvPr/>
        </p:nvSpPr>
        <p:spPr>
          <a:xfrm>
            <a:off x="609600" y="1304925"/>
            <a:ext cx="10972800" cy="9525"/>
          </a:xfrm>
          <a:prstGeom prst="rect">
            <a:avLst/>
          </a:prstGeom>
          <a:solidFill>
            <a:srgbClr val="D8D1C4"/>
          </a:solidFill>
          <a:ln w="0">
            <a:noFill/>
          </a:ln>
        </p:spPr>
      </p:sp>
      <p:sp>
        <p:nvSpPr>
          <p:cNvPr id="6" name="Rectángulo: esquinas redondeadas 5">
            <a:extLst>
              <a:ext uri="{FF2B5EF4-FFF2-40B4-BE49-F238E27FC236}">
                <a16:creationId xmlns:a16="http://schemas.microsoft.com/office/drawing/2014/main" id="{ECDDF2FF-82B1-4885-9379-71E84D680445}"/>
              </a:ext>
            </a:extLst>
          </p:cNvPr>
          <p:cNvSpPr>
            <a:spLocks noGrp="1"/>
          </p:cNvSpPr>
          <p:nvPr/>
        </p:nvSpPr>
        <p:spPr>
          <a:xfrm>
            <a:off x="685800" y="1571625"/>
            <a:ext cx="10477500" cy="666750"/>
          </a:xfrm>
          <a:prstGeom prst="roundRect">
            <a:avLst>
              <a:gd name="adj" fmla="val 17143"/>
            </a:avLst>
          </a:prstGeom>
          <a:solidFill>
            <a:srgbClr val="F1E8D7"/>
          </a:solidFill>
          <a:ln w="9525">
            <a:solidFill>
              <a:srgbClr val="D8D1C4"/>
            </a:solidFill>
            <a:prstDash val="solid"/>
          </a:ln>
        </p:spPr>
      </p:sp>
      <p:sp>
        <p:nvSpPr>
          <p:cNvPr id="7" name="Rectángulo: esquinas redondeadas 6">
            <a:extLst>
              <a:ext uri="{FF2B5EF4-FFF2-40B4-BE49-F238E27FC236}">
                <a16:creationId xmlns:a16="http://schemas.microsoft.com/office/drawing/2014/main" id="{0FBA9B77-B02A-41E9-881F-D359DA81223F}"/>
              </a:ext>
            </a:extLst>
          </p:cNvPr>
          <p:cNvSpPr>
            <a:spLocks noGrp="1"/>
          </p:cNvSpPr>
          <p:nvPr/>
        </p:nvSpPr>
        <p:spPr>
          <a:xfrm>
            <a:off x="876300" y="1762125"/>
            <a:ext cx="1047750"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PUBLIC</a:t>
            </a:r>
          </a:p>
        </p:txBody>
      </p:sp>
      <p:sp>
        <p:nvSpPr>
          <p:cNvPr id="8" name="Rectángulo 7">
            <a:extLst>
              <a:ext uri="{FF2B5EF4-FFF2-40B4-BE49-F238E27FC236}">
                <a16:creationId xmlns:a16="http://schemas.microsoft.com/office/drawing/2014/main" id="{B1C9329E-045A-4DCF-979A-72CFC74E4182}"/>
              </a:ext>
            </a:extLst>
          </p:cNvPr>
          <p:cNvSpPr>
            <a:spLocks noGrp="1"/>
          </p:cNvSpPr>
          <p:nvPr/>
        </p:nvSpPr>
        <p:spPr>
          <a:xfrm>
            <a:off x="2171700" y="1704975"/>
            <a:ext cx="2524125" cy="400050"/>
          </a:xfrm>
          <a:prstGeom prst="rect">
            <a:avLst/>
          </a:prstGeom>
          <a:noFill/>
          <a:ln w="0">
            <a:noFill/>
          </a:ln>
        </p:spPr>
        <p:txBody>
          <a:bodyPr anchor="ctr">
            <a:normAutofit/>
          </a:bodyPr>
          <a:lstStyle/>
          <a:p>
            <a:pPr algn="l">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INE House Price Index</a:t>
            </a:r>
          </a:p>
        </p:txBody>
      </p:sp>
      <p:sp>
        <p:nvSpPr>
          <p:cNvPr id="9" name="Rectángulo 8">
            <a:extLst>
              <a:ext uri="{FF2B5EF4-FFF2-40B4-BE49-F238E27FC236}">
                <a16:creationId xmlns:a16="http://schemas.microsoft.com/office/drawing/2014/main" id="{4F4FEE39-06E7-4A96-9F5A-CA123B87C047}"/>
              </a:ext>
            </a:extLst>
          </p:cNvPr>
          <p:cNvSpPr>
            <a:spLocks noGrp="1"/>
          </p:cNvSpPr>
          <p:nvPr/>
        </p:nvSpPr>
        <p:spPr>
          <a:xfrm>
            <a:off x="4762500" y="1685925"/>
            <a:ext cx="3524250" cy="438150"/>
          </a:xfrm>
          <a:prstGeom prst="rect">
            <a:avLst/>
          </a:prstGeom>
          <a:noFill/>
          <a:ln w="0">
            <a:noFill/>
          </a:ln>
        </p:spPr>
        <p:txBody>
          <a:bodyPr anchor="ctr">
            <a:normAutofit/>
          </a:bodyPr>
          <a:lstStyle/>
          <a:p>
            <a:pPr algn="l">
              <a:defRPr sz="1125" b="0" i="0">
                <a:solidFill>
                  <a:srgbClr val="17324D"/>
                </a:solidFill>
                <a:latin typeface="DejaVu Sans"/>
                <a:ea typeface="DejaVu Sans"/>
                <a:cs typeface="DejaVu Sans"/>
              </a:defRPr>
            </a:pPr>
            <a:r>
              <a:rPr sz="1125" b="0" i="0">
                <a:solidFill>
                  <a:srgbClr val="17324D"/>
                </a:solidFill>
                <a:latin typeface="DejaVu Sans"/>
                <a:ea typeface="DejaVu Sans"/>
                <a:cs typeface="DejaVu Sans"/>
              </a:rPr>
              <a:t>Official regional market pressure</a:t>
            </a:r>
          </a:p>
        </p:txBody>
      </p:sp>
      <p:sp>
        <p:nvSpPr>
          <p:cNvPr id="10" name="Rectángulo 9">
            <a:extLst>
              <a:ext uri="{FF2B5EF4-FFF2-40B4-BE49-F238E27FC236}">
                <a16:creationId xmlns:a16="http://schemas.microsoft.com/office/drawing/2014/main" id="{651494FC-AEB3-444A-8205-FD9D1E138A4B}"/>
              </a:ext>
            </a:extLst>
          </p:cNvPr>
          <p:cNvSpPr>
            <a:spLocks noGrp="1"/>
          </p:cNvSpPr>
          <p:nvPr/>
        </p:nvSpPr>
        <p:spPr>
          <a:xfrm>
            <a:off x="8572500" y="1685925"/>
            <a:ext cx="2238375" cy="438150"/>
          </a:xfrm>
          <a:prstGeom prst="rect">
            <a:avLst/>
          </a:prstGeom>
          <a:noFill/>
          <a:ln w="0">
            <a:noFill/>
          </a:ln>
        </p:spPr>
        <p:txBody>
          <a:bodyPr anchor="ctr">
            <a:normAutofit/>
          </a:bodyPr>
          <a:lstStyle/>
          <a:p>
            <a:pPr algn="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Q1 2026 annual change</a:t>
            </a:r>
          </a:p>
        </p:txBody>
      </p:sp>
      <p:sp>
        <p:nvSpPr>
          <p:cNvPr id="11" name="Rectángulo: esquinas redondeadas 10">
            <a:extLst>
              <a:ext uri="{FF2B5EF4-FFF2-40B4-BE49-F238E27FC236}">
                <a16:creationId xmlns:a16="http://schemas.microsoft.com/office/drawing/2014/main" id="{1CA321CC-5E7E-4767-A9B9-F88CE1F4F809}"/>
              </a:ext>
            </a:extLst>
          </p:cNvPr>
          <p:cNvSpPr>
            <a:spLocks noGrp="1"/>
          </p:cNvSpPr>
          <p:nvPr/>
        </p:nvSpPr>
        <p:spPr>
          <a:xfrm>
            <a:off x="685800" y="2409825"/>
            <a:ext cx="10477500" cy="666750"/>
          </a:xfrm>
          <a:prstGeom prst="roundRect">
            <a:avLst>
              <a:gd name="adj" fmla="val 17143"/>
            </a:avLst>
          </a:prstGeom>
          <a:solidFill>
            <a:srgbClr val="FFFFFF"/>
          </a:solidFill>
          <a:ln w="9525">
            <a:solidFill>
              <a:srgbClr val="D8D1C4"/>
            </a:solidFill>
            <a:prstDash val="solid"/>
          </a:ln>
        </p:spPr>
      </p:sp>
      <p:sp>
        <p:nvSpPr>
          <p:cNvPr id="12" name="Rectángulo: esquinas redondeadas 11">
            <a:extLst>
              <a:ext uri="{FF2B5EF4-FFF2-40B4-BE49-F238E27FC236}">
                <a16:creationId xmlns:a16="http://schemas.microsoft.com/office/drawing/2014/main" id="{25D3368E-9C88-4346-84F6-57C4EB7E9D70}"/>
              </a:ext>
            </a:extLst>
          </p:cNvPr>
          <p:cNvSpPr>
            <a:spLocks noGrp="1"/>
          </p:cNvSpPr>
          <p:nvPr/>
        </p:nvSpPr>
        <p:spPr>
          <a:xfrm>
            <a:off x="876300" y="2600325"/>
            <a:ext cx="1047750"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PUBLIC</a:t>
            </a:r>
          </a:p>
        </p:txBody>
      </p:sp>
      <p:sp>
        <p:nvSpPr>
          <p:cNvPr id="13" name="Rectángulo 12">
            <a:extLst>
              <a:ext uri="{FF2B5EF4-FFF2-40B4-BE49-F238E27FC236}">
                <a16:creationId xmlns:a16="http://schemas.microsoft.com/office/drawing/2014/main" id="{FEB29468-0F6E-4A5E-92D5-06EE42846F39}"/>
              </a:ext>
            </a:extLst>
          </p:cNvPr>
          <p:cNvSpPr>
            <a:spLocks noGrp="1"/>
          </p:cNvSpPr>
          <p:nvPr/>
        </p:nvSpPr>
        <p:spPr>
          <a:xfrm>
            <a:off x="2171700" y="2543175"/>
            <a:ext cx="2524125" cy="400050"/>
          </a:xfrm>
          <a:prstGeom prst="rect">
            <a:avLst/>
          </a:prstGeom>
          <a:noFill/>
          <a:ln w="0">
            <a:noFill/>
          </a:ln>
        </p:spPr>
        <p:txBody>
          <a:bodyPr anchor="ctr">
            <a:normAutofit/>
          </a:bodyPr>
          <a:lstStyle/>
          <a:p>
            <a:pPr algn="l">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Spanish Land Registrars</a:t>
            </a:r>
          </a:p>
        </p:txBody>
      </p:sp>
      <p:sp>
        <p:nvSpPr>
          <p:cNvPr id="14" name="Rectángulo 13">
            <a:extLst>
              <a:ext uri="{FF2B5EF4-FFF2-40B4-BE49-F238E27FC236}">
                <a16:creationId xmlns:a16="http://schemas.microsoft.com/office/drawing/2014/main" id="{60E6E4DA-4289-4A9A-BE7B-98EB66E93516}"/>
              </a:ext>
            </a:extLst>
          </p:cNvPr>
          <p:cNvSpPr>
            <a:spLocks noGrp="1"/>
          </p:cNvSpPr>
          <p:nvPr/>
        </p:nvSpPr>
        <p:spPr>
          <a:xfrm>
            <a:off x="4762500" y="2524125"/>
            <a:ext cx="3524250" cy="438150"/>
          </a:xfrm>
          <a:prstGeom prst="rect">
            <a:avLst/>
          </a:prstGeom>
          <a:noFill/>
          <a:ln w="0">
            <a:noFill/>
          </a:ln>
        </p:spPr>
        <p:txBody>
          <a:bodyPr anchor="ctr">
            <a:normAutofit/>
          </a:bodyPr>
          <a:lstStyle/>
          <a:p>
            <a:pPr algn="l">
              <a:defRPr sz="1125" b="0" i="0">
                <a:solidFill>
                  <a:srgbClr val="17324D"/>
                </a:solidFill>
                <a:latin typeface="DejaVu Sans"/>
                <a:ea typeface="DejaVu Sans"/>
                <a:cs typeface="DejaVu Sans"/>
              </a:defRPr>
            </a:pPr>
            <a:r>
              <a:rPr sz="1125" b="0" i="0">
                <a:solidFill>
                  <a:srgbClr val="17324D"/>
                </a:solidFill>
                <a:latin typeface="DejaVu Sans"/>
                <a:ea typeface="DejaVu Sans"/>
                <a:cs typeface="DejaVu Sans"/>
              </a:rPr>
              <a:t>Foreign-buyer share supports language scope</a:t>
            </a:r>
          </a:p>
        </p:txBody>
      </p:sp>
      <p:sp>
        <p:nvSpPr>
          <p:cNvPr id="15" name="Rectángulo 14">
            <a:extLst>
              <a:ext uri="{FF2B5EF4-FFF2-40B4-BE49-F238E27FC236}">
                <a16:creationId xmlns:a16="http://schemas.microsoft.com/office/drawing/2014/main" id="{964C1DD8-942C-4AFF-A689-C322B94719B5}"/>
              </a:ext>
            </a:extLst>
          </p:cNvPr>
          <p:cNvSpPr>
            <a:spLocks noGrp="1"/>
          </p:cNvSpPr>
          <p:nvPr/>
        </p:nvSpPr>
        <p:spPr>
          <a:xfrm>
            <a:off x="8572500" y="2524125"/>
            <a:ext cx="2238375" cy="438150"/>
          </a:xfrm>
          <a:prstGeom prst="rect">
            <a:avLst/>
          </a:prstGeom>
          <a:noFill/>
          <a:ln w="0">
            <a:noFill/>
          </a:ln>
        </p:spPr>
        <p:txBody>
          <a:bodyPr anchor="ctr">
            <a:normAutofit/>
          </a:bodyPr>
          <a:lstStyle/>
          <a:p>
            <a:pPr algn="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Q4 2025 regional purchases</a:t>
            </a:r>
          </a:p>
        </p:txBody>
      </p:sp>
      <p:sp>
        <p:nvSpPr>
          <p:cNvPr id="16" name="Rectángulo: esquinas redondeadas 15">
            <a:extLst>
              <a:ext uri="{FF2B5EF4-FFF2-40B4-BE49-F238E27FC236}">
                <a16:creationId xmlns:a16="http://schemas.microsoft.com/office/drawing/2014/main" id="{88DE9758-9FFA-4EB8-9750-0068611B3567}"/>
              </a:ext>
            </a:extLst>
          </p:cNvPr>
          <p:cNvSpPr>
            <a:spLocks noGrp="1"/>
          </p:cNvSpPr>
          <p:nvPr/>
        </p:nvSpPr>
        <p:spPr>
          <a:xfrm>
            <a:off x="685800" y="3248025"/>
            <a:ext cx="10477500" cy="666750"/>
          </a:xfrm>
          <a:prstGeom prst="roundRect">
            <a:avLst>
              <a:gd name="adj" fmla="val 17143"/>
            </a:avLst>
          </a:prstGeom>
          <a:solidFill>
            <a:srgbClr val="F1E8D7"/>
          </a:solidFill>
          <a:ln w="9525">
            <a:solidFill>
              <a:srgbClr val="D8D1C4"/>
            </a:solidFill>
            <a:prstDash val="solid"/>
          </a:ln>
        </p:spPr>
      </p:sp>
      <p:sp>
        <p:nvSpPr>
          <p:cNvPr id="17" name="Rectángulo: esquinas redondeadas 16">
            <a:extLst>
              <a:ext uri="{FF2B5EF4-FFF2-40B4-BE49-F238E27FC236}">
                <a16:creationId xmlns:a16="http://schemas.microsoft.com/office/drawing/2014/main" id="{7B120695-FDA2-472E-A7DB-14C5C2F1357D}"/>
              </a:ext>
            </a:extLst>
          </p:cNvPr>
          <p:cNvSpPr>
            <a:spLocks noGrp="1"/>
          </p:cNvSpPr>
          <p:nvPr/>
        </p:nvSpPr>
        <p:spPr>
          <a:xfrm>
            <a:off x="876300" y="3438525"/>
            <a:ext cx="1047750"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PUBLIC</a:t>
            </a:r>
          </a:p>
        </p:txBody>
      </p:sp>
      <p:sp>
        <p:nvSpPr>
          <p:cNvPr id="18" name="Rectángulo 17">
            <a:extLst>
              <a:ext uri="{FF2B5EF4-FFF2-40B4-BE49-F238E27FC236}">
                <a16:creationId xmlns:a16="http://schemas.microsoft.com/office/drawing/2014/main" id="{1138AA4F-B09B-419D-8D54-FB5DC3B195F7}"/>
              </a:ext>
            </a:extLst>
          </p:cNvPr>
          <p:cNvSpPr>
            <a:spLocks noGrp="1"/>
          </p:cNvSpPr>
          <p:nvPr/>
        </p:nvSpPr>
        <p:spPr>
          <a:xfrm>
            <a:off x="2171700" y="3381375"/>
            <a:ext cx="2524125" cy="400050"/>
          </a:xfrm>
          <a:prstGeom prst="rect">
            <a:avLst/>
          </a:prstGeom>
          <a:noFill/>
          <a:ln w="0">
            <a:noFill/>
          </a:ln>
        </p:spPr>
        <p:txBody>
          <a:bodyPr anchor="ctr">
            <a:normAutofit/>
          </a:bodyPr>
          <a:lstStyle/>
          <a:p>
            <a:pPr algn="l">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Eurostat AI adoption</a:t>
            </a:r>
          </a:p>
        </p:txBody>
      </p:sp>
      <p:sp>
        <p:nvSpPr>
          <p:cNvPr id="19" name="Rectángulo 18">
            <a:extLst>
              <a:ext uri="{FF2B5EF4-FFF2-40B4-BE49-F238E27FC236}">
                <a16:creationId xmlns:a16="http://schemas.microsoft.com/office/drawing/2014/main" id="{35137708-91C9-4A6F-ACDC-50C80DBEE4EA}"/>
              </a:ext>
            </a:extLst>
          </p:cNvPr>
          <p:cNvSpPr>
            <a:spLocks noGrp="1"/>
          </p:cNvSpPr>
          <p:nvPr/>
        </p:nvSpPr>
        <p:spPr>
          <a:xfrm>
            <a:off x="4762500" y="3362325"/>
            <a:ext cx="3524250" cy="438150"/>
          </a:xfrm>
          <a:prstGeom prst="rect">
            <a:avLst/>
          </a:prstGeom>
          <a:noFill/>
          <a:ln w="0">
            <a:noFill/>
          </a:ln>
        </p:spPr>
        <p:txBody>
          <a:bodyPr anchor="ctr">
            <a:normAutofit/>
          </a:bodyPr>
          <a:lstStyle/>
          <a:p>
            <a:pPr algn="l">
              <a:defRPr sz="1125" b="0" i="0">
                <a:solidFill>
                  <a:srgbClr val="17324D"/>
                </a:solidFill>
                <a:latin typeface="DejaVu Sans"/>
                <a:ea typeface="DejaVu Sans"/>
                <a:cs typeface="DejaVu Sans"/>
              </a:defRPr>
            </a:pPr>
            <a:r>
              <a:rPr sz="1125" b="0" i="0">
                <a:solidFill>
                  <a:srgbClr val="17324D"/>
                </a:solidFill>
                <a:latin typeface="DejaVu Sans"/>
                <a:ea typeface="DejaVu Sans"/>
                <a:cs typeface="DejaVu Sans"/>
              </a:rPr>
              <a:t>Implementation context by company size</a:t>
            </a:r>
          </a:p>
        </p:txBody>
      </p:sp>
      <p:sp>
        <p:nvSpPr>
          <p:cNvPr id="20" name="Rectángulo 19">
            <a:extLst>
              <a:ext uri="{FF2B5EF4-FFF2-40B4-BE49-F238E27FC236}">
                <a16:creationId xmlns:a16="http://schemas.microsoft.com/office/drawing/2014/main" id="{E857CE2C-BB14-4898-BE8D-E2F27C6993A2}"/>
              </a:ext>
            </a:extLst>
          </p:cNvPr>
          <p:cNvSpPr>
            <a:spLocks noGrp="1"/>
          </p:cNvSpPr>
          <p:nvPr/>
        </p:nvSpPr>
        <p:spPr>
          <a:xfrm>
            <a:off x="8572500" y="3362325"/>
            <a:ext cx="2238375" cy="438150"/>
          </a:xfrm>
          <a:prstGeom prst="rect">
            <a:avLst/>
          </a:prstGeom>
          <a:noFill/>
          <a:ln w="0">
            <a:noFill/>
          </a:ln>
        </p:spPr>
        <p:txBody>
          <a:bodyPr anchor="ctr">
            <a:normAutofit/>
          </a:bodyPr>
          <a:lstStyle/>
          <a:p>
            <a:pPr algn="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Microfirms excluded</a:t>
            </a:r>
          </a:p>
        </p:txBody>
      </p:sp>
      <p:sp>
        <p:nvSpPr>
          <p:cNvPr id="21" name="Rectángulo: esquinas redondeadas 20">
            <a:extLst>
              <a:ext uri="{FF2B5EF4-FFF2-40B4-BE49-F238E27FC236}">
                <a16:creationId xmlns:a16="http://schemas.microsoft.com/office/drawing/2014/main" id="{068E651A-E716-41CD-877C-F859B0BC818C}"/>
              </a:ext>
            </a:extLst>
          </p:cNvPr>
          <p:cNvSpPr>
            <a:spLocks noGrp="1"/>
          </p:cNvSpPr>
          <p:nvPr/>
        </p:nvSpPr>
        <p:spPr>
          <a:xfrm>
            <a:off x="685800" y="4086225"/>
            <a:ext cx="10477500" cy="666750"/>
          </a:xfrm>
          <a:prstGeom prst="roundRect">
            <a:avLst>
              <a:gd name="adj" fmla="val 17143"/>
            </a:avLst>
          </a:prstGeom>
          <a:solidFill>
            <a:srgbClr val="FFFFFF"/>
          </a:solidFill>
          <a:ln w="9525">
            <a:solidFill>
              <a:srgbClr val="D8D1C4"/>
            </a:solidFill>
            <a:prstDash val="solid"/>
          </a:ln>
        </p:spPr>
      </p:sp>
      <p:sp>
        <p:nvSpPr>
          <p:cNvPr id="22" name="Rectángulo: esquinas redondeadas 21">
            <a:extLst>
              <a:ext uri="{FF2B5EF4-FFF2-40B4-BE49-F238E27FC236}">
                <a16:creationId xmlns:a16="http://schemas.microsoft.com/office/drawing/2014/main" id="{B49107C0-86EC-4EA5-8606-2B1FF61FC546}"/>
              </a:ext>
            </a:extLst>
          </p:cNvPr>
          <p:cNvSpPr>
            <a:spLocks noGrp="1"/>
          </p:cNvSpPr>
          <p:nvPr/>
        </p:nvSpPr>
        <p:spPr>
          <a:xfrm>
            <a:off x="876300" y="4276725"/>
            <a:ext cx="1047750" cy="266700"/>
          </a:xfrm>
          <a:prstGeom prst="roundRect">
            <a:avLst>
              <a:gd name="adj" fmla="val 42857"/>
            </a:avLst>
          </a:prstGeom>
          <a:solidFill>
            <a:srgbClr val="F5E3DC"/>
          </a:solidFill>
          <a:ln w="0">
            <a:noFill/>
          </a:ln>
        </p:spPr>
        <p:txBody>
          <a:bodyPr anchor="ctr">
            <a:normAutofit fontScale="78963"/>
          </a:bodyPr>
          <a:lstStyle/>
          <a:p>
            <a:pPr algn="ctr">
              <a:defRPr sz="900" b="1" i="0">
                <a:solidFill>
                  <a:srgbClr val="C96A4B"/>
                </a:solidFill>
                <a:latin typeface="DejaVu Sans"/>
                <a:ea typeface="DejaVu Sans"/>
                <a:cs typeface="DejaVu Sans"/>
              </a:defRPr>
            </a:pPr>
            <a:r>
              <a:rPr sz="900" b="1" i="0">
                <a:solidFill>
                  <a:srgbClr val="C96A4B"/>
                </a:solidFill>
                <a:latin typeface="DejaVu Sans"/>
                <a:ea typeface="DejaVu Sans"/>
                <a:cs typeface="DejaVu Sans"/>
              </a:rPr>
              <a:t>SYNTHETIC</a:t>
            </a:r>
          </a:p>
        </p:txBody>
      </p:sp>
      <p:sp>
        <p:nvSpPr>
          <p:cNvPr id="23" name="Rectángulo 22">
            <a:extLst>
              <a:ext uri="{FF2B5EF4-FFF2-40B4-BE49-F238E27FC236}">
                <a16:creationId xmlns:a16="http://schemas.microsoft.com/office/drawing/2014/main" id="{603759CE-2167-44F2-A053-037560255DAE}"/>
              </a:ext>
            </a:extLst>
          </p:cNvPr>
          <p:cNvSpPr>
            <a:spLocks noGrp="1"/>
          </p:cNvSpPr>
          <p:nvPr/>
        </p:nvSpPr>
        <p:spPr>
          <a:xfrm>
            <a:off x="2171700" y="4219575"/>
            <a:ext cx="2524125" cy="400050"/>
          </a:xfrm>
          <a:prstGeom prst="rect">
            <a:avLst/>
          </a:prstGeom>
          <a:noFill/>
          <a:ln w="0">
            <a:noFill/>
          </a:ln>
        </p:spPr>
        <p:txBody>
          <a:bodyPr anchor="ctr">
            <a:normAutofit/>
          </a:bodyPr>
          <a:lstStyle/>
          <a:p>
            <a:pPr algn="l">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Chleo operating baseline</a:t>
            </a:r>
          </a:p>
        </p:txBody>
      </p:sp>
      <p:sp>
        <p:nvSpPr>
          <p:cNvPr id="24" name="Rectángulo 23">
            <a:extLst>
              <a:ext uri="{FF2B5EF4-FFF2-40B4-BE49-F238E27FC236}">
                <a16:creationId xmlns:a16="http://schemas.microsoft.com/office/drawing/2014/main" id="{4665B75D-4DEE-4086-8F7D-B47A31BCC6AF}"/>
              </a:ext>
            </a:extLst>
          </p:cNvPr>
          <p:cNvSpPr>
            <a:spLocks noGrp="1"/>
          </p:cNvSpPr>
          <p:nvPr/>
        </p:nvSpPr>
        <p:spPr>
          <a:xfrm>
            <a:off x="4762500" y="4200525"/>
            <a:ext cx="3524250" cy="438150"/>
          </a:xfrm>
          <a:prstGeom prst="rect">
            <a:avLst/>
          </a:prstGeom>
          <a:noFill/>
          <a:ln w="0">
            <a:noFill/>
          </a:ln>
        </p:spPr>
        <p:txBody>
          <a:bodyPr anchor="ctr">
            <a:normAutofit/>
          </a:bodyPr>
          <a:lstStyle/>
          <a:p>
            <a:pPr algn="l">
              <a:defRPr sz="1125" b="0" i="0">
                <a:solidFill>
                  <a:srgbClr val="17324D"/>
                </a:solidFill>
                <a:latin typeface="DejaVu Sans"/>
                <a:ea typeface="DejaVu Sans"/>
                <a:cs typeface="DejaVu Sans"/>
              </a:defRPr>
            </a:pPr>
            <a:r>
              <a:rPr sz="1125" b="0" i="0">
                <a:solidFill>
                  <a:srgbClr val="17324D"/>
                </a:solidFill>
                <a:latin typeface="DejaVu Sans"/>
                <a:ea typeface="DejaVu Sans"/>
                <a:cs typeface="DejaVu Sans"/>
              </a:rPr>
              <a:t>Enables charts and POC without client data</a:t>
            </a:r>
          </a:p>
        </p:txBody>
      </p:sp>
      <p:sp>
        <p:nvSpPr>
          <p:cNvPr id="25" name="Rectángulo 24">
            <a:extLst>
              <a:ext uri="{FF2B5EF4-FFF2-40B4-BE49-F238E27FC236}">
                <a16:creationId xmlns:a16="http://schemas.microsoft.com/office/drawing/2014/main" id="{0A690D5B-EE28-4E52-AD32-5971EF0DA278}"/>
              </a:ext>
            </a:extLst>
          </p:cNvPr>
          <p:cNvSpPr>
            <a:spLocks noGrp="1"/>
          </p:cNvSpPr>
          <p:nvPr/>
        </p:nvSpPr>
        <p:spPr>
          <a:xfrm>
            <a:off x="8572500" y="4200525"/>
            <a:ext cx="2238375" cy="438150"/>
          </a:xfrm>
          <a:prstGeom prst="rect">
            <a:avLst/>
          </a:prstGeom>
          <a:noFill/>
          <a:ln w="0">
            <a:noFill/>
          </a:ln>
        </p:spPr>
        <p:txBody>
          <a:bodyPr anchor="ctr">
            <a:normAutofit/>
          </a:bodyPr>
          <a:lstStyle/>
          <a:p>
            <a:pPr algn="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Discovery assumptions</a:t>
            </a:r>
          </a:p>
        </p:txBody>
      </p:sp>
      <p:sp>
        <p:nvSpPr>
          <p:cNvPr id="26" name="Rectángulo: esquinas redondeadas 25">
            <a:extLst>
              <a:ext uri="{FF2B5EF4-FFF2-40B4-BE49-F238E27FC236}">
                <a16:creationId xmlns:a16="http://schemas.microsoft.com/office/drawing/2014/main" id="{50390F0A-C262-4152-BBA7-7AE7AA4A6357}"/>
              </a:ext>
            </a:extLst>
          </p:cNvPr>
          <p:cNvSpPr>
            <a:spLocks noGrp="1"/>
          </p:cNvSpPr>
          <p:nvPr/>
        </p:nvSpPr>
        <p:spPr>
          <a:xfrm>
            <a:off x="685800" y="4924425"/>
            <a:ext cx="10477500" cy="666750"/>
          </a:xfrm>
          <a:prstGeom prst="roundRect">
            <a:avLst>
              <a:gd name="adj" fmla="val 17143"/>
            </a:avLst>
          </a:prstGeom>
          <a:solidFill>
            <a:srgbClr val="F1E8D7"/>
          </a:solidFill>
          <a:ln w="9525">
            <a:solidFill>
              <a:srgbClr val="D8D1C4"/>
            </a:solidFill>
            <a:prstDash val="solid"/>
          </a:ln>
        </p:spPr>
      </p:sp>
      <p:sp>
        <p:nvSpPr>
          <p:cNvPr id="27" name="Rectángulo: esquinas redondeadas 26">
            <a:extLst>
              <a:ext uri="{FF2B5EF4-FFF2-40B4-BE49-F238E27FC236}">
                <a16:creationId xmlns:a16="http://schemas.microsoft.com/office/drawing/2014/main" id="{820075A3-F4C4-4EDA-ACC3-498F01F99A33}"/>
              </a:ext>
            </a:extLst>
          </p:cNvPr>
          <p:cNvSpPr>
            <a:spLocks noGrp="1"/>
          </p:cNvSpPr>
          <p:nvPr/>
        </p:nvSpPr>
        <p:spPr>
          <a:xfrm>
            <a:off x="876300" y="5114925"/>
            <a:ext cx="1047750" cy="266700"/>
          </a:xfrm>
          <a:prstGeom prst="roundRect">
            <a:avLst>
              <a:gd name="adj" fmla="val 42857"/>
            </a:avLst>
          </a:prstGeom>
          <a:solidFill>
            <a:srgbClr val="F5E3DC"/>
          </a:solidFill>
          <a:ln w="0">
            <a:noFill/>
          </a:ln>
        </p:spPr>
        <p:txBody>
          <a:bodyPr anchor="ctr">
            <a:normAutofit fontScale="78963"/>
          </a:bodyPr>
          <a:lstStyle/>
          <a:p>
            <a:pPr algn="ctr">
              <a:defRPr sz="900" b="1" i="0">
                <a:solidFill>
                  <a:srgbClr val="C96A4B"/>
                </a:solidFill>
                <a:latin typeface="DejaVu Sans"/>
                <a:ea typeface="DejaVu Sans"/>
                <a:cs typeface="DejaVu Sans"/>
              </a:defRPr>
            </a:pPr>
            <a:r>
              <a:rPr sz="900" b="1" i="0">
                <a:solidFill>
                  <a:srgbClr val="C96A4B"/>
                </a:solidFill>
                <a:latin typeface="DejaVu Sans"/>
                <a:ea typeface="DejaVu Sans"/>
                <a:cs typeface="DejaVu Sans"/>
              </a:rPr>
              <a:t>SYNTHETIC</a:t>
            </a:r>
          </a:p>
        </p:txBody>
      </p:sp>
      <p:sp>
        <p:nvSpPr>
          <p:cNvPr id="28" name="Rectángulo 27">
            <a:extLst>
              <a:ext uri="{FF2B5EF4-FFF2-40B4-BE49-F238E27FC236}">
                <a16:creationId xmlns:a16="http://schemas.microsoft.com/office/drawing/2014/main" id="{BD84B883-E184-4591-B7FE-266EBA608EA3}"/>
              </a:ext>
            </a:extLst>
          </p:cNvPr>
          <p:cNvSpPr>
            <a:spLocks noGrp="1"/>
          </p:cNvSpPr>
          <p:nvPr/>
        </p:nvSpPr>
        <p:spPr>
          <a:xfrm>
            <a:off x="2171700" y="5057775"/>
            <a:ext cx="2524125" cy="400050"/>
          </a:xfrm>
          <a:prstGeom prst="rect">
            <a:avLst/>
          </a:prstGeom>
          <a:noFill/>
          <a:ln w="0">
            <a:noFill/>
          </a:ln>
        </p:spPr>
        <p:txBody>
          <a:bodyPr anchor="ctr">
            <a:normAutofit/>
          </a:bodyPr>
          <a:lstStyle/>
          <a:p>
            <a:pPr algn="l">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Property catalogue</a:t>
            </a:r>
          </a:p>
        </p:txBody>
      </p:sp>
      <p:sp>
        <p:nvSpPr>
          <p:cNvPr id="29" name="Rectángulo 28">
            <a:extLst>
              <a:ext uri="{FF2B5EF4-FFF2-40B4-BE49-F238E27FC236}">
                <a16:creationId xmlns:a16="http://schemas.microsoft.com/office/drawing/2014/main" id="{FF04E06E-CFF1-4BB9-A449-702AF136D3D4}"/>
              </a:ext>
            </a:extLst>
          </p:cNvPr>
          <p:cNvSpPr>
            <a:spLocks noGrp="1"/>
          </p:cNvSpPr>
          <p:nvPr/>
        </p:nvSpPr>
        <p:spPr>
          <a:xfrm>
            <a:off x="4762500" y="5038725"/>
            <a:ext cx="3524250" cy="438150"/>
          </a:xfrm>
          <a:prstGeom prst="rect">
            <a:avLst/>
          </a:prstGeom>
          <a:noFill/>
          <a:ln w="0">
            <a:noFill/>
          </a:ln>
        </p:spPr>
        <p:txBody>
          <a:bodyPr anchor="ctr">
            <a:normAutofit/>
          </a:bodyPr>
          <a:lstStyle/>
          <a:p>
            <a:pPr algn="l">
              <a:defRPr sz="1125" b="0" i="0">
                <a:solidFill>
                  <a:srgbClr val="17324D"/>
                </a:solidFill>
                <a:latin typeface="DejaVu Sans"/>
                <a:ea typeface="DejaVu Sans"/>
                <a:cs typeface="DejaVu Sans"/>
              </a:defRPr>
            </a:pPr>
            <a:r>
              <a:rPr sz="1125" b="0" i="0">
                <a:solidFill>
                  <a:srgbClr val="17324D"/>
                </a:solidFill>
                <a:latin typeface="DejaVu Sans"/>
                <a:ea typeface="DejaVu Sans"/>
                <a:cs typeface="DejaVu Sans"/>
              </a:rPr>
              <a:t>Tests matching against controlled records</a:t>
            </a:r>
          </a:p>
        </p:txBody>
      </p:sp>
      <p:sp>
        <p:nvSpPr>
          <p:cNvPr id="30" name="Rectángulo 29">
            <a:extLst>
              <a:ext uri="{FF2B5EF4-FFF2-40B4-BE49-F238E27FC236}">
                <a16:creationId xmlns:a16="http://schemas.microsoft.com/office/drawing/2014/main" id="{9194BB54-2B55-4C0C-AEA0-A9DC5126AF78}"/>
              </a:ext>
            </a:extLst>
          </p:cNvPr>
          <p:cNvSpPr>
            <a:spLocks noGrp="1"/>
          </p:cNvSpPr>
          <p:nvPr/>
        </p:nvSpPr>
        <p:spPr>
          <a:xfrm>
            <a:off x="8572500" y="5038725"/>
            <a:ext cx="2238375" cy="438150"/>
          </a:xfrm>
          <a:prstGeom prst="rect">
            <a:avLst/>
          </a:prstGeom>
          <a:noFill/>
          <a:ln w="0">
            <a:noFill/>
          </a:ln>
        </p:spPr>
        <p:txBody>
          <a:bodyPr anchor="ctr">
            <a:normAutofit/>
          </a:bodyPr>
          <a:lstStyle/>
          <a:p>
            <a:pPr algn="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Eight fictional listings</a:t>
            </a:r>
          </a:p>
        </p:txBody>
      </p:sp>
      <p:sp>
        <p:nvSpPr>
          <p:cNvPr id="31" name="Rectángulo 30">
            <a:extLst>
              <a:ext uri="{FF2B5EF4-FFF2-40B4-BE49-F238E27FC236}">
                <a16:creationId xmlns:a16="http://schemas.microsoft.com/office/drawing/2014/main" id="{005CF7F3-9BA5-403B-A6E9-E6F760AA1056}"/>
              </a:ext>
            </a:extLst>
          </p:cNvPr>
          <p:cNvSpPr>
            <a:spLocks noGrp="1"/>
          </p:cNvSpPr>
          <p:nvPr/>
        </p:nvSpPr>
        <p:spPr>
          <a:xfrm>
            <a:off x="685800" y="5772150"/>
            <a:ext cx="1238250" cy="228600"/>
          </a:xfrm>
          <a:prstGeom prst="rect">
            <a:avLst/>
          </a:prstGeom>
          <a:noFill/>
          <a:ln w="0">
            <a:noFill/>
          </a:ln>
        </p:spPr>
        <p:txBody>
          <a:bodyPr anchor="t">
            <a:normAutofit fontScale="92308"/>
          </a:bodyPr>
          <a:lstStyle/>
          <a:p>
            <a:pPr algn="l">
              <a:defRPr sz="975" b="1" i="0">
                <a:solidFill>
                  <a:srgbClr val="C96A4B"/>
                </a:solidFill>
                <a:latin typeface="DejaVu Sans"/>
                <a:ea typeface="DejaVu Sans"/>
                <a:cs typeface="DejaVu Sans"/>
              </a:defRPr>
            </a:pPr>
            <a:r>
              <a:rPr sz="975" b="1" i="0">
                <a:solidFill>
                  <a:srgbClr val="C96A4B"/>
                </a:solidFill>
                <a:latin typeface="DejaVu Sans"/>
                <a:ea typeface="DejaVu Sans"/>
                <a:cs typeface="DejaVu Sans"/>
              </a:rPr>
              <a:t>Selection rule</a:t>
            </a:r>
          </a:p>
        </p:txBody>
      </p:sp>
      <p:sp>
        <p:nvSpPr>
          <p:cNvPr id="32" name="Rectángulo 31">
            <a:extLst>
              <a:ext uri="{FF2B5EF4-FFF2-40B4-BE49-F238E27FC236}">
                <a16:creationId xmlns:a16="http://schemas.microsoft.com/office/drawing/2014/main" id="{83C65940-C2E1-4C57-9058-DC4DAAA69849}"/>
              </a:ext>
            </a:extLst>
          </p:cNvPr>
          <p:cNvSpPr>
            <a:spLocks noGrp="1"/>
          </p:cNvSpPr>
          <p:nvPr/>
        </p:nvSpPr>
        <p:spPr>
          <a:xfrm>
            <a:off x="1981200" y="5734050"/>
            <a:ext cx="9144000" cy="323850"/>
          </a:xfrm>
          <a:prstGeom prst="rect">
            <a:avLst/>
          </a:prstGeom>
          <a:noFill/>
          <a:ln w="0">
            <a:noFill/>
          </a:ln>
        </p:spPr>
        <p:txBody>
          <a:bodyPr anchor="t">
            <a:normAutofit fontScale="72891"/>
          </a:bodyPr>
          <a:lstStyle/>
          <a:p>
            <a:pPr algn="l">
              <a:defRPr sz="1275" b="1" i="0">
                <a:solidFill>
                  <a:srgbClr val="17324D"/>
                </a:solidFill>
                <a:latin typeface="DejaVu Sans"/>
                <a:ea typeface="DejaVu Sans"/>
                <a:cs typeface="DejaVu Sans"/>
              </a:defRPr>
            </a:pPr>
            <a:r>
              <a:rPr sz="1275" b="1" i="0">
                <a:solidFill>
                  <a:srgbClr val="17324D"/>
                </a:solidFill>
                <a:latin typeface="DejaVu Sans"/>
                <a:ea typeface="DejaVu Sans"/>
                <a:cs typeface="DejaVu Sans"/>
              </a:rPr>
              <a:t>Use public data for market context and synthetic data for internal operations until discovery provides permissioned company records.</a:t>
            </a:r>
          </a:p>
        </p:txBody>
      </p:sp>
    </p:spTree>
    <p:extLst>
      <p:ext uri="{BB962C8B-B14F-4D97-AF65-F5344CB8AC3E}">
        <p14:creationId xmlns:p14="http://schemas.microsoft.com/office/powerpoint/2010/main" val="1538704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5A91D758-932C-42C2-9ADB-05678AC73A18}"/>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F3DDD3EB-E3F4-4FCC-AB21-BD756C183C4D}"/>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THREE USE CASES · ONE ROUND 1 PRIORITY</a:t>
            </a:r>
          </a:p>
        </p:txBody>
      </p:sp>
      <p:sp>
        <p:nvSpPr>
          <p:cNvPr id="3" name="Rectángulo 2">
            <a:extLst>
              <a:ext uri="{FF2B5EF4-FFF2-40B4-BE49-F238E27FC236}">
                <a16:creationId xmlns:a16="http://schemas.microsoft.com/office/drawing/2014/main" id="{6AC0F010-D65B-4C52-B823-05CEC9EF4E64}"/>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The selected case proves the full first-response journey</a:t>
            </a:r>
          </a:p>
        </p:txBody>
      </p:sp>
      <p:sp>
        <p:nvSpPr>
          <p:cNvPr id="4" name="Rectángulo 3">
            <a:extLst>
              <a:ext uri="{FF2B5EF4-FFF2-40B4-BE49-F238E27FC236}">
                <a16:creationId xmlns:a16="http://schemas.microsoft.com/office/drawing/2014/main" id="{11A6EA84-0EC6-4831-BCAF-F3EEDE8E211E}"/>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09</a:t>
            </a:r>
          </a:p>
        </p:txBody>
      </p:sp>
      <p:sp>
        <p:nvSpPr>
          <p:cNvPr id="5" name="Rectángulo 4">
            <a:extLst>
              <a:ext uri="{FF2B5EF4-FFF2-40B4-BE49-F238E27FC236}">
                <a16:creationId xmlns:a16="http://schemas.microsoft.com/office/drawing/2014/main" id="{CC235BDF-C81A-462F-AD05-FA78B12A8B95}"/>
              </a:ext>
            </a:extLst>
          </p:cNvPr>
          <p:cNvSpPr>
            <a:spLocks noGrp="1"/>
          </p:cNvSpPr>
          <p:nvPr/>
        </p:nvSpPr>
        <p:spPr>
          <a:xfrm>
            <a:off x="609600" y="1304925"/>
            <a:ext cx="10972800" cy="9525"/>
          </a:xfrm>
          <a:prstGeom prst="rect">
            <a:avLst/>
          </a:prstGeom>
          <a:solidFill>
            <a:srgbClr val="D8D1C4"/>
          </a:solidFill>
          <a:ln w="0">
            <a:noFill/>
          </a:ln>
        </p:spPr>
      </p:sp>
      <p:graphicFrame>
        <p:nvGraphicFramePr>
          <p:cNvPr id="17" name="Tabla 16"/>
          <p:cNvGraphicFramePr/>
          <p:nvPr/>
        </p:nvGraphicFramePr>
        <p:xfrm>
          <a:off x="619125" y="1619250"/>
          <a:ext cx="10953750" cy="2497455"/>
        </p:xfrm>
        <a:graphic>
          <a:graphicData uri="http://schemas.openxmlformats.org/drawingml/2006/table">
            <a:tbl>
              <a:tblPr/>
              <a:tblGrid>
                <a:gridCol w="3714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381125">
                  <a:extLst>
                    <a:ext uri="{9D8B030D-6E8A-4147-A177-3AD203B41FA5}">
                      <a16:colId xmlns:a16="http://schemas.microsoft.com/office/drawing/2014/main" val="20003"/>
                    </a:ext>
                  </a:extLst>
                </a:gridCol>
                <a:gridCol w="1381125">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619125">
                <a:tc>
                  <a:txBody>
                    <a:bodyPr/>
                    <a:lstStyle/>
                    <a:p>
                      <a:r>
                        <a:t>Use case</a:t>
                      </a:r>
                    </a:p>
                  </a:txBody>
                  <a:tcPr/>
                </a:tc>
                <a:tc>
                  <a:txBody>
                    <a:bodyPr/>
                    <a:lstStyle/>
                    <a:p>
                      <a:r>
                        <a:t>Value</a:t>
                      </a:r>
                    </a:p>
                  </a:txBody>
                  <a:tcPr/>
                </a:tc>
                <a:tc>
                  <a:txBody>
                    <a:bodyPr/>
                    <a:lstStyle/>
                    <a:p>
                      <a:r>
                        <a:t>Feasibility</a:t>
                      </a:r>
                    </a:p>
                  </a:txBody>
                  <a:tcPr/>
                </a:tc>
                <a:tc>
                  <a:txBody>
                    <a:bodyPr/>
                    <a:lstStyle/>
                    <a:p>
                      <a:r>
                        <a:t>Data readiness</a:t>
                      </a:r>
                    </a:p>
                  </a:txBody>
                  <a:tcPr/>
                </a:tc>
                <a:tc>
                  <a:txBody>
                    <a:bodyPr/>
                    <a:lstStyle/>
                    <a:p>
                      <a:r>
                        <a:t>Lower risk</a:t>
                      </a:r>
                    </a:p>
                  </a:txBody>
                  <a:tcPr/>
                </a:tc>
                <a:tc>
                  <a:txBody>
                    <a:bodyPr/>
                    <a:lstStyle/>
                    <a:p>
                      <a:r>
                        <a:t>Total</a:t>
                      </a:r>
                    </a:p>
                  </a:txBody>
                  <a:tcPr/>
                </a:tc>
                <a:extLst>
                  <a:ext uri="{0D108BD9-81ED-4DB2-BD59-A6C34878D82A}">
                    <a16:rowId xmlns:a16="http://schemas.microsoft.com/office/drawing/2014/main" val="10000"/>
                  </a:ext>
                </a:extLst>
              </a:tr>
              <a:tr h="619125">
                <a:tc>
                  <a:txBody>
                    <a:bodyPr/>
                    <a:lstStyle/>
                    <a:p>
                      <a:r>
                        <a:rPr sz="1125" b="1">
                          <a:solidFill>
                            <a:srgbClr val="145463"/>
                          </a:solidFill>
                          <a:latin typeface="DejaVu Sans"/>
                          <a:ea typeface="DejaVu Sans"/>
                          <a:cs typeface="DejaVu Sans"/>
                        </a:rPr>
                        <a:t>Lead qualification + property matching</a:t>
                      </a:r>
                    </a:p>
                  </a:txBody>
                  <a:tcPr>
                    <a:solidFill>
                      <a:srgbClr val="DCEAE7"/>
                    </a:solidFill>
                  </a:tcPr>
                </a:tc>
                <a:tc>
                  <a:txBody>
                    <a:bodyPr/>
                    <a:lstStyle/>
                    <a:p>
                      <a:r>
                        <a:t>5</a:t>
                      </a:r>
                    </a:p>
                  </a:txBody>
                  <a:tcPr>
                    <a:solidFill>
                      <a:srgbClr val="DCEAE7"/>
                    </a:solidFill>
                  </a:tcPr>
                </a:tc>
                <a:tc>
                  <a:txBody>
                    <a:bodyPr/>
                    <a:lstStyle/>
                    <a:p>
                      <a:r>
                        <a:t>4</a:t>
                      </a:r>
                    </a:p>
                  </a:txBody>
                  <a:tcPr>
                    <a:solidFill>
                      <a:srgbClr val="DCEAE7"/>
                    </a:solidFill>
                  </a:tcPr>
                </a:tc>
                <a:tc>
                  <a:txBody>
                    <a:bodyPr/>
                    <a:lstStyle/>
                    <a:p>
                      <a:r>
                        <a:t>4</a:t>
                      </a:r>
                    </a:p>
                  </a:txBody>
                  <a:tcPr>
                    <a:solidFill>
                      <a:srgbClr val="DCEAE7"/>
                    </a:solidFill>
                  </a:tcPr>
                </a:tc>
                <a:tc>
                  <a:txBody>
                    <a:bodyPr/>
                    <a:lstStyle/>
                    <a:p>
                      <a:r>
                        <a:t>4</a:t>
                      </a:r>
                    </a:p>
                  </a:txBody>
                  <a:tcPr>
                    <a:solidFill>
                      <a:srgbClr val="DCEAE7"/>
                    </a:solidFill>
                  </a:tcPr>
                </a:tc>
                <a:tc>
                  <a:txBody>
                    <a:bodyPr/>
                    <a:lstStyle/>
                    <a:p>
                      <a:r>
                        <a:t>17</a:t>
                      </a:r>
                    </a:p>
                  </a:txBody>
                  <a:tcPr>
                    <a:solidFill>
                      <a:srgbClr val="DCEAE7"/>
                    </a:solidFill>
                  </a:tcPr>
                </a:tc>
                <a:extLst>
                  <a:ext uri="{0D108BD9-81ED-4DB2-BD59-A6C34878D82A}">
                    <a16:rowId xmlns:a16="http://schemas.microsoft.com/office/drawing/2014/main" val="10001"/>
                  </a:ext>
                </a:extLst>
              </a:tr>
              <a:tr h="619125">
                <a:tc>
                  <a:txBody>
                    <a:bodyPr/>
                    <a:lstStyle/>
                    <a:p>
                      <a:r>
                        <a:t>Automated follow-up reminders</a:t>
                      </a:r>
                    </a:p>
                  </a:txBody>
                  <a:tcPr/>
                </a:tc>
                <a:tc>
                  <a:txBody>
                    <a:bodyPr/>
                    <a:lstStyle/>
                    <a:p>
                      <a:r>
                        <a:t>4</a:t>
                      </a:r>
                    </a:p>
                  </a:txBody>
                  <a:tcPr/>
                </a:tc>
                <a:tc>
                  <a:txBody>
                    <a:bodyPr/>
                    <a:lstStyle/>
                    <a:p>
                      <a:r>
                        <a:t>5</a:t>
                      </a:r>
                    </a:p>
                  </a:txBody>
                  <a:tcPr/>
                </a:tc>
                <a:tc>
                  <a:txBody>
                    <a:bodyPr/>
                    <a:lstStyle/>
                    <a:p>
                      <a:r>
                        <a:t>5</a:t>
                      </a:r>
                    </a:p>
                  </a:txBody>
                  <a:tcPr/>
                </a:tc>
                <a:tc>
                  <a:txBody>
                    <a:bodyPr/>
                    <a:lstStyle/>
                    <a:p>
                      <a:r>
                        <a:t>4</a:t>
                      </a:r>
                    </a:p>
                  </a:txBody>
                  <a:tcPr/>
                </a:tc>
                <a:tc>
                  <a:txBody>
                    <a:bodyPr/>
                    <a:lstStyle/>
                    <a:p>
                      <a:r>
                        <a:t>18</a:t>
                      </a:r>
                    </a:p>
                  </a:txBody>
                  <a:tcPr/>
                </a:tc>
                <a:extLst>
                  <a:ext uri="{0D108BD9-81ED-4DB2-BD59-A6C34878D82A}">
                    <a16:rowId xmlns:a16="http://schemas.microsoft.com/office/drawing/2014/main" val="10002"/>
                  </a:ext>
                </a:extLst>
              </a:tr>
              <a:tr h="619125">
                <a:tc>
                  <a:txBody>
                    <a:bodyPr/>
                    <a:lstStyle/>
                    <a:p>
                      <a:r>
                        <a:t>Listing description generation</a:t>
                      </a:r>
                    </a:p>
                  </a:txBody>
                  <a:tcPr/>
                </a:tc>
                <a:tc>
                  <a:txBody>
                    <a:bodyPr/>
                    <a:lstStyle/>
                    <a:p>
                      <a:r>
                        <a:t>3</a:t>
                      </a:r>
                    </a:p>
                  </a:txBody>
                  <a:tcPr/>
                </a:tc>
                <a:tc>
                  <a:txBody>
                    <a:bodyPr/>
                    <a:lstStyle/>
                    <a:p>
                      <a:r>
                        <a:t>5</a:t>
                      </a:r>
                    </a:p>
                  </a:txBody>
                  <a:tcPr/>
                </a:tc>
                <a:tc>
                  <a:txBody>
                    <a:bodyPr/>
                    <a:lstStyle/>
                    <a:p>
                      <a:r>
                        <a:t>5</a:t>
                      </a:r>
                    </a:p>
                  </a:txBody>
                  <a:tcPr/>
                </a:tc>
                <a:tc>
                  <a:txBody>
                    <a:bodyPr/>
                    <a:lstStyle/>
                    <a:p>
                      <a:r>
                        <a:t>4</a:t>
                      </a:r>
                    </a:p>
                  </a:txBody>
                  <a:tcPr/>
                </a:tc>
                <a:tc>
                  <a:txBody>
                    <a:bodyPr/>
                    <a:lstStyle/>
                    <a:p>
                      <a:r>
                        <a:t>17</a:t>
                      </a:r>
                    </a:p>
                  </a:txBody>
                  <a:tcPr/>
                </a:tc>
                <a:extLst>
                  <a:ext uri="{0D108BD9-81ED-4DB2-BD59-A6C34878D82A}">
                    <a16:rowId xmlns:a16="http://schemas.microsoft.com/office/drawing/2014/main" val="10003"/>
                  </a:ext>
                </a:extLst>
              </a:tr>
            </a:tbl>
          </a:graphicData>
        </a:graphic>
      </p:graphicFrame>
      <p:sp>
        <p:nvSpPr>
          <p:cNvPr id="7" name="Rectángulo: esquinas redondeadas 6">
            <a:extLst>
              <a:ext uri="{FF2B5EF4-FFF2-40B4-BE49-F238E27FC236}">
                <a16:creationId xmlns:a16="http://schemas.microsoft.com/office/drawing/2014/main" id="{C066AD98-2B4C-4438-A52A-B1888AC06CC9}"/>
              </a:ext>
            </a:extLst>
          </p:cNvPr>
          <p:cNvSpPr>
            <a:spLocks noGrp="1"/>
          </p:cNvSpPr>
          <p:nvPr/>
        </p:nvSpPr>
        <p:spPr>
          <a:xfrm>
            <a:off x="685800" y="4552950"/>
            <a:ext cx="10477500" cy="1238250"/>
          </a:xfrm>
          <a:prstGeom prst="roundRect">
            <a:avLst>
              <a:gd name="adj" fmla="val 13846"/>
            </a:avLst>
          </a:prstGeom>
          <a:solidFill>
            <a:srgbClr val="17324D"/>
          </a:solidFill>
          <a:ln w="0">
            <a:noFill/>
          </a:ln>
        </p:spPr>
      </p:sp>
      <p:sp>
        <p:nvSpPr>
          <p:cNvPr id="8" name="Rectángulo 7">
            <a:extLst>
              <a:ext uri="{FF2B5EF4-FFF2-40B4-BE49-F238E27FC236}">
                <a16:creationId xmlns:a16="http://schemas.microsoft.com/office/drawing/2014/main" id="{9E757C6C-9598-4E1E-A7FF-71F71860DC57}"/>
              </a:ext>
            </a:extLst>
          </p:cNvPr>
          <p:cNvSpPr>
            <a:spLocks noGrp="1"/>
          </p:cNvSpPr>
          <p:nvPr/>
        </p:nvSpPr>
        <p:spPr>
          <a:xfrm>
            <a:off x="971550" y="4772025"/>
            <a:ext cx="3238500" cy="285750"/>
          </a:xfrm>
          <a:prstGeom prst="rect">
            <a:avLst/>
          </a:prstGeom>
          <a:noFill/>
          <a:ln w="0">
            <a:noFill/>
          </a:ln>
        </p:spPr>
        <p:txBody>
          <a:bodyPr anchor="t">
            <a:normAutofit fontScale="94041"/>
          </a:bodyPr>
          <a:lstStyle/>
          <a:p>
            <a:pPr algn="l">
              <a:defRPr sz="1200" b="1" i="0">
                <a:solidFill>
                  <a:srgbClr val="C96A4B"/>
                </a:solidFill>
                <a:latin typeface="DejaVu Sans"/>
                <a:ea typeface="DejaVu Sans"/>
                <a:cs typeface="DejaVu Sans"/>
              </a:defRPr>
            </a:pPr>
            <a:r>
              <a:rPr sz="1200" b="1" i="0">
                <a:solidFill>
                  <a:srgbClr val="C96A4B"/>
                </a:solidFill>
                <a:latin typeface="DejaVu Sans"/>
                <a:ea typeface="DejaVu Sans"/>
                <a:cs typeface="DejaVu Sans"/>
              </a:rPr>
              <a:t>Why select the second-highest score?</a:t>
            </a:r>
          </a:p>
        </p:txBody>
      </p:sp>
      <p:sp>
        <p:nvSpPr>
          <p:cNvPr id="9" name="Rectángulo 8">
            <a:extLst>
              <a:ext uri="{FF2B5EF4-FFF2-40B4-BE49-F238E27FC236}">
                <a16:creationId xmlns:a16="http://schemas.microsoft.com/office/drawing/2014/main" id="{0B8BFF16-F073-494E-AE0B-711F143E15D4}"/>
              </a:ext>
            </a:extLst>
          </p:cNvPr>
          <p:cNvSpPr>
            <a:spLocks noGrp="1"/>
          </p:cNvSpPr>
          <p:nvPr/>
        </p:nvSpPr>
        <p:spPr>
          <a:xfrm>
            <a:off x="971550" y="5133975"/>
            <a:ext cx="6191250" cy="476250"/>
          </a:xfrm>
          <a:prstGeom prst="rect">
            <a:avLst/>
          </a:prstGeom>
          <a:noFill/>
          <a:ln w="0">
            <a:noFill/>
          </a:ln>
        </p:spPr>
        <p:txBody>
          <a:bodyPr anchor="t">
            <a:normAutofit fontScale="76515"/>
          </a:bodyPr>
          <a:lstStyle/>
          <a:p>
            <a:pPr algn="l">
              <a:defRPr sz="1650" b="1" i="0">
                <a:solidFill>
                  <a:srgbClr val="FFFFFF"/>
                </a:solidFill>
                <a:latin typeface="DejaVu Serif"/>
                <a:ea typeface="DejaVu Serif"/>
                <a:cs typeface="DejaVu Serif"/>
              </a:defRPr>
            </a:pPr>
            <a:r>
              <a:rPr sz="1650" b="1" i="0">
                <a:solidFill>
                  <a:srgbClr val="FFFFFF"/>
                </a:solidFill>
                <a:latin typeface="DejaVu Serif"/>
                <a:ea typeface="DejaVu Serif"/>
                <a:cs typeface="DejaVu Serif"/>
              </a:rPr>
              <a:t>Qualification + matching addresses the first bottleneck and tests one complete path from message to agent decision.</a:t>
            </a:r>
          </a:p>
        </p:txBody>
      </p:sp>
      <p:sp>
        <p:nvSpPr>
          <p:cNvPr id="10" name="Rectángulo: esquinas redondeadas 9">
            <a:extLst>
              <a:ext uri="{FF2B5EF4-FFF2-40B4-BE49-F238E27FC236}">
                <a16:creationId xmlns:a16="http://schemas.microsoft.com/office/drawing/2014/main" id="{C363922D-48F1-4E97-A43F-EC3131FC2CF6}"/>
              </a:ext>
            </a:extLst>
          </p:cNvPr>
          <p:cNvSpPr>
            <a:spLocks noGrp="1"/>
          </p:cNvSpPr>
          <p:nvPr/>
        </p:nvSpPr>
        <p:spPr>
          <a:xfrm>
            <a:off x="8039100" y="4772025"/>
            <a:ext cx="1428750" cy="266700"/>
          </a:xfrm>
          <a:prstGeom prst="roundRect">
            <a:avLst>
              <a:gd name="adj" fmla="val 42857"/>
            </a:avLst>
          </a:prstGeom>
          <a:solidFill>
            <a:srgbClr val="F5E3DC"/>
          </a:solidFill>
          <a:ln w="0">
            <a:noFill/>
          </a:ln>
        </p:spPr>
        <p:txBody>
          <a:bodyPr anchor="ctr">
            <a:normAutofit fontScale="78963"/>
          </a:bodyPr>
          <a:lstStyle/>
          <a:p>
            <a:pPr algn="ctr">
              <a:defRPr sz="900" b="1" i="0">
                <a:solidFill>
                  <a:srgbClr val="C96A4B"/>
                </a:solidFill>
                <a:latin typeface="DejaVu Sans"/>
                <a:ea typeface="DejaVu Sans"/>
                <a:cs typeface="DejaVu Sans"/>
              </a:defRPr>
            </a:pPr>
            <a:r>
              <a:rPr sz="900" b="1" i="0">
                <a:solidFill>
                  <a:srgbClr val="C96A4B"/>
                </a:solidFill>
                <a:latin typeface="DejaVu Sans"/>
                <a:ea typeface="DejaVu Sans"/>
                <a:cs typeface="DejaVu Sans"/>
              </a:rPr>
              <a:t>OUT OF SCOPE</a:t>
            </a:r>
          </a:p>
        </p:txBody>
      </p:sp>
      <p:sp>
        <p:nvSpPr>
          <p:cNvPr id="11" name="Rectángulo 10">
            <a:extLst>
              <a:ext uri="{FF2B5EF4-FFF2-40B4-BE49-F238E27FC236}">
                <a16:creationId xmlns:a16="http://schemas.microsoft.com/office/drawing/2014/main" id="{F463B44C-A8D4-41AB-8118-51B4252A128E}"/>
              </a:ext>
            </a:extLst>
          </p:cNvPr>
          <p:cNvSpPr>
            <a:spLocks noGrp="1"/>
          </p:cNvSpPr>
          <p:nvPr/>
        </p:nvSpPr>
        <p:spPr>
          <a:xfrm>
            <a:off x="7715250" y="5219700"/>
            <a:ext cx="3095625" cy="400050"/>
          </a:xfrm>
          <a:prstGeom prst="rect">
            <a:avLst/>
          </a:prstGeom>
          <a:noFill/>
          <a:ln w="0">
            <a:noFill/>
          </a:ln>
        </p:spPr>
        <p:txBody>
          <a:bodyPr anchor="t">
            <a:normAutofit fontScale="90000"/>
          </a:bodyPr>
          <a:lstStyle/>
          <a:p>
            <a:pPr algn="ctr">
              <a:defRPr sz="1125" b="0" i="0">
                <a:solidFill>
                  <a:srgbClr val="DCEAE7"/>
                </a:solidFill>
                <a:latin typeface="DejaVu Sans"/>
                <a:ea typeface="DejaVu Sans"/>
                <a:cs typeface="DejaVu Sans"/>
              </a:defRPr>
            </a:pPr>
            <a:r>
              <a:rPr sz="1125" b="0" i="0">
                <a:solidFill>
                  <a:srgbClr val="DCEAE7"/>
                </a:solidFill>
                <a:latin typeface="DejaVu Sans"/>
                <a:ea typeface="DejaVu Sans"/>
                <a:cs typeface="DejaVu Sans"/>
              </a:rPr>
              <a:t>Automatic sending, CRM write access, negotiation and legal advice</a:t>
            </a:r>
          </a:p>
        </p:txBody>
      </p:sp>
    </p:spTree>
    <p:extLst>
      <p:ext uri="{BB962C8B-B14F-4D97-AF65-F5344CB8AC3E}">
        <p14:creationId xmlns:p14="http://schemas.microsoft.com/office/powerpoint/2010/main" val="1691015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41" name="Rectángulo 40">
            <a:extLst>
              <a:ext uri="{FF2B5EF4-FFF2-40B4-BE49-F238E27FC236}">
                <a16:creationId xmlns:a16="http://schemas.microsoft.com/office/drawing/2014/main" id="{CB50B290-2B7E-4881-A479-F322F8D99EE3}"/>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ED8BAF15-4719-46AB-BF74-DB5F81427C5D}"/>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SMALLEST END-TO-END CAPABILITY</a:t>
            </a:r>
          </a:p>
        </p:txBody>
      </p:sp>
      <p:sp>
        <p:nvSpPr>
          <p:cNvPr id="3" name="Rectángulo 2">
            <a:extLst>
              <a:ext uri="{FF2B5EF4-FFF2-40B4-BE49-F238E27FC236}">
                <a16:creationId xmlns:a16="http://schemas.microsoft.com/office/drawing/2014/main" id="{A488FAF8-9DAA-412F-AC92-8DBA241E15CD}"/>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The MVP stops before any message is sent</a:t>
            </a:r>
          </a:p>
        </p:txBody>
      </p:sp>
      <p:sp>
        <p:nvSpPr>
          <p:cNvPr id="4" name="Rectángulo 3">
            <a:extLst>
              <a:ext uri="{FF2B5EF4-FFF2-40B4-BE49-F238E27FC236}">
                <a16:creationId xmlns:a16="http://schemas.microsoft.com/office/drawing/2014/main" id="{138D9CBD-5541-43A4-98EC-94D3EC780936}"/>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10</a:t>
            </a:r>
          </a:p>
        </p:txBody>
      </p:sp>
      <p:sp>
        <p:nvSpPr>
          <p:cNvPr id="5" name="Rectángulo 4">
            <a:extLst>
              <a:ext uri="{FF2B5EF4-FFF2-40B4-BE49-F238E27FC236}">
                <a16:creationId xmlns:a16="http://schemas.microsoft.com/office/drawing/2014/main" id="{175FA614-EB2F-4E30-94E4-99E967D74888}"/>
              </a:ext>
            </a:extLst>
          </p:cNvPr>
          <p:cNvSpPr>
            <a:spLocks noGrp="1"/>
          </p:cNvSpPr>
          <p:nvPr/>
        </p:nvSpPr>
        <p:spPr>
          <a:xfrm>
            <a:off x="609600" y="1304925"/>
            <a:ext cx="10972800" cy="9525"/>
          </a:xfrm>
          <a:prstGeom prst="rect">
            <a:avLst/>
          </a:prstGeom>
          <a:solidFill>
            <a:srgbClr val="D8D1C4"/>
          </a:solidFill>
          <a:ln w="0">
            <a:noFill/>
          </a:ln>
        </p:spPr>
      </p:sp>
      <p:sp>
        <p:nvSpPr>
          <p:cNvPr id="6" name="Rectángulo: esquinas redondeadas 5">
            <a:extLst>
              <a:ext uri="{FF2B5EF4-FFF2-40B4-BE49-F238E27FC236}">
                <a16:creationId xmlns:a16="http://schemas.microsoft.com/office/drawing/2014/main" id="{04586052-0E94-457B-8046-099D94921709}"/>
              </a:ext>
            </a:extLst>
          </p:cNvPr>
          <p:cNvSpPr>
            <a:spLocks noGrp="1"/>
          </p:cNvSpPr>
          <p:nvPr/>
        </p:nvSpPr>
        <p:spPr>
          <a:xfrm>
            <a:off x="523875" y="1952625"/>
            <a:ext cx="1857375" cy="1762125"/>
          </a:xfrm>
          <a:prstGeom prst="roundRect">
            <a:avLst>
              <a:gd name="adj" fmla="val 8649"/>
            </a:avLst>
          </a:prstGeom>
          <a:solidFill>
            <a:srgbClr val="FFFFFF"/>
          </a:solidFill>
          <a:ln w="9525">
            <a:solidFill>
              <a:srgbClr val="D8D1C4"/>
            </a:solidFill>
            <a:prstDash val="solid"/>
          </a:ln>
        </p:spPr>
      </p:sp>
      <p:sp>
        <p:nvSpPr>
          <p:cNvPr id="7" name="Elipse 6">
            <a:extLst>
              <a:ext uri="{FF2B5EF4-FFF2-40B4-BE49-F238E27FC236}">
                <a16:creationId xmlns:a16="http://schemas.microsoft.com/office/drawing/2014/main" id="{839934F8-9C6E-4EDF-B050-BBB5FBA5E9A9}"/>
              </a:ext>
            </a:extLst>
          </p:cNvPr>
          <p:cNvSpPr>
            <a:spLocks noGrp="1"/>
          </p:cNvSpPr>
          <p:nvPr/>
        </p:nvSpPr>
        <p:spPr>
          <a:xfrm>
            <a:off x="1190625" y="1619250"/>
            <a:ext cx="514350" cy="514350"/>
          </a:xfrm>
          <a:prstGeom prst="ellipse">
            <a:avLst/>
          </a:prstGeom>
          <a:solidFill>
            <a:srgbClr val="1C7180"/>
          </a:solidFill>
          <a:ln w="0">
            <a:noFill/>
          </a:ln>
        </p:spPr>
      </p:sp>
      <p:sp>
        <p:nvSpPr>
          <p:cNvPr id="8" name="Rectángulo 7">
            <a:extLst>
              <a:ext uri="{FF2B5EF4-FFF2-40B4-BE49-F238E27FC236}">
                <a16:creationId xmlns:a16="http://schemas.microsoft.com/office/drawing/2014/main" id="{585D34FA-9456-41E8-A9BF-26FB78859E6C}"/>
              </a:ext>
            </a:extLst>
          </p:cNvPr>
          <p:cNvSpPr>
            <a:spLocks noGrp="1"/>
          </p:cNvSpPr>
          <p:nvPr/>
        </p:nvSpPr>
        <p:spPr>
          <a:xfrm>
            <a:off x="1190625" y="1695450"/>
            <a:ext cx="514350" cy="342900"/>
          </a:xfrm>
          <a:prstGeom prst="rect">
            <a:avLst/>
          </a:prstGeom>
          <a:noFill/>
          <a:ln w="0">
            <a:noFill/>
          </a:ln>
        </p:spPr>
        <p:txBody>
          <a:bodyPr anchor="ctr">
            <a:normAutofit/>
          </a:bodyPr>
          <a:lstStyle/>
          <a:p>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1</a:t>
            </a:r>
          </a:p>
        </p:txBody>
      </p:sp>
      <p:sp>
        <p:nvSpPr>
          <p:cNvPr id="9" name="Rectángulo 8">
            <a:extLst>
              <a:ext uri="{FF2B5EF4-FFF2-40B4-BE49-F238E27FC236}">
                <a16:creationId xmlns:a16="http://schemas.microsoft.com/office/drawing/2014/main" id="{685BF02F-0374-483B-B85A-12A84A790D15}"/>
              </a:ext>
            </a:extLst>
          </p:cNvPr>
          <p:cNvSpPr>
            <a:spLocks noGrp="1"/>
          </p:cNvSpPr>
          <p:nvPr/>
        </p:nvSpPr>
        <p:spPr>
          <a:xfrm>
            <a:off x="714375" y="2305050"/>
            <a:ext cx="1476375" cy="457200"/>
          </a:xfrm>
          <a:prstGeom prst="rect">
            <a:avLst/>
          </a:prstGeom>
          <a:noFill/>
          <a:ln w="0">
            <a:noFill/>
          </a:ln>
        </p:spPr>
        <p:txBody>
          <a:bodyPr anchor="t">
            <a:normAutofit fontScale="84211"/>
          </a:bodyPr>
          <a:lstStyle/>
          <a:p>
            <a:pPr algn="ctr">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Incoming message</a:t>
            </a:r>
          </a:p>
        </p:txBody>
      </p:sp>
      <p:sp>
        <p:nvSpPr>
          <p:cNvPr id="10" name="Rectángulo 9">
            <a:extLst>
              <a:ext uri="{FF2B5EF4-FFF2-40B4-BE49-F238E27FC236}">
                <a16:creationId xmlns:a16="http://schemas.microsoft.com/office/drawing/2014/main" id="{EF4512AB-C1B1-4AB1-B28E-F6B7FB53F3F7}"/>
              </a:ext>
            </a:extLst>
          </p:cNvPr>
          <p:cNvSpPr>
            <a:spLocks noGrp="1"/>
          </p:cNvSpPr>
          <p:nvPr/>
        </p:nvSpPr>
        <p:spPr>
          <a:xfrm>
            <a:off x="733425" y="3000375"/>
            <a:ext cx="1428750" cy="428625"/>
          </a:xfrm>
          <a:prstGeom prst="rect">
            <a:avLst/>
          </a:prstGeom>
          <a:noFill/>
          <a:ln w="0">
            <a:noFill/>
          </a:ln>
        </p:spPr>
        <p:txBody>
          <a:bodyPr anchor="t">
            <a:normAutofit/>
          </a:bodyPr>
          <a:lstStyle/>
          <a:p>
            <a:pPr algn="ct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WhatsApp, email or web</a:t>
            </a:r>
          </a:p>
        </p:txBody>
      </p:sp>
      <p:sp>
        <p:nvSpPr>
          <p:cNvPr id="11" name="Rectángulo: esquinas redondeadas 10">
            <a:extLst>
              <a:ext uri="{FF2B5EF4-FFF2-40B4-BE49-F238E27FC236}">
                <a16:creationId xmlns:a16="http://schemas.microsoft.com/office/drawing/2014/main" id="{CEDE4B3C-E942-4256-A55F-EA4B014A13A3}"/>
              </a:ext>
            </a:extLst>
          </p:cNvPr>
          <p:cNvSpPr>
            <a:spLocks noGrp="1"/>
          </p:cNvSpPr>
          <p:nvPr/>
        </p:nvSpPr>
        <p:spPr>
          <a:xfrm>
            <a:off x="2828925" y="1952625"/>
            <a:ext cx="1857375" cy="1762125"/>
          </a:xfrm>
          <a:prstGeom prst="roundRect">
            <a:avLst>
              <a:gd name="adj" fmla="val 8649"/>
            </a:avLst>
          </a:prstGeom>
          <a:solidFill>
            <a:srgbClr val="FFFFFF"/>
          </a:solidFill>
          <a:ln w="9525">
            <a:solidFill>
              <a:srgbClr val="D8D1C4"/>
            </a:solidFill>
            <a:prstDash val="solid"/>
          </a:ln>
        </p:spPr>
      </p:sp>
      <p:sp>
        <p:nvSpPr>
          <p:cNvPr id="12" name="Elipse 11">
            <a:extLst>
              <a:ext uri="{FF2B5EF4-FFF2-40B4-BE49-F238E27FC236}">
                <a16:creationId xmlns:a16="http://schemas.microsoft.com/office/drawing/2014/main" id="{A134C14E-93EF-4F27-859D-BFD407783CCD}"/>
              </a:ext>
            </a:extLst>
          </p:cNvPr>
          <p:cNvSpPr>
            <a:spLocks noGrp="1"/>
          </p:cNvSpPr>
          <p:nvPr/>
        </p:nvSpPr>
        <p:spPr>
          <a:xfrm>
            <a:off x="3495675" y="1619250"/>
            <a:ext cx="514350" cy="514350"/>
          </a:xfrm>
          <a:prstGeom prst="ellipse">
            <a:avLst/>
          </a:prstGeom>
          <a:solidFill>
            <a:srgbClr val="1C7180"/>
          </a:solidFill>
          <a:ln w="0">
            <a:noFill/>
          </a:ln>
        </p:spPr>
      </p:sp>
      <p:sp>
        <p:nvSpPr>
          <p:cNvPr id="13" name="Rectángulo 12">
            <a:extLst>
              <a:ext uri="{FF2B5EF4-FFF2-40B4-BE49-F238E27FC236}">
                <a16:creationId xmlns:a16="http://schemas.microsoft.com/office/drawing/2014/main" id="{E33F7663-E85D-4E0D-AFDF-8CFDFC523A19}"/>
              </a:ext>
            </a:extLst>
          </p:cNvPr>
          <p:cNvSpPr>
            <a:spLocks noGrp="1"/>
          </p:cNvSpPr>
          <p:nvPr/>
        </p:nvSpPr>
        <p:spPr>
          <a:xfrm>
            <a:off x="3495675" y="1695450"/>
            <a:ext cx="514350" cy="342900"/>
          </a:xfrm>
          <a:prstGeom prst="rect">
            <a:avLst/>
          </a:prstGeom>
          <a:noFill/>
          <a:ln w="0">
            <a:noFill/>
          </a:ln>
        </p:spPr>
        <p:txBody>
          <a:bodyPr anchor="ctr">
            <a:normAutofit/>
          </a:bodyPr>
          <a:lstStyle/>
          <a:p>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2</a:t>
            </a:r>
          </a:p>
        </p:txBody>
      </p:sp>
      <p:sp>
        <p:nvSpPr>
          <p:cNvPr id="14" name="Rectángulo 13">
            <a:extLst>
              <a:ext uri="{FF2B5EF4-FFF2-40B4-BE49-F238E27FC236}">
                <a16:creationId xmlns:a16="http://schemas.microsoft.com/office/drawing/2014/main" id="{65B23C93-FA71-491D-A813-6DC20BDB1522}"/>
              </a:ext>
            </a:extLst>
          </p:cNvPr>
          <p:cNvSpPr>
            <a:spLocks noGrp="1"/>
          </p:cNvSpPr>
          <p:nvPr/>
        </p:nvSpPr>
        <p:spPr>
          <a:xfrm>
            <a:off x="3019425" y="2305050"/>
            <a:ext cx="1476375" cy="457200"/>
          </a:xfrm>
          <a:prstGeom prst="rect">
            <a:avLst/>
          </a:prstGeom>
          <a:noFill/>
          <a:ln w="0">
            <a:noFill/>
          </a:ln>
        </p:spPr>
        <p:txBody>
          <a:bodyPr anchor="t">
            <a:normAutofit fontScale="84211"/>
          </a:bodyPr>
          <a:lstStyle/>
          <a:p>
            <a:pPr algn="ctr">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Structured lead</a:t>
            </a:r>
          </a:p>
        </p:txBody>
      </p:sp>
      <p:sp>
        <p:nvSpPr>
          <p:cNvPr id="15" name="Rectángulo 14">
            <a:extLst>
              <a:ext uri="{FF2B5EF4-FFF2-40B4-BE49-F238E27FC236}">
                <a16:creationId xmlns:a16="http://schemas.microsoft.com/office/drawing/2014/main" id="{47C3611A-6339-4208-91BA-6E823589FFD8}"/>
              </a:ext>
            </a:extLst>
          </p:cNvPr>
          <p:cNvSpPr>
            <a:spLocks noGrp="1"/>
          </p:cNvSpPr>
          <p:nvPr/>
        </p:nvSpPr>
        <p:spPr>
          <a:xfrm>
            <a:off x="3038475" y="3000375"/>
            <a:ext cx="1428750" cy="428625"/>
          </a:xfrm>
          <a:prstGeom prst="rect">
            <a:avLst/>
          </a:prstGeom>
          <a:noFill/>
          <a:ln w="0">
            <a:noFill/>
          </a:ln>
        </p:spPr>
        <p:txBody>
          <a:bodyPr anchor="t">
            <a:normAutofit/>
          </a:bodyPr>
          <a:lstStyle/>
          <a:p>
            <a:pPr algn="ct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Stated facts only</a:t>
            </a:r>
          </a:p>
        </p:txBody>
      </p:sp>
      <p:sp>
        <p:nvSpPr>
          <p:cNvPr id="16" name="Rectángulo: esquinas redondeadas 15">
            <a:extLst>
              <a:ext uri="{FF2B5EF4-FFF2-40B4-BE49-F238E27FC236}">
                <a16:creationId xmlns:a16="http://schemas.microsoft.com/office/drawing/2014/main" id="{62BB5DE2-8864-425B-9536-A9514C292C8C}"/>
              </a:ext>
            </a:extLst>
          </p:cNvPr>
          <p:cNvSpPr>
            <a:spLocks noGrp="1"/>
          </p:cNvSpPr>
          <p:nvPr/>
        </p:nvSpPr>
        <p:spPr>
          <a:xfrm>
            <a:off x="5133975" y="1952625"/>
            <a:ext cx="1857375" cy="1762125"/>
          </a:xfrm>
          <a:prstGeom prst="roundRect">
            <a:avLst>
              <a:gd name="adj" fmla="val 8649"/>
            </a:avLst>
          </a:prstGeom>
          <a:solidFill>
            <a:srgbClr val="FFFFFF"/>
          </a:solidFill>
          <a:ln w="9525">
            <a:solidFill>
              <a:srgbClr val="D8D1C4"/>
            </a:solidFill>
            <a:prstDash val="solid"/>
          </a:ln>
        </p:spPr>
      </p:sp>
      <p:sp>
        <p:nvSpPr>
          <p:cNvPr id="17" name="Elipse 16">
            <a:extLst>
              <a:ext uri="{FF2B5EF4-FFF2-40B4-BE49-F238E27FC236}">
                <a16:creationId xmlns:a16="http://schemas.microsoft.com/office/drawing/2014/main" id="{9FE0D818-7777-43D9-87E2-EF351CDE7927}"/>
              </a:ext>
            </a:extLst>
          </p:cNvPr>
          <p:cNvSpPr>
            <a:spLocks noGrp="1"/>
          </p:cNvSpPr>
          <p:nvPr/>
        </p:nvSpPr>
        <p:spPr>
          <a:xfrm>
            <a:off x="5800725" y="1619250"/>
            <a:ext cx="514350" cy="514350"/>
          </a:xfrm>
          <a:prstGeom prst="ellipse">
            <a:avLst/>
          </a:prstGeom>
          <a:solidFill>
            <a:srgbClr val="1C7180"/>
          </a:solidFill>
          <a:ln w="0">
            <a:noFill/>
          </a:ln>
        </p:spPr>
      </p:sp>
      <p:sp>
        <p:nvSpPr>
          <p:cNvPr id="18" name="Rectángulo 17">
            <a:extLst>
              <a:ext uri="{FF2B5EF4-FFF2-40B4-BE49-F238E27FC236}">
                <a16:creationId xmlns:a16="http://schemas.microsoft.com/office/drawing/2014/main" id="{32916F3E-FCB3-461F-BF12-207D1D4FF147}"/>
              </a:ext>
            </a:extLst>
          </p:cNvPr>
          <p:cNvSpPr>
            <a:spLocks noGrp="1"/>
          </p:cNvSpPr>
          <p:nvPr/>
        </p:nvSpPr>
        <p:spPr>
          <a:xfrm>
            <a:off x="5800725" y="1695450"/>
            <a:ext cx="514350" cy="342900"/>
          </a:xfrm>
          <a:prstGeom prst="rect">
            <a:avLst/>
          </a:prstGeom>
          <a:noFill/>
          <a:ln w="0">
            <a:noFill/>
          </a:ln>
        </p:spPr>
        <p:txBody>
          <a:bodyPr anchor="ctr">
            <a:normAutofit/>
          </a:bodyPr>
          <a:lstStyle/>
          <a:p>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3</a:t>
            </a:r>
          </a:p>
        </p:txBody>
      </p:sp>
      <p:sp>
        <p:nvSpPr>
          <p:cNvPr id="19" name="Rectángulo 18">
            <a:extLst>
              <a:ext uri="{FF2B5EF4-FFF2-40B4-BE49-F238E27FC236}">
                <a16:creationId xmlns:a16="http://schemas.microsoft.com/office/drawing/2014/main" id="{BC82EEA3-E075-47B1-8028-6E37D6480E08}"/>
              </a:ext>
            </a:extLst>
          </p:cNvPr>
          <p:cNvSpPr>
            <a:spLocks noGrp="1"/>
          </p:cNvSpPr>
          <p:nvPr/>
        </p:nvSpPr>
        <p:spPr>
          <a:xfrm>
            <a:off x="5324475" y="2305050"/>
            <a:ext cx="1476375" cy="457200"/>
          </a:xfrm>
          <a:prstGeom prst="rect">
            <a:avLst/>
          </a:prstGeom>
          <a:noFill/>
          <a:ln w="0">
            <a:noFill/>
          </a:ln>
        </p:spPr>
        <p:txBody>
          <a:bodyPr anchor="t">
            <a:normAutofit fontScale="84211"/>
          </a:bodyPr>
          <a:lstStyle/>
          <a:p>
            <a:pPr algn="ctr">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Readiness score</a:t>
            </a:r>
          </a:p>
        </p:txBody>
      </p:sp>
      <p:sp>
        <p:nvSpPr>
          <p:cNvPr id="20" name="Rectángulo 19">
            <a:extLst>
              <a:ext uri="{FF2B5EF4-FFF2-40B4-BE49-F238E27FC236}">
                <a16:creationId xmlns:a16="http://schemas.microsoft.com/office/drawing/2014/main" id="{81E0907E-2CDA-4C5D-B6E0-BAF5B33A95CD}"/>
              </a:ext>
            </a:extLst>
          </p:cNvPr>
          <p:cNvSpPr>
            <a:spLocks noGrp="1"/>
          </p:cNvSpPr>
          <p:nvPr/>
        </p:nvSpPr>
        <p:spPr>
          <a:xfrm>
            <a:off x="5343525" y="3000375"/>
            <a:ext cx="1428750" cy="428625"/>
          </a:xfrm>
          <a:prstGeom prst="rect">
            <a:avLst/>
          </a:prstGeom>
          <a:noFill/>
          <a:ln w="0">
            <a:noFill/>
          </a:ln>
        </p:spPr>
        <p:txBody>
          <a:bodyPr anchor="t">
            <a:normAutofit/>
          </a:bodyPr>
          <a:lstStyle/>
          <a:p>
            <a:pPr algn="ct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Visible rules</a:t>
            </a:r>
          </a:p>
        </p:txBody>
      </p:sp>
      <p:sp>
        <p:nvSpPr>
          <p:cNvPr id="21" name="Rectángulo: esquinas redondeadas 20">
            <a:extLst>
              <a:ext uri="{FF2B5EF4-FFF2-40B4-BE49-F238E27FC236}">
                <a16:creationId xmlns:a16="http://schemas.microsoft.com/office/drawing/2014/main" id="{D0CBAF4D-1DAC-4972-B6A7-5250F16B3470}"/>
              </a:ext>
            </a:extLst>
          </p:cNvPr>
          <p:cNvSpPr>
            <a:spLocks noGrp="1"/>
          </p:cNvSpPr>
          <p:nvPr/>
        </p:nvSpPr>
        <p:spPr>
          <a:xfrm>
            <a:off x="7439025" y="1952625"/>
            <a:ext cx="1857375" cy="1762125"/>
          </a:xfrm>
          <a:prstGeom prst="roundRect">
            <a:avLst>
              <a:gd name="adj" fmla="val 8649"/>
            </a:avLst>
          </a:prstGeom>
          <a:solidFill>
            <a:srgbClr val="FFFFFF"/>
          </a:solidFill>
          <a:ln w="9525">
            <a:solidFill>
              <a:srgbClr val="D8D1C4"/>
            </a:solidFill>
            <a:prstDash val="solid"/>
          </a:ln>
        </p:spPr>
      </p:sp>
      <p:sp>
        <p:nvSpPr>
          <p:cNvPr id="22" name="Elipse 21">
            <a:extLst>
              <a:ext uri="{FF2B5EF4-FFF2-40B4-BE49-F238E27FC236}">
                <a16:creationId xmlns:a16="http://schemas.microsoft.com/office/drawing/2014/main" id="{229F92A8-E29A-4728-BE79-830F593C3B04}"/>
              </a:ext>
            </a:extLst>
          </p:cNvPr>
          <p:cNvSpPr>
            <a:spLocks noGrp="1"/>
          </p:cNvSpPr>
          <p:nvPr/>
        </p:nvSpPr>
        <p:spPr>
          <a:xfrm>
            <a:off x="8105775" y="1619250"/>
            <a:ext cx="514350" cy="514350"/>
          </a:xfrm>
          <a:prstGeom prst="ellipse">
            <a:avLst/>
          </a:prstGeom>
          <a:solidFill>
            <a:srgbClr val="1C7180"/>
          </a:solidFill>
          <a:ln w="0">
            <a:noFill/>
          </a:ln>
        </p:spPr>
      </p:sp>
      <p:sp>
        <p:nvSpPr>
          <p:cNvPr id="23" name="Rectángulo 22">
            <a:extLst>
              <a:ext uri="{FF2B5EF4-FFF2-40B4-BE49-F238E27FC236}">
                <a16:creationId xmlns:a16="http://schemas.microsoft.com/office/drawing/2014/main" id="{B082466B-AC38-4F34-8EE4-0D70DEE4133D}"/>
              </a:ext>
            </a:extLst>
          </p:cNvPr>
          <p:cNvSpPr>
            <a:spLocks noGrp="1"/>
          </p:cNvSpPr>
          <p:nvPr/>
        </p:nvSpPr>
        <p:spPr>
          <a:xfrm>
            <a:off x="8105775" y="1695450"/>
            <a:ext cx="514350" cy="342900"/>
          </a:xfrm>
          <a:prstGeom prst="rect">
            <a:avLst/>
          </a:prstGeom>
          <a:noFill/>
          <a:ln w="0">
            <a:noFill/>
          </a:ln>
        </p:spPr>
        <p:txBody>
          <a:bodyPr anchor="ctr">
            <a:normAutofit/>
          </a:bodyPr>
          <a:lstStyle/>
          <a:p>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4</a:t>
            </a:r>
          </a:p>
        </p:txBody>
      </p:sp>
      <p:sp>
        <p:nvSpPr>
          <p:cNvPr id="24" name="Rectángulo 23">
            <a:extLst>
              <a:ext uri="{FF2B5EF4-FFF2-40B4-BE49-F238E27FC236}">
                <a16:creationId xmlns:a16="http://schemas.microsoft.com/office/drawing/2014/main" id="{7F5B973F-C146-4572-8218-2BACA0B1127B}"/>
              </a:ext>
            </a:extLst>
          </p:cNvPr>
          <p:cNvSpPr>
            <a:spLocks noGrp="1"/>
          </p:cNvSpPr>
          <p:nvPr/>
        </p:nvSpPr>
        <p:spPr>
          <a:xfrm>
            <a:off x="7629525" y="2305050"/>
            <a:ext cx="1476375" cy="457200"/>
          </a:xfrm>
          <a:prstGeom prst="rect">
            <a:avLst/>
          </a:prstGeom>
          <a:noFill/>
          <a:ln w="0">
            <a:noFill/>
          </a:ln>
        </p:spPr>
        <p:txBody>
          <a:bodyPr anchor="t">
            <a:normAutofit fontScale="84211"/>
          </a:bodyPr>
          <a:lstStyle/>
          <a:p>
            <a:pPr algn="ctr">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Property matches</a:t>
            </a:r>
          </a:p>
        </p:txBody>
      </p:sp>
      <p:sp>
        <p:nvSpPr>
          <p:cNvPr id="25" name="Rectángulo 24">
            <a:extLst>
              <a:ext uri="{FF2B5EF4-FFF2-40B4-BE49-F238E27FC236}">
                <a16:creationId xmlns:a16="http://schemas.microsoft.com/office/drawing/2014/main" id="{E3732E0A-F02E-4C4F-8761-640045B3C77D}"/>
              </a:ext>
            </a:extLst>
          </p:cNvPr>
          <p:cNvSpPr>
            <a:spLocks noGrp="1"/>
          </p:cNvSpPr>
          <p:nvPr/>
        </p:nvSpPr>
        <p:spPr>
          <a:xfrm>
            <a:off x="7648575" y="3000375"/>
            <a:ext cx="1428750" cy="428625"/>
          </a:xfrm>
          <a:prstGeom prst="rect">
            <a:avLst/>
          </a:prstGeom>
          <a:noFill/>
          <a:ln w="0">
            <a:noFill/>
          </a:ln>
        </p:spPr>
        <p:txBody>
          <a:bodyPr anchor="t">
            <a:normAutofit/>
          </a:bodyPr>
          <a:lstStyle/>
          <a:p>
            <a:pPr algn="ctr">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Up to three listings</a:t>
            </a:r>
          </a:p>
        </p:txBody>
      </p:sp>
      <p:sp>
        <p:nvSpPr>
          <p:cNvPr id="26" name="Rectángulo: esquinas redondeadas 25">
            <a:extLst>
              <a:ext uri="{FF2B5EF4-FFF2-40B4-BE49-F238E27FC236}">
                <a16:creationId xmlns:a16="http://schemas.microsoft.com/office/drawing/2014/main" id="{869D5AAD-3145-4D9E-B75F-57B9A231E5CD}"/>
              </a:ext>
            </a:extLst>
          </p:cNvPr>
          <p:cNvSpPr>
            <a:spLocks noGrp="1"/>
          </p:cNvSpPr>
          <p:nvPr/>
        </p:nvSpPr>
        <p:spPr>
          <a:xfrm>
            <a:off x="9744075" y="1952625"/>
            <a:ext cx="1857375" cy="1762125"/>
          </a:xfrm>
          <a:prstGeom prst="roundRect">
            <a:avLst>
              <a:gd name="adj" fmla="val 8649"/>
            </a:avLst>
          </a:prstGeom>
          <a:solidFill>
            <a:srgbClr val="17324D"/>
          </a:solidFill>
          <a:ln w="9525">
            <a:solidFill>
              <a:srgbClr val="17324D"/>
            </a:solidFill>
            <a:prstDash val="solid"/>
          </a:ln>
        </p:spPr>
      </p:sp>
      <p:sp>
        <p:nvSpPr>
          <p:cNvPr id="27" name="Elipse 26">
            <a:extLst>
              <a:ext uri="{FF2B5EF4-FFF2-40B4-BE49-F238E27FC236}">
                <a16:creationId xmlns:a16="http://schemas.microsoft.com/office/drawing/2014/main" id="{0FCA232F-EEEE-4048-B9C7-FF043FB0E962}"/>
              </a:ext>
            </a:extLst>
          </p:cNvPr>
          <p:cNvSpPr>
            <a:spLocks noGrp="1"/>
          </p:cNvSpPr>
          <p:nvPr/>
        </p:nvSpPr>
        <p:spPr>
          <a:xfrm>
            <a:off x="10410825" y="1619250"/>
            <a:ext cx="514350" cy="514350"/>
          </a:xfrm>
          <a:prstGeom prst="ellipse">
            <a:avLst/>
          </a:prstGeom>
          <a:solidFill>
            <a:srgbClr val="C96A4B"/>
          </a:solidFill>
          <a:ln w="0">
            <a:noFill/>
          </a:ln>
        </p:spPr>
      </p:sp>
      <p:sp>
        <p:nvSpPr>
          <p:cNvPr id="28" name="Rectángulo 27">
            <a:extLst>
              <a:ext uri="{FF2B5EF4-FFF2-40B4-BE49-F238E27FC236}">
                <a16:creationId xmlns:a16="http://schemas.microsoft.com/office/drawing/2014/main" id="{399C76BD-4C1A-4424-BED9-58B093C43A1D}"/>
              </a:ext>
            </a:extLst>
          </p:cNvPr>
          <p:cNvSpPr>
            <a:spLocks noGrp="1"/>
          </p:cNvSpPr>
          <p:nvPr/>
        </p:nvSpPr>
        <p:spPr>
          <a:xfrm>
            <a:off x="10410825" y="1695450"/>
            <a:ext cx="514350" cy="342900"/>
          </a:xfrm>
          <a:prstGeom prst="rect">
            <a:avLst/>
          </a:prstGeom>
          <a:noFill/>
          <a:ln w="0">
            <a:noFill/>
          </a:ln>
        </p:spPr>
        <p:txBody>
          <a:bodyPr anchor="ctr">
            <a:normAutofit/>
          </a:bodyPr>
          <a:lstStyle/>
          <a:p>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5</a:t>
            </a:r>
          </a:p>
        </p:txBody>
      </p:sp>
      <p:sp>
        <p:nvSpPr>
          <p:cNvPr id="29" name="Rectángulo 28">
            <a:extLst>
              <a:ext uri="{FF2B5EF4-FFF2-40B4-BE49-F238E27FC236}">
                <a16:creationId xmlns:a16="http://schemas.microsoft.com/office/drawing/2014/main" id="{2079AB88-B214-4B96-BCFE-C4FC48A4086F}"/>
              </a:ext>
            </a:extLst>
          </p:cNvPr>
          <p:cNvSpPr>
            <a:spLocks noGrp="1"/>
          </p:cNvSpPr>
          <p:nvPr/>
        </p:nvSpPr>
        <p:spPr>
          <a:xfrm>
            <a:off x="9934575" y="2305050"/>
            <a:ext cx="1476375" cy="457200"/>
          </a:xfrm>
          <a:prstGeom prst="rect">
            <a:avLst/>
          </a:prstGeom>
          <a:noFill/>
          <a:ln w="0">
            <a:noFill/>
          </a:ln>
        </p:spPr>
        <p:txBody>
          <a:bodyPr anchor="t">
            <a:normAutofit fontScale="84292"/>
          </a:bodyPr>
          <a:lstStyle/>
          <a:p>
            <a:pPr algn="ctr">
              <a:defRPr sz="1425" b="1" i="0">
                <a:solidFill>
                  <a:srgbClr val="FFFFFF"/>
                </a:solidFill>
                <a:latin typeface="DejaVu Serif"/>
                <a:ea typeface="DejaVu Serif"/>
                <a:cs typeface="DejaVu Serif"/>
              </a:defRPr>
            </a:pPr>
            <a:r>
              <a:rPr sz="1425" b="1" i="0">
                <a:solidFill>
                  <a:srgbClr val="FFFFFF"/>
                </a:solidFill>
                <a:latin typeface="DejaVu Serif"/>
                <a:ea typeface="DejaVu Serif"/>
                <a:cs typeface="DejaVu Serif"/>
              </a:rPr>
              <a:t>Agent approval</a:t>
            </a:r>
          </a:p>
        </p:txBody>
      </p:sp>
      <p:sp>
        <p:nvSpPr>
          <p:cNvPr id="30" name="Rectángulo 29">
            <a:extLst>
              <a:ext uri="{FF2B5EF4-FFF2-40B4-BE49-F238E27FC236}">
                <a16:creationId xmlns:a16="http://schemas.microsoft.com/office/drawing/2014/main" id="{0C357492-D90E-4065-B7F2-6F7A601BF2FC}"/>
              </a:ext>
            </a:extLst>
          </p:cNvPr>
          <p:cNvSpPr>
            <a:spLocks noGrp="1"/>
          </p:cNvSpPr>
          <p:nvPr/>
        </p:nvSpPr>
        <p:spPr>
          <a:xfrm>
            <a:off x="9953625" y="3000375"/>
            <a:ext cx="1428750" cy="428625"/>
          </a:xfrm>
          <a:prstGeom prst="rect">
            <a:avLst/>
          </a:prstGeom>
          <a:noFill/>
          <a:ln w="0">
            <a:noFill/>
          </a:ln>
        </p:spPr>
        <p:txBody>
          <a:bodyPr anchor="t">
            <a:normAutofit/>
          </a:bodyPr>
          <a:lstStyle/>
          <a:p>
            <a:pPr algn="ctr">
              <a:defRPr sz="1050" b="0" i="0">
                <a:solidFill>
                  <a:srgbClr val="DCEAE7"/>
                </a:solidFill>
                <a:latin typeface="DejaVu Sans"/>
                <a:ea typeface="DejaVu Sans"/>
                <a:cs typeface="DejaVu Sans"/>
              </a:defRPr>
            </a:pPr>
            <a:r>
              <a:rPr sz="1050" b="0" i="0">
                <a:solidFill>
                  <a:srgbClr val="DCEAE7"/>
                </a:solidFill>
                <a:latin typeface="DejaVu Sans"/>
                <a:ea typeface="DejaVu Sans"/>
                <a:cs typeface="DejaVu Sans"/>
              </a:rPr>
              <a:t>Edit or reject</a:t>
            </a:r>
          </a:p>
        </p:txBody>
      </p:sp>
      <p:cxnSp>
        <p:nvCxnSpPr>
          <p:cNvPr id="71" name="Conector recto de flecha 70"/>
          <p:cNvCxnSpPr>
            <a:stCxn id="6" idx="3"/>
            <a:endCxn id="11" idx="1"/>
          </p:cNvCxnSpPr>
          <p:nvPr/>
        </p:nvCxnSpPr>
        <p:spPr>
          <a:xfrm>
            <a:off x="2381250" y="2833688"/>
            <a:ext cx="447675" cy="0"/>
          </a:xfrm>
          <a:prstGeom prst="straightConnector1">
            <a:avLst/>
          </a:prstGeom>
          <a:ln w="28575">
            <a:solidFill>
              <a:srgbClr val="C96A4B"/>
            </a:solidFill>
            <a:prstDash val="solid"/>
          </a:ln>
        </p:spPr>
      </p:cxnSp>
      <p:cxnSp>
        <p:nvCxnSpPr>
          <p:cNvPr id="72" name="Conector recto de flecha 71"/>
          <p:cNvCxnSpPr>
            <a:stCxn id="11" idx="3"/>
            <a:endCxn id="16" idx="1"/>
          </p:cNvCxnSpPr>
          <p:nvPr/>
        </p:nvCxnSpPr>
        <p:spPr>
          <a:xfrm>
            <a:off x="4686300" y="2833688"/>
            <a:ext cx="447675" cy="0"/>
          </a:xfrm>
          <a:prstGeom prst="straightConnector1">
            <a:avLst/>
          </a:prstGeom>
          <a:ln w="28575">
            <a:solidFill>
              <a:srgbClr val="C96A4B"/>
            </a:solidFill>
            <a:prstDash val="solid"/>
          </a:ln>
        </p:spPr>
      </p:cxnSp>
      <p:cxnSp>
        <p:nvCxnSpPr>
          <p:cNvPr id="73" name="Conector recto de flecha 72"/>
          <p:cNvCxnSpPr>
            <a:stCxn id="16" idx="3"/>
            <a:endCxn id="21" idx="1"/>
          </p:cNvCxnSpPr>
          <p:nvPr/>
        </p:nvCxnSpPr>
        <p:spPr>
          <a:xfrm>
            <a:off x="6991350" y="2833688"/>
            <a:ext cx="447675" cy="0"/>
          </a:xfrm>
          <a:prstGeom prst="straightConnector1">
            <a:avLst/>
          </a:prstGeom>
          <a:ln w="28575">
            <a:solidFill>
              <a:srgbClr val="C96A4B"/>
            </a:solidFill>
            <a:prstDash val="solid"/>
          </a:ln>
        </p:spPr>
      </p:cxnSp>
      <p:cxnSp>
        <p:nvCxnSpPr>
          <p:cNvPr id="74" name="Conector recto de flecha 73"/>
          <p:cNvCxnSpPr>
            <a:stCxn id="21" idx="3"/>
            <a:endCxn id="26" idx="1"/>
          </p:cNvCxnSpPr>
          <p:nvPr/>
        </p:nvCxnSpPr>
        <p:spPr>
          <a:xfrm>
            <a:off x="9296400" y="2833688"/>
            <a:ext cx="447675" cy="0"/>
          </a:xfrm>
          <a:prstGeom prst="straightConnector1">
            <a:avLst/>
          </a:prstGeom>
          <a:ln w="28575">
            <a:solidFill>
              <a:srgbClr val="C96A4B"/>
            </a:solidFill>
            <a:prstDash val="solid"/>
          </a:ln>
        </p:spPr>
      </p:cxnSp>
      <p:sp>
        <p:nvSpPr>
          <p:cNvPr id="35" name="Rectángulo: esquinas redondeadas 34">
            <a:extLst>
              <a:ext uri="{FF2B5EF4-FFF2-40B4-BE49-F238E27FC236}">
                <a16:creationId xmlns:a16="http://schemas.microsoft.com/office/drawing/2014/main" id="{2B91AC5E-D168-4DFB-8A48-7A39AB22E9D8}"/>
              </a:ext>
            </a:extLst>
          </p:cNvPr>
          <p:cNvSpPr>
            <a:spLocks noGrp="1"/>
          </p:cNvSpPr>
          <p:nvPr/>
        </p:nvSpPr>
        <p:spPr>
          <a:xfrm>
            <a:off x="1428750" y="4438650"/>
            <a:ext cx="9334500" cy="1028700"/>
          </a:xfrm>
          <a:prstGeom prst="roundRect">
            <a:avLst>
              <a:gd name="adj" fmla="val 14815"/>
            </a:avLst>
          </a:prstGeom>
          <a:solidFill>
            <a:srgbClr val="F1E8D7"/>
          </a:solidFill>
          <a:ln w="0">
            <a:noFill/>
          </a:ln>
        </p:spPr>
      </p:sp>
      <p:sp>
        <p:nvSpPr>
          <p:cNvPr id="36" name="Rectángulo 35">
            <a:extLst>
              <a:ext uri="{FF2B5EF4-FFF2-40B4-BE49-F238E27FC236}">
                <a16:creationId xmlns:a16="http://schemas.microsoft.com/office/drawing/2014/main" id="{E47C7CA0-2613-4B24-8448-EDB6BBE2220B}"/>
              </a:ext>
            </a:extLst>
          </p:cNvPr>
          <p:cNvSpPr>
            <a:spLocks noGrp="1"/>
          </p:cNvSpPr>
          <p:nvPr/>
        </p:nvSpPr>
        <p:spPr>
          <a:xfrm>
            <a:off x="1714500" y="4667250"/>
            <a:ext cx="1809750" cy="228600"/>
          </a:xfrm>
          <a:prstGeom prst="rect">
            <a:avLst/>
          </a:prstGeom>
          <a:noFill/>
          <a:ln w="0">
            <a:noFill/>
          </a:ln>
        </p:spPr>
        <p:txBody>
          <a:bodyPr anchor="t">
            <a:normAutofit fontScale="92308"/>
          </a:bodyPr>
          <a:lstStyle/>
          <a:p>
            <a:pPr algn="l">
              <a:defRPr sz="975" b="1" i="0">
                <a:solidFill>
                  <a:srgbClr val="C96A4B"/>
                </a:solidFill>
                <a:latin typeface="DejaVu Sans"/>
                <a:ea typeface="DejaVu Sans"/>
                <a:cs typeface="DejaVu Sans"/>
              </a:defRPr>
            </a:pPr>
            <a:r>
              <a:rPr sz="975" b="1" i="0">
                <a:solidFill>
                  <a:srgbClr val="C96A4B"/>
                </a:solidFill>
                <a:latin typeface="DejaVu Sans"/>
                <a:ea typeface="DejaVu Sans"/>
                <a:cs typeface="DejaVu Sans"/>
              </a:rPr>
              <a:t>Round 1 baseline</a:t>
            </a:r>
          </a:p>
        </p:txBody>
      </p:sp>
      <p:sp>
        <p:nvSpPr>
          <p:cNvPr id="37" name="Rectángulo 36">
            <a:extLst>
              <a:ext uri="{FF2B5EF4-FFF2-40B4-BE49-F238E27FC236}">
                <a16:creationId xmlns:a16="http://schemas.microsoft.com/office/drawing/2014/main" id="{DD0AE60A-07B3-495C-95C9-7F96C0F902EB}"/>
              </a:ext>
            </a:extLst>
          </p:cNvPr>
          <p:cNvSpPr>
            <a:spLocks noGrp="1"/>
          </p:cNvSpPr>
          <p:nvPr/>
        </p:nvSpPr>
        <p:spPr>
          <a:xfrm>
            <a:off x="1714500" y="5010150"/>
            <a:ext cx="3905250" cy="304800"/>
          </a:xfrm>
          <a:prstGeom prst="rect">
            <a:avLst/>
          </a:prstGeom>
          <a:noFill/>
          <a:ln w="0">
            <a:noFill/>
          </a:ln>
        </p:spPr>
        <p:txBody>
          <a:bodyPr anchor="t">
            <a:normAutofit fontScale="58764"/>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Transparent rules make every field, score and match inspectable.</a:t>
            </a:r>
          </a:p>
        </p:txBody>
      </p:sp>
      <p:sp>
        <p:nvSpPr>
          <p:cNvPr id="38" name="Rectángulo 37">
            <a:extLst>
              <a:ext uri="{FF2B5EF4-FFF2-40B4-BE49-F238E27FC236}">
                <a16:creationId xmlns:a16="http://schemas.microsoft.com/office/drawing/2014/main" id="{3DFF578C-C47D-480C-9D05-2FB7B5ECF849}"/>
              </a:ext>
            </a:extLst>
          </p:cNvPr>
          <p:cNvSpPr>
            <a:spLocks noGrp="1"/>
          </p:cNvSpPr>
          <p:nvPr/>
        </p:nvSpPr>
        <p:spPr>
          <a:xfrm>
            <a:off x="6572250" y="4667250"/>
            <a:ext cx="1714500" cy="228600"/>
          </a:xfrm>
          <a:prstGeom prst="rect">
            <a:avLst/>
          </a:prstGeom>
          <a:noFill/>
          <a:ln w="0">
            <a:noFill/>
          </a:ln>
        </p:spPr>
        <p:txBody>
          <a:bodyPr anchor="t">
            <a:normAutofit fontScale="92308"/>
          </a:bodyPr>
          <a:lstStyle/>
          <a:p>
            <a:pPr algn="l">
              <a:defRPr sz="975" b="1" i="0">
                <a:solidFill>
                  <a:srgbClr val="1C7180"/>
                </a:solidFill>
                <a:latin typeface="DejaVu Sans"/>
                <a:ea typeface="DejaVu Sans"/>
                <a:cs typeface="DejaVu Sans"/>
              </a:defRPr>
            </a:pPr>
            <a:r>
              <a:rPr sz="975" b="1" i="0">
                <a:solidFill>
                  <a:srgbClr val="1C7180"/>
                </a:solidFill>
                <a:latin typeface="DejaVu Sans"/>
                <a:ea typeface="DejaVu Sans"/>
                <a:cs typeface="DejaVu Sans"/>
              </a:rPr>
              <a:t>Round 2 upgrade</a:t>
            </a:r>
          </a:p>
        </p:txBody>
      </p:sp>
      <p:sp>
        <p:nvSpPr>
          <p:cNvPr id="39" name="Rectángulo 38">
            <a:extLst>
              <a:ext uri="{FF2B5EF4-FFF2-40B4-BE49-F238E27FC236}">
                <a16:creationId xmlns:a16="http://schemas.microsoft.com/office/drawing/2014/main" id="{EA4FC5CC-501D-4464-81A6-D5D9F76AD856}"/>
              </a:ext>
            </a:extLst>
          </p:cNvPr>
          <p:cNvSpPr>
            <a:spLocks noGrp="1"/>
          </p:cNvSpPr>
          <p:nvPr/>
        </p:nvSpPr>
        <p:spPr>
          <a:xfrm>
            <a:off x="6572250" y="5010150"/>
            <a:ext cx="3714750" cy="342900"/>
          </a:xfrm>
          <a:prstGeom prst="rect">
            <a:avLst/>
          </a:prstGeom>
          <a:noFill/>
          <a:ln w="0">
            <a:noFill/>
          </a:ln>
        </p:spPr>
        <p:txBody>
          <a:bodyPr anchor="t">
            <a:normAutofit fontScale="61111"/>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Structured LLM extraction and LangSmith evaluation keep the same human gate.</a:t>
            </a:r>
          </a:p>
        </p:txBody>
      </p:sp>
      <p:sp>
        <p:nvSpPr>
          <p:cNvPr id="40" name="Rectángulo 39">
            <a:extLst>
              <a:ext uri="{FF2B5EF4-FFF2-40B4-BE49-F238E27FC236}">
                <a16:creationId xmlns:a16="http://schemas.microsoft.com/office/drawing/2014/main" id="{7BC81AF3-ADF8-46A8-91EE-29517AB3CC04}"/>
              </a:ext>
            </a:extLst>
          </p:cNvPr>
          <p:cNvSpPr>
            <a:spLocks noGrp="1"/>
          </p:cNvSpPr>
          <p:nvPr/>
        </p:nvSpPr>
        <p:spPr>
          <a:xfrm>
            <a:off x="3476625" y="5657850"/>
            <a:ext cx="5238750" cy="247650"/>
          </a:xfrm>
          <a:prstGeom prst="rect">
            <a:avLst/>
          </a:prstGeom>
          <a:noFill/>
          <a:ln w="0">
            <a:noFill/>
          </a:ln>
        </p:spPr>
        <p:txBody>
          <a:bodyPr anchor="t">
            <a:normAutofit fontScale="85417"/>
          </a:bodyPr>
          <a:lstStyle/>
          <a:p>
            <a:pPr algn="ctr">
              <a:defRPr sz="1200" b="1" i="0">
                <a:solidFill>
                  <a:srgbClr val="A64235"/>
                </a:solidFill>
                <a:latin typeface="DejaVu Sans"/>
                <a:ea typeface="DejaVu Sans"/>
                <a:cs typeface="DejaVu Sans"/>
              </a:defRPr>
            </a:pPr>
            <a:r>
              <a:rPr sz="1200" b="1" i="0">
                <a:solidFill>
                  <a:srgbClr val="A64235"/>
                </a:solidFill>
                <a:latin typeface="DejaVu Sans"/>
                <a:ea typeface="DejaVu Sans"/>
                <a:cs typeface="DejaVu Sans"/>
              </a:rPr>
              <a:t>No automated outbound message during the pilot</a:t>
            </a:r>
          </a:p>
        </p:txBody>
      </p:sp>
    </p:spTree>
    <p:extLst>
      <p:ext uri="{BB962C8B-B14F-4D97-AF65-F5344CB8AC3E}">
        <p14:creationId xmlns:p14="http://schemas.microsoft.com/office/powerpoint/2010/main" val="98827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10A9E57F-DFA9-4C33-8FDF-9D5BB6ABAD0D}"/>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0CF49C34-06AC-4D35-B578-BF489E6F8C6A}"/>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WORKING POC · N8N + BROWSER DEMO</a:t>
            </a:r>
          </a:p>
        </p:txBody>
      </p:sp>
      <p:sp>
        <p:nvSpPr>
          <p:cNvPr id="3" name="Rectángulo 2">
            <a:extLst>
              <a:ext uri="{FF2B5EF4-FFF2-40B4-BE49-F238E27FC236}">
                <a16:creationId xmlns:a16="http://schemas.microsoft.com/office/drawing/2014/main" id="{23330796-387D-4C2C-B93D-0AB5145423C0}"/>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The sample lead produces one clear recommendation</a:t>
            </a:r>
          </a:p>
        </p:txBody>
      </p:sp>
      <p:sp>
        <p:nvSpPr>
          <p:cNvPr id="4" name="Rectángulo 3">
            <a:extLst>
              <a:ext uri="{FF2B5EF4-FFF2-40B4-BE49-F238E27FC236}">
                <a16:creationId xmlns:a16="http://schemas.microsoft.com/office/drawing/2014/main" id="{2CF1E071-E8FE-4789-8F2D-7676BAB40560}"/>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11</a:t>
            </a:r>
          </a:p>
        </p:txBody>
      </p:sp>
      <p:sp>
        <p:nvSpPr>
          <p:cNvPr id="5" name="Rectángulo 4">
            <a:extLst>
              <a:ext uri="{FF2B5EF4-FFF2-40B4-BE49-F238E27FC236}">
                <a16:creationId xmlns:a16="http://schemas.microsoft.com/office/drawing/2014/main" id="{49421B08-E860-4992-A4E8-84BD95EB8D4B}"/>
              </a:ext>
            </a:extLst>
          </p:cNvPr>
          <p:cNvSpPr>
            <a:spLocks noGrp="1"/>
          </p:cNvSpPr>
          <p:nvPr/>
        </p:nvSpPr>
        <p:spPr>
          <a:xfrm>
            <a:off x="609600" y="1304925"/>
            <a:ext cx="10972800" cy="9525"/>
          </a:xfrm>
          <a:prstGeom prst="rect">
            <a:avLst/>
          </a:prstGeom>
          <a:solidFill>
            <a:srgbClr val="D8D1C4"/>
          </a:solidFill>
          <a:ln w="0">
            <a:noFill/>
          </a:ln>
        </p:spPr>
      </p:sp>
      <p:sp>
        <p:nvSpPr>
          <p:cNvPr id="6" name="Rectángulo: esquinas redondeadas 5">
            <a:extLst>
              <a:ext uri="{FF2B5EF4-FFF2-40B4-BE49-F238E27FC236}">
                <a16:creationId xmlns:a16="http://schemas.microsoft.com/office/drawing/2014/main" id="{86BC7357-6E73-4D19-9758-B451552052E9}"/>
              </a:ext>
            </a:extLst>
          </p:cNvPr>
          <p:cNvSpPr>
            <a:spLocks noGrp="1"/>
          </p:cNvSpPr>
          <p:nvPr/>
        </p:nvSpPr>
        <p:spPr>
          <a:xfrm>
            <a:off x="666750" y="1581150"/>
            <a:ext cx="4333875" cy="4143375"/>
          </a:xfrm>
          <a:prstGeom prst="roundRect">
            <a:avLst>
              <a:gd name="adj" fmla="val 4138"/>
            </a:avLst>
          </a:prstGeom>
          <a:solidFill>
            <a:srgbClr val="17324D"/>
          </a:solidFill>
          <a:ln w="0">
            <a:noFill/>
          </a:ln>
        </p:spPr>
      </p:sp>
      <p:sp>
        <p:nvSpPr>
          <p:cNvPr id="7" name="Rectángulo: esquinas redondeadas 6">
            <a:extLst>
              <a:ext uri="{FF2B5EF4-FFF2-40B4-BE49-F238E27FC236}">
                <a16:creationId xmlns:a16="http://schemas.microsoft.com/office/drawing/2014/main" id="{B11DC299-EE3C-4951-BA5E-5EC68BEBEB46}"/>
              </a:ext>
            </a:extLst>
          </p:cNvPr>
          <p:cNvSpPr>
            <a:spLocks noGrp="1"/>
          </p:cNvSpPr>
          <p:nvPr/>
        </p:nvSpPr>
        <p:spPr>
          <a:xfrm>
            <a:off x="933450" y="1847850"/>
            <a:ext cx="857250" cy="266700"/>
          </a:xfrm>
          <a:prstGeom prst="roundRect">
            <a:avLst>
              <a:gd name="adj" fmla="val 42857"/>
            </a:avLst>
          </a:prstGeom>
          <a:solidFill>
            <a:srgbClr val="F5E3DC"/>
          </a:solidFill>
          <a:ln w="0">
            <a:noFill/>
          </a:ln>
        </p:spPr>
        <p:txBody>
          <a:bodyPr anchor="ctr">
            <a:normAutofit fontScale="78963"/>
          </a:bodyPr>
          <a:lstStyle/>
          <a:p>
            <a:pPr algn="ctr">
              <a:defRPr sz="900" b="1" i="0">
                <a:solidFill>
                  <a:srgbClr val="C96A4B"/>
                </a:solidFill>
                <a:latin typeface="DejaVu Sans"/>
                <a:ea typeface="DejaVu Sans"/>
                <a:cs typeface="DejaVu Sans"/>
              </a:defRPr>
            </a:pPr>
            <a:r>
              <a:rPr sz="900" b="1" i="0">
                <a:solidFill>
                  <a:srgbClr val="C96A4B"/>
                </a:solidFill>
                <a:latin typeface="DejaVu Sans"/>
                <a:ea typeface="DejaVu Sans"/>
                <a:cs typeface="DejaVu Sans"/>
              </a:rPr>
              <a:t>INPUT</a:t>
            </a:r>
          </a:p>
        </p:txBody>
      </p:sp>
      <p:sp>
        <p:nvSpPr>
          <p:cNvPr id="8" name="Rectángulo 7">
            <a:extLst>
              <a:ext uri="{FF2B5EF4-FFF2-40B4-BE49-F238E27FC236}">
                <a16:creationId xmlns:a16="http://schemas.microsoft.com/office/drawing/2014/main" id="{55A52D26-AE81-4577-8CE8-43FFF4A40247}"/>
              </a:ext>
            </a:extLst>
          </p:cNvPr>
          <p:cNvSpPr>
            <a:spLocks noGrp="1"/>
          </p:cNvSpPr>
          <p:nvPr/>
        </p:nvSpPr>
        <p:spPr>
          <a:xfrm>
            <a:off x="952500" y="2343150"/>
            <a:ext cx="3733800" cy="1390650"/>
          </a:xfrm>
          <a:prstGeom prst="rect">
            <a:avLst/>
          </a:prstGeom>
          <a:noFill/>
          <a:ln w="0">
            <a:noFill/>
          </a:ln>
        </p:spPr>
        <p:txBody>
          <a:bodyPr anchor="t">
            <a:normAutofit/>
          </a:bodyPr>
          <a:lstStyle/>
          <a:p>
            <a:pPr algn="l">
              <a:defRPr sz="1500" b="0" i="1">
                <a:solidFill>
                  <a:srgbClr val="FFFFFF"/>
                </a:solidFill>
                <a:latin typeface="DejaVu Serif"/>
                <a:ea typeface="DejaVu Serif"/>
                <a:cs typeface="DejaVu Serif"/>
              </a:defRPr>
            </a:pPr>
            <a:r>
              <a:rPr sz="1500" b="0" i="1">
                <a:solidFill>
                  <a:srgbClr val="FFFFFF"/>
                </a:solidFill>
                <a:latin typeface="DejaVu Serif"/>
                <a:ea typeface="DejaVu Serif"/>
                <a:cs typeface="DejaVu Serif"/>
              </a:rPr>
              <a:t>Hi, I’m looking for a 2-bedroom apartment in Palma with a budget of €800,000. I would like to buy within the next three months.</a:t>
            </a:r>
          </a:p>
        </p:txBody>
      </p:sp>
      <p:sp>
        <p:nvSpPr>
          <p:cNvPr id="9" name="Rectángulo 8">
            <a:extLst>
              <a:ext uri="{FF2B5EF4-FFF2-40B4-BE49-F238E27FC236}">
                <a16:creationId xmlns:a16="http://schemas.microsoft.com/office/drawing/2014/main" id="{A92BC1F2-B0DF-4A37-A158-831298E34FFE}"/>
              </a:ext>
            </a:extLst>
          </p:cNvPr>
          <p:cNvSpPr>
            <a:spLocks noGrp="1"/>
          </p:cNvSpPr>
          <p:nvPr/>
        </p:nvSpPr>
        <p:spPr>
          <a:xfrm>
            <a:off x="971550" y="4095750"/>
            <a:ext cx="1619250" cy="209550"/>
          </a:xfrm>
          <a:prstGeom prst="rect">
            <a:avLst/>
          </a:prstGeom>
          <a:noFill/>
          <a:ln w="0">
            <a:noFill/>
          </a:ln>
        </p:spPr>
        <p:txBody>
          <a:bodyPr anchor="t">
            <a:normAutofit fontScale="86111"/>
          </a:bodyPr>
          <a:lstStyle/>
          <a:p>
            <a:pPr algn="l">
              <a:defRPr sz="900" b="1" i="0">
                <a:solidFill>
                  <a:srgbClr val="DCEAE7"/>
                </a:solidFill>
                <a:latin typeface="DejaVu Sans"/>
                <a:ea typeface="DejaVu Sans"/>
                <a:cs typeface="DejaVu Sans"/>
              </a:defRPr>
            </a:pPr>
            <a:r>
              <a:rPr sz="900" b="1" i="0">
                <a:solidFill>
                  <a:srgbClr val="DCEAE7"/>
                </a:solidFill>
                <a:latin typeface="DejaVu Sans"/>
                <a:ea typeface="DejaVu Sans"/>
                <a:cs typeface="DejaVu Sans"/>
              </a:rPr>
              <a:t>Detected language</a:t>
            </a:r>
          </a:p>
        </p:txBody>
      </p:sp>
      <p:sp>
        <p:nvSpPr>
          <p:cNvPr id="10" name="Rectángulo 9">
            <a:extLst>
              <a:ext uri="{FF2B5EF4-FFF2-40B4-BE49-F238E27FC236}">
                <a16:creationId xmlns:a16="http://schemas.microsoft.com/office/drawing/2014/main" id="{D5805555-A84B-44E1-B20F-06756BA06E8F}"/>
              </a:ext>
            </a:extLst>
          </p:cNvPr>
          <p:cNvSpPr>
            <a:spLocks noGrp="1"/>
          </p:cNvSpPr>
          <p:nvPr/>
        </p:nvSpPr>
        <p:spPr>
          <a:xfrm>
            <a:off x="981075" y="4362450"/>
            <a:ext cx="1619250" cy="285750"/>
          </a:xfrm>
          <a:prstGeom prst="rect">
            <a:avLst/>
          </a:prstGeom>
          <a:noFill/>
          <a:ln w="0">
            <a:noFill/>
          </a:ln>
        </p:spPr>
        <p:txBody>
          <a:bodyPr anchor="t">
            <a:normAutofit fontScale="85000"/>
          </a:bodyPr>
          <a:lstStyle/>
          <a:p>
            <a:pPr algn="l">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English</a:t>
            </a:r>
          </a:p>
        </p:txBody>
      </p:sp>
      <p:sp>
        <p:nvSpPr>
          <p:cNvPr id="11" name="Rectángulo 10">
            <a:extLst>
              <a:ext uri="{FF2B5EF4-FFF2-40B4-BE49-F238E27FC236}">
                <a16:creationId xmlns:a16="http://schemas.microsoft.com/office/drawing/2014/main" id="{21732432-2022-47F3-ABDA-8A4E1204A2EA}"/>
              </a:ext>
            </a:extLst>
          </p:cNvPr>
          <p:cNvSpPr>
            <a:spLocks noGrp="1"/>
          </p:cNvSpPr>
          <p:nvPr/>
        </p:nvSpPr>
        <p:spPr>
          <a:xfrm>
            <a:off x="2905125" y="4095750"/>
            <a:ext cx="1428750" cy="209550"/>
          </a:xfrm>
          <a:prstGeom prst="rect">
            <a:avLst/>
          </a:prstGeom>
          <a:noFill/>
          <a:ln w="0">
            <a:noFill/>
          </a:ln>
        </p:spPr>
        <p:txBody>
          <a:bodyPr anchor="t">
            <a:normAutofit fontScale="86111"/>
          </a:bodyPr>
          <a:lstStyle/>
          <a:p>
            <a:pPr algn="l">
              <a:defRPr sz="900" b="1" i="0">
                <a:solidFill>
                  <a:srgbClr val="DCEAE7"/>
                </a:solidFill>
                <a:latin typeface="DejaVu Sans"/>
                <a:ea typeface="DejaVu Sans"/>
                <a:cs typeface="DejaVu Sans"/>
              </a:defRPr>
            </a:pPr>
            <a:r>
              <a:rPr sz="900" b="1" i="0">
                <a:solidFill>
                  <a:srgbClr val="DCEAE7"/>
                </a:solidFill>
                <a:latin typeface="DejaVu Sans"/>
                <a:ea typeface="DejaVu Sans"/>
                <a:cs typeface="DejaVu Sans"/>
              </a:rPr>
              <a:t>Lead score</a:t>
            </a:r>
          </a:p>
        </p:txBody>
      </p:sp>
      <p:sp>
        <p:nvSpPr>
          <p:cNvPr id="12" name="Rectángulo 11">
            <a:extLst>
              <a:ext uri="{FF2B5EF4-FFF2-40B4-BE49-F238E27FC236}">
                <a16:creationId xmlns:a16="http://schemas.microsoft.com/office/drawing/2014/main" id="{21FB9921-4CBD-4C8B-813F-E72D88BA1942}"/>
              </a:ext>
            </a:extLst>
          </p:cNvPr>
          <p:cNvSpPr>
            <a:spLocks noGrp="1"/>
          </p:cNvSpPr>
          <p:nvPr/>
        </p:nvSpPr>
        <p:spPr>
          <a:xfrm>
            <a:off x="2905125" y="4362450"/>
            <a:ext cx="1619250" cy="285750"/>
          </a:xfrm>
          <a:prstGeom prst="rect">
            <a:avLst/>
          </a:prstGeom>
          <a:noFill/>
          <a:ln w="0">
            <a:noFill/>
          </a:ln>
        </p:spPr>
        <p:txBody>
          <a:bodyPr anchor="t">
            <a:normAutofit fontScale="85000"/>
          </a:bodyPr>
          <a:lstStyle/>
          <a:p>
            <a:pPr algn="l">
              <a:defRPr sz="1500" b="1" i="0">
                <a:solidFill>
                  <a:srgbClr val="C96A4B"/>
                </a:solidFill>
                <a:latin typeface="DejaVu Sans"/>
                <a:ea typeface="DejaVu Sans"/>
                <a:cs typeface="DejaVu Sans"/>
              </a:defRPr>
            </a:pPr>
            <a:r>
              <a:rPr sz="1500" b="1" i="0">
                <a:solidFill>
                  <a:srgbClr val="C96A4B"/>
                </a:solidFill>
                <a:latin typeface="DejaVu Sans"/>
                <a:ea typeface="DejaVu Sans"/>
                <a:cs typeface="DejaVu Sans"/>
              </a:rPr>
              <a:t>100 / 100</a:t>
            </a:r>
          </a:p>
        </p:txBody>
      </p:sp>
      <p:sp>
        <p:nvSpPr>
          <p:cNvPr id="13" name="Rectángulo 12">
            <a:extLst>
              <a:ext uri="{FF2B5EF4-FFF2-40B4-BE49-F238E27FC236}">
                <a16:creationId xmlns:a16="http://schemas.microsoft.com/office/drawing/2014/main" id="{A80293F0-E11E-470D-8C0D-7C1355375356}"/>
              </a:ext>
            </a:extLst>
          </p:cNvPr>
          <p:cNvSpPr>
            <a:spLocks noGrp="1"/>
          </p:cNvSpPr>
          <p:nvPr/>
        </p:nvSpPr>
        <p:spPr>
          <a:xfrm>
            <a:off x="971550" y="5076825"/>
            <a:ext cx="3333750" cy="285750"/>
          </a:xfrm>
          <a:prstGeom prst="rect">
            <a:avLst/>
          </a:prstGeom>
          <a:noFill/>
          <a:ln w="0">
            <a:noFill/>
          </a:ln>
        </p:spPr>
        <p:txBody>
          <a:bodyPr anchor="t">
            <a:normAutofit/>
          </a:bodyPr>
          <a:lstStyle/>
          <a:p>
            <a:pPr algn="l">
              <a:defRPr sz="1200" b="1" i="0">
                <a:solidFill>
                  <a:srgbClr val="DCEAE7"/>
                </a:solidFill>
                <a:latin typeface="DejaVu Sans"/>
                <a:ea typeface="DejaVu Sans"/>
                <a:cs typeface="DejaVu Sans"/>
              </a:defRPr>
            </a:pPr>
            <a:r>
              <a:rPr sz="1200" b="1" i="0">
                <a:solidFill>
                  <a:srgbClr val="DCEAE7"/>
                </a:solidFill>
                <a:latin typeface="DejaVu Sans"/>
                <a:ea typeface="DejaVu Sans"/>
                <a:cs typeface="DejaVu Sans"/>
              </a:rPr>
              <a:t>Status: Awaiting agent approval</a:t>
            </a:r>
          </a:p>
        </p:txBody>
      </p:sp>
      <p:sp>
        <p:nvSpPr>
          <p:cNvPr id="14" name="Rectángulo 13">
            <a:extLst>
              <a:ext uri="{FF2B5EF4-FFF2-40B4-BE49-F238E27FC236}">
                <a16:creationId xmlns:a16="http://schemas.microsoft.com/office/drawing/2014/main" id="{E2F7CCEF-E5A3-4DDA-955C-AEC3A2A54533}"/>
              </a:ext>
            </a:extLst>
          </p:cNvPr>
          <p:cNvSpPr>
            <a:spLocks noGrp="1"/>
          </p:cNvSpPr>
          <p:nvPr/>
        </p:nvSpPr>
        <p:spPr>
          <a:xfrm>
            <a:off x="5810250" y="1600200"/>
            <a:ext cx="3333750" cy="304800"/>
          </a:xfrm>
          <a:prstGeom prst="rect">
            <a:avLst/>
          </a:prstGeom>
          <a:noFill/>
          <a:ln w="0">
            <a:noFill/>
          </a:ln>
        </p:spPr>
        <p:txBody>
          <a:bodyPr anchor="t">
            <a:normAutofit/>
          </a:bodyPr>
          <a:lstStyle/>
          <a:p>
            <a:pPr algn="l">
              <a:defRPr sz="1350" b="1" i="0">
                <a:solidFill>
                  <a:srgbClr val="C96A4B"/>
                </a:solidFill>
                <a:latin typeface="DejaVu Sans"/>
                <a:ea typeface="DejaVu Sans"/>
                <a:cs typeface="DejaVu Sans"/>
              </a:defRPr>
            </a:pPr>
            <a:r>
              <a:rPr sz="1350" b="1" i="0">
                <a:solidFill>
                  <a:srgbClr val="C96A4B"/>
                </a:solidFill>
                <a:latin typeface="DejaVu Sans"/>
                <a:ea typeface="DejaVu Sans"/>
                <a:cs typeface="DejaVu Sans"/>
              </a:rPr>
              <a:t>Recommended listing</a:t>
            </a:r>
          </a:p>
        </p:txBody>
      </p:sp>
      <p:sp>
        <p:nvSpPr>
          <p:cNvPr id="15" name="Rectángulo: esquinas redondeadas 14">
            <a:extLst>
              <a:ext uri="{FF2B5EF4-FFF2-40B4-BE49-F238E27FC236}">
                <a16:creationId xmlns:a16="http://schemas.microsoft.com/office/drawing/2014/main" id="{2CB9AEE2-6525-421B-9311-04CE1D38ADAB}"/>
              </a:ext>
            </a:extLst>
          </p:cNvPr>
          <p:cNvSpPr>
            <a:spLocks noGrp="1"/>
          </p:cNvSpPr>
          <p:nvPr/>
        </p:nvSpPr>
        <p:spPr>
          <a:xfrm>
            <a:off x="5810250" y="2057400"/>
            <a:ext cx="5334000" cy="2381250"/>
          </a:xfrm>
          <a:prstGeom prst="roundRect">
            <a:avLst>
              <a:gd name="adj" fmla="val 7200"/>
            </a:avLst>
          </a:prstGeom>
          <a:solidFill>
            <a:srgbClr val="FFFFFF"/>
          </a:solidFill>
          <a:ln w="9525">
            <a:solidFill>
              <a:srgbClr val="D8D1C4"/>
            </a:solidFill>
            <a:prstDash val="solid"/>
          </a:ln>
        </p:spPr>
      </p:sp>
      <p:sp>
        <p:nvSpPr>
          <p:cNvPr id="16" name="Rectángulo: esquinas redondeadas 15">
            <a:extLst>
              <a:ext uri="{FF2B5EF4-FFF2-40B4-BE49-F238E27FC236}">
                <a16:creationId xmlns:a16="http://schemas.microsoft.com/office/drawing/2014/main" id="{12D9B047-F8B2-4F4F-9EE5-168AFC053123}"/>
              </a:ext>
            </a:extLst>
          </p:cNvPr>
          <p:cNvSpPr>
            <a:spLocks noGrp="1"/>
          </p:cNvSpPr>
          <p:nvPr/>
        </p:nvSpPr>
        <p:spPr>
          <a:xfrm>
            <a:off x="5810250" y="2057400"/>
            <a:ext cx="1524000" cy="2381250"/>
          </a:xfrm>
          <a:prstGeom prst="roundRect">
            <a:avLst>
              <a:gd name="adj" fmla="val 11250"/>
            </a:avLst>
          </a:prstGeom>
          <a:solidFill>
            <a:srgbClr val="DCEAE7"/>
          </a:solidFill>
          <a:ln w="0">
            <a:noFill/>
          </a:ln>
        </p:spPr>
      </p:sp>
      <p:sp>
        <p:nvSpPr>
          <p:cNvPr id="17" name="Rectángulo 16">
            <a:extLst>
              <a:ext uri="{FF2B5EF4-FFF2-40B4-BE49-F238E27FC236}">
                <a16:creationId xmlns:a16="http://schemas.microsoft.com/office/drawing/2014/main" id="{3EF6A37C-3DF0-43FD-BABB-FF2C59513DB2}"/>
              </a:ext>
            </a:extLst>
          </p:cNvPr>
          <p:cNvSpPr>
            <a:spLocks noGrp="1"/>
          </p:cNvSpPr>
          <p:nvPr/>
        </p:nvSpPr>
        <p:spPr>
          <a:xfrm>
            <a:off x="6019800" y="2362200"/>
            <a:ext cx="1095375" cy="285750"/>
          </a:xfrm>
          <a:prstGeom prst="rect">
            <a:avLst/>
          </a:prstGeom>
          <a:noFill/>
          <a:ln w="0">
            <a:noFill/>
          </a:ln>
        </p:spPr>
        <p:txBody>
          <a:bodyPr anchor="t">
            <a:normAutofit/>
          </a:bodyPr>
          <a:lstStyle/>
          <a:p>
            <a:pPr algn="ctr">
              <a:defRPr sz="1125" b="1" i="0">
                <a:solidFill>
                  <a:srgbClr val="1C7180"/>
                </a:solidFill>
                <a:latin typeface="DejaVu Sans"/>
                <a:ea typeface="DejaVu Sans"/>
                <a:cs typeface="DejaVu Sans"/>
              </a:defRPr>
            </a:pPr>
            <a:r>
              <a:rPr sz="1125" b="1" i="0">
                <a:solidFill>
                  <a:srgbClr val="1C7180"/>
                </a:solidFill>
                <a:latin typeface="DejaVu Sans"/>
                <a:ea typeface="DejaVu Sans"/>
                <a:cs typeface="DejaVu Sans"/>
              </a:rPr>
              <a:t>PM-101</a:t>
            </a:r>
          </a:p>
        </p:txBody>
      </p:sp>
      <p:sp>
        <p:nvSpPr>
          <p:cNvPr id="18" name="Rectángulo 17">
            <a:extLst>
              <a:ext uri="{FF2B5EF4-FFF2-40B4-BE49-F238E27FC236}">
                <a16:creationId xmlns:a16="http://schemas.microsoft.com/office/drawing/2014/main" id="{55521264-20CF-4939-8A89-186748E1A53B}"/>
              </a:ext>
            </a:extLst>
          </p:cNvPr>
          <p:cNvSpPr>
            <a:spLocks noGrp="1"/>
          </p:cNvSpPr>
          <p:nvPr/>
        </p:nvSpPr>
        <p:spPr>
          <a:xfrm>
            <a:off x="6019800" y="2895600"/>
            <a:ext cx="1095375" cy="323850"/>
          </a:xfrm>
          <a:prstGeom prst="rect">
            <a:avLst/>
          </a:prstGeom>
          <a:noFill/>
          <a:ln w="0">
            <a:noFill/>
          </a:ln>
        </p:spPr>
        <p:txBody>
          <a:bodyPr anchor="t">
            <a:normAutofit fontScale="92424"/>
          </a:bodyPr>
          <a:lstStyle/>
          <a:p>
            <a:pPr algn="ctr">
              <a:defRPr sz="1650" b="1" i="0">
                <a:solidFill>
                  <a:srgbClr val="17324D"/>
                </a:solidFill>
                <a:latin typeface="DejaVu Serif"/>
                <a:ea typeface="DejaVu Serif"/>
                <a:cs typeface="DejaVu Serif"/>
              </a:defRPr>
            </a:pPr>
            <a:r>
              <a:rPr sz="1650" b="1" i="0">
                <a:solidFill>
                  <a:srgbClr val="17324D"/>
                </a:solidFill>
                <a:latin typeface="DejaVu Serif"/>
                <a:ea typeface="DejaVu Serif"/>
                <a:cs typeface="DejaVu Serif"/>
              </a:rPr>
              <a:t>PALMA</a:t>
            </a:r>
          </a:p>
        </p:txBody>
      </p:sp>
      <p:sp>
        <p:nvSpPr>
          <p:cNvPr id="19" name="Rectángulo 18">
            <a:extLst>
              <a:ext uri="{FF2B5EF4-FFF2-40B4-BE49-F238E27FC236}">
                <a16:creationId xmlns:a16="http://schemas.microsoft.com/office/drawing/2014/main" id="{2D9FB863-49E3-4660-AE38-573217FCDFA7}"/>
              </a:ext>
            </a:extLst>
          </p:cNvPr>
          <p:cNvSpPr>
            <a:spLocks noGrp="1"/>
          </p:cNvSpPr>
          <p:nvPr/>
        </p:nvSpPr>
        <p:spPr>
          <a:xfrm>
            <a:off x="6019800" y="3448050"/>
            <a:ext cx="1095375" cy="266700"/>
          </a:xfrm>
          <a:prstGeom prst="rect">
            <a:avLst/>
          </a:prstGeom>
          <a:noFill/>
          <a:ln w="0">
            <a:noFill/>
          </a:ln>
        </p:spPr>
        <p:txBody>
          <a:bodyPr anchor="t">
            <a:normAutofit/>
          </a:bodyPr>
          <a:lstStyle/>
          <a:p>
            <a:pPr algn="ctr">
              <a:defRPr sz="1050" b="1" i="0">
                <a:solidFill>
                  <a:srgbClr val="C96A4B"/>
                </a:solidFill>
                <a:latin typeface="DejaVu Sans"/>
                <a:ea typeface="DejaVu Sans"/>
                <a:cs typeface="DejaVu Sans"/>
              </a:defRPr>
            </a:pPr>
            <a:r>
              <a:rPr sz="1050" b="1" i="0">
                <a:solidFill>
                  <a:srgbClr val="C96A4B"/>
                </a:solidFill>
                <a:latin typeface="DejaVu Sans"/>
                <a:ea typeface="DejaVu Sans"/>
                <a:cs typeface="DejaVu Sans"/>
              </a:rPr>
              <a:t>2 BED</a:t>
            </a:r>
          </a:p>
        </p:txBody>
      </p:sp>
      <p:sp>
        <p:nvSpPr>
          <p:cNvPr id="20" name="Rectángulo 19">
            <a:extLst>
              <a:ext uri="{FF2B5EF4-FFF2-40B4-BE49-F238E27FC236}">
                <a16:creationId xmlns:a16="http://schemas.microsoft.com/office/drawing/2014/main" id="{A84F8D06-4E13-4888-BBB1-649EB10A7901}"/>
              </a:ext>
            </a:extLst>
          </p:cNvPr>
          <p:cNvSpPr>
            <a:spLocks noGrp="1"/>
          </p:cNvSpPr>
          <p:nvPr/>
        </p:nvSpPr>
        <p:spPr>
          <a:xfrm>
            <a:off x="7677150" y="2343150"/>
            <a:ext cx="3048000" cy="495300"/>
          </a:xfrm>
          <a:prstGeom prst="rect">
            <a:avLst/>
          </a:prstGeom>
          <a:noFill/>
          <a:ln w="0">
            <a:noFill/>
          </a:ln>
        </p:spPr>
        <p:txBody>
          <a:bodyPr anchor="t">
            <a:normAutofit fontScale="78502"/>
          </a:bodyPr>
          <a:lstStyle/>
          <a:p>
            <a:pPr algn="l">
              <a:defRPr sz="1875" b="1" i="0">
                <a:solidFill>
                  <a:srgbClr val="17324D"/>
                </a:solidFill>
                <a:latin typeface="DejaVu Serif"/>
                <a:ea typeface="DejaVu Serif"/>
                <a:cs typeface="DejaVu Serif"/>
              </a:defRPr>
            </a:pPr>
            <a:r>
              <a:rPr sz="1875" b="1" i="0">
                <a:solidFill>
                  <a:srgbClr val="17324D"/>
                </a:solidFill>
                <a:latin typeface="DejaVu Serif"/>
                <a:ea typeface="DejaVu Serif"/>
                <a:cs typeface="DejaVu Serif"/>
              </a:rPr>
              <a:t>Palma Old Town Apartment</a:t>
            </a:r>
          </a:p>
        </p:txBody>
      </p:sp>
      <p:sp>
        <p:nvSpPr>
          <p:cNvPr id="21" name="Rectángulo 20">
            <a:extLst>
              <a:ext uri="{FF2B5EF4-FFF2-40B4-BE49-F238E27FC236}">
                <a16:creationId xmlns:a16="http://schemas.microsoft.com/office/drawing/2014/main" id="{482DC52D-0587-4888-A133-78B70398F655}"/>
              </a:ext>
            </a:extLst>
          </p:cNvPr>
          <p:cNvSpPr>
            <a:spLocks noGrp="1"/>
          </p:cNvSpPr>
          <p:nvPr/>
        </p:nvSpPr>
        <p:spPr>
          <a:xfrm>
            <a:off x="7677150" y="3048000"/>
            <a:ext cx="2286000" cy="361950"/>
          </a:xfrm>
          <a:prstGeom prst="rect">
            <a:avLst/>
          </a:prstGeom>
          <a:noFill/>
          <a:ln w="0">
            <a:noFill/>
          </a:ln>
        </p:spPr>
        <p:txBody>
          <a:bodyPr anchor="t">
            <a:normAutofit fontScale="87654"/>
          </a:bodyPr>
          <a:lstStyle/>
          <a:p>
            <a:pPr algn="l">
              <a:defRPr sz="2025" b="1" i="0">
                <a:solidFill>
                  <a:srgbClr val="1C7180"/>
                </a:solidFill>
                <a:latin typeface="DejaVu Sans"/>
                <a:ea typeface="DejaVu Sans"/>
                <a:cs typeface="DejaVu Sans"/>
              </a:defRPr>
            </a:pPr>
            <a:r>
              <a:rPr sz="2025" b="1" i="0">
                <a:solidFill>
                  <a:srgbClr val="1C7180"/>
                </a:solidFill>
                <a:latin typeface="DejaVu Sans"/>
                <a:ea typeface="DejaVu Sans"/>
                <a:cs typeface="DejaVu Sans"/>
              </a:rPr>
              <a:t>€575,000</a:t>
            </a:r>
          </a:p>
        </p:txBody>
      </p:sp>
      <p:sp>
        <p:nvSpPr>
          <p:cNvPr id="22" name="Rectángulo 21">
            <a:extLst>
              <a:ext uri="{FF2B5EF4-FFF2-40B4-BE49-F238E27FC236}">
                <a16:creationId xmlns:a16="http://schemas.microsoft.com/office/drawing/2014/main" id="{7453E689-96F5-4611-BAC3-20E146D63ADC}"/>
              </a:ext>
            </a:extLst>
          </p:cNvPr>
          <p:cNvSpPr>
            <a:spLocks noGrp="1"/>
          </p:cNvSpPr>
          <p:nvPr/>
        </p:nvSpPr>
        <p:spPr>
          <a:xfrm>
            <a:off x="7677150" y="3667125"/>
            <a:ext cx="2762250" cy="247650"/>
          </a:xfrm>
          <a:prstGeom prst="rect">
            <a:avLst/>
          </a:prstGeom>
          <a:noFill/>
          <a:ln w="0">
            <a:noFill/>
          </a:ln>
        </p:spPr>
        <p:txBody>
          <a:bodyPr anchor="t">
            <a:normAutofit fontScale="91111"/>
          </a:bodyPr>
          <a:lstStyle/>
          <a:p>
            <a:pPr algn="l">
              <a:defRPr sz="1125" b="0" i="0">
                <a:solidFill>
                  <a:srgbClr val="6D7E87"/>
                </a:solidFill>
                <a:latin typeface="DejaVu Sans"/>
                <a:ea typeface="DejaVu Sans"/>
                <a:cs typeface="DejaVu Sans"/>
              </a:defRPr>
            </a:pPr>
            <a:r>
              <a:rPr sz="1125" b="0" i="0">
                <a:solidFill>
                  <a:srgbClr val="6D7E87"/>
                </a:solidFill>
                <a:latin typeface="DejaVu Sans"/>
                <a:ea typeface="DejaVu Sans"/>
                <a:cs typeface="DejaVu Sans"/>
              </a:rPr>
              <a:t>Renovated · balcony · central</a:t>
            </a:r>
          </a:p>
        </p:txBody>
      </p:sp>
      <p:sp>
        <p:nvSpPr>
          <p:cNvPr id="23" name="Rectángulo: esquinas redondeadas 22">
            <a:extLst>
              <a:ext uri="{FF2B5EF4-FFF2-40B4-BE49-F238E27FC236}">
                <a16:creationId xmlns:a16="http://schemas.microsoft.com/office/drawing/2014/main" id="{6B90660F-D766-4C8B-A792-CB10ABAE3A14}"/>
              </a:ext>
            </a:extLst>
          </p:cNvPr>
          <p:cNvSpPr>
            <a:spLocks noGrp="1"/>
          </p:cNvSpPr>
          <p:nvPr/>
        </p:nvSpPr>
        <p:spPr>
          <a:xfrm>
            <a:off x="5810250" y="4762500"/>
            <a:ext cx="5334000" cy="971550"/>
          </a:xfrm>
          <a:prstGeom prst="roundRect">
            <a:avLst>
              <a:gd name="adj" fmla="val 13725"/>
            </a:avLst>
          </a:prstGeom>
          <a:solidFill>
            <a:srgbClr val="F1E8D7"/>
          </a:solidFill>
          <a:ln w="0">
            <a:noFill/>
          </a:ln>
        </p:spPr>
      </p:sp>
      <p:sp>
        <p:nvSpPr>
          <p:cNvPr id="24" name="Rectángulo 23">
            <a:extLst>
              <a:ext uri="{FF2B5EF4-FFF2-40B4-BE49-F238E27FC236}">
                <a16:creationId xmlns:a16="http://schemas.microsoft.com/office/drawing/2014/main" id="{A6C58D81-ADF4-4753-AA09-4B266535199F}"/>
              </a:ext>
            </a:extLst>
          </p:cNvPr>
          <p:cNvSpPr>
            <a:spLocks noGrp="1"/>
          </p:cNvSpPr>
          <p:nvPr/>
        </p:nvSpPr>
        <p:spPr>
          <a:xfrm>
            <a:off x="6067425" y="4962525"/>
            <a:ext cx="1476375" cy="209550"/>
          </a:xfrm>
          <a:prstGeom prst="rect">
            <a:avLst/>
          </a:prstGeom>
          <a:noFill/>
          <a:ln w="0">
            <a:noFill/>
          </a:ln>
        </p:spPr>
        <p:txBody>
          <a:bodyPr anchor="t">
            <a:normAutofit fontScale="79487"/>
          </a:bodyPr>
          <a:lstStyle/>
          <a:p>
            <a:pPr algn="l">
              <a:defRPr sz="975" b="1" i="0">
                <a:solidFill>
                  <a:srgbClr val="C96A4B"/>
                </a:solidFill>
                <a:latin typeface="DejaVu Sans"/>
                <a:ea typeface="DejaVu Sans"/>
                <a:cs typeface="DejaVu Sans"/>
              </a:defRPr>
            </a:pPr>
            <a:r>
              <a:rPr sz="975" b="1" i="0">
                <a:solidFill>
                  <a:srgbClr val="C96A4B"/>
                </a:solidFill>
                <a:latin typeface="DejaVu Sans"/>
                <a:ea typeface="DejaVu Sans"/>
                <a:cs typeface="DejaVu Sans"/>
              </a:rPr>
              <a:t>Why it matched</a:t>
            </a:r>
          </a:p>
        </p:txBody>
      </p:sp>
      <p:sp>
        <p:nvSpPr>
          <p:cNvPr id="25" name="Rectángulo 24">
            <a:extLst>
              <a:ext uri="{FF2B5EF4-FFF2-40B4-BE49-F238E27FC236}">
                <a16:creationId xmlns:a16="http://schemas.microsoft.com/office/drawing/2014/main" id="{16835479-9748-4DF9-AC7A-18E096F897A1}"/>
              </a:ext>
            </a:extLst>
          </p:cNvPr>
          <p:cNvSpPr>
            <a:spLocks noGrp="1"/>
          </p:cNvSpPr>
          <p:nvPr/>
        </p:nvSpPr>
        <p:spPr>
          <a:xfrm>
            <a:off x="6067425" y="5276850"/>
            <a:ext cx="4714875" cy="266700"/>
          </a:xfrm>
          <a:prstGeom prst="rect">
            <a:avLst/>
          </a:prstGeom>
          <a:noFill/>
          <a:ln w="0">
            <a:noFill/>
          </a:ln>
        </p:spPr>
        <p:txBody>
          <a:bodyPr anchor="t">
            <a:normAutofit fontScale="85185"/>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Palma · apartment · 2 bedrooms · below stated budget</a:t>
            </a:r>
          </a:p>
        </p:txBody>
      </p:sp>
      <p:sp>
        <p:nvSpPr>
          <p:cNvPr id="26" name="Rectángulo 25">
            <a:extLst>
              <a:ext uri="{FF2B5EF4-FFF2-40B4-BE49-F238E27FC236}">
                <a16:creationId xmlns:a16="http://schemas.microsoft.com/office/drawing/2014/main" id="{6B1E0845-D1FB-48FB-940E-05C5618CB013}"/>
              </a:ext>
            </a:extLst>
          </p:cNvPr>
          <p:cNvSpPr>
            <a:spLocks noGrp="1"/>
          </p:cNvSpPr>
          <p:nvPr/>
        </p:nvSpPr>
        <p:spPr>
          <a:xfrm>
            <a:off x="1381125" y="6076950"/>
            <a:ext cx="9429750" cy="209550"/>
          </a:xfrm>
          <a:prstGeom prst="rect">
            <a:avLst/>
          </a:prstGeom>
          <a:noFill/>
          <a:ln w="0">
            <a:noFill/>
          </a:ln>
        </p:spPr>
        <p:txBody>
          <a:bodyPr anchor="t">
            <a:normAutofit fontScale="79487"/>
          </a:bodyPr>
          <a:lstStyle/>
          <a:p>
            <a:pPr algn="ctr">
              <a:defRPr sz="975" b="0" i="0">
                <a:solidFill>
                  <a:srgbClr val="6D7E87"/>
                </a:solidFill>
                <a:latin typeface="DejaVu Sans"/>
                <a:ea typeface="DejaVu Sans"/>
                <a:cs typeface="DejaVu Sans"/>
              </a:defRPr>
            </a:pPr>
            <a:r>
              <a:rPr sz="975" b="0" i="0">
                <a:solidFill>
                  <a:srgbClr val="6D7E87"/>
                </a:solidFill>
                <a:latin typeface="DejaVu Sans"/>
                <a:ea typeface="DejaVu Sans"/>
                <a:cs typeface="DejaVu Sans"/>
              </a:rPr>
              <a:t>Files included: importable n8n workflow, workflow documentation and standalone browser demo</a:t>
            </a:r>
          </a:p>
        </p:txBody>
      </p:sp>
    </p:spTree>
    <p:extLst>
      <p:ext uri="{BB962C8B-B14F-4D97-AF65-F5344CB8AC3E}">
        <p14:creationId xmlns:p14="http://schemas.microsoft.com/office/powerpoint/2010/main" val="1754704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53BDC7FE-F779-48DF-A1D1-F2B7020F2642}"/>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DC9E3588-172F-478A-B90C-B21FEE5C4BEC}"/>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OPPORTUNITY AND RISK MAP</a:t>
            </a:r>
          </a:p>
        </p:txBody>
      </p:sp>
      <p:sp>
        <p:nvSpPr>
          <p:cNvPr id="3" name="Rectángulo 2">
            <a:extLst>
              <a:ext uri="{FF2B5EF4-FFF2-40B4-BE49-F238E27FC236}">
                <a16:creationId xmlns:a16="http://schemas.microsoft.com/office/drawing/2014/main" id="{A05213AE-70EE-4700-8ED8-FBD9A9D1D06A}"/>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Business value depends on visible controls</a:t>
            </a:r>
          </a:p>
        </p:txBody>
      </p:sp>
      <p:sp>
        <p:nvSpPr>
          <p:cNvPr id="4" name="Rectángulo 3">
            <a:extLst>
              <a:ext uri="{FF2B5EF4-FFF2-40B4-BE49-F238E27FC236}">
                <a16:creationId xmlns:a16="http://schemas.microsoft.com/office/drawing/2014/main" id="{59285ACF-2914-4140-96D6-B5D76B53AC13}"/>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12</a:t>
            </a:r>
          </a:p>
        </p:txBody>
      </p:sp>
      <p:sp>
        <p:nvSpPr>
          <p:cNvPr id="5" name="Rectángulo 4">
            <a:extLst>
              <a:ext uri="{FF2B5EF4-FFF2-40B4-BE49-F238E27FC236}">
                <a16:creationId xmlns:a16="http://schemas.microsoft.com/office/drawing/2014/main" id="{4E77E38E-908F-48FF-9B66-8815BD9A6EE2}"/>
              </a:ext>
            </a:extLst>
          </p:cNvPr>
          <p:cNvSpPr>
            <a:spLocks noGrp="1"/>
          </p:cNvSpPr>
          <p:nvPr/>
        </p:nvSpPr>
        <p:spPr>
          <a:xfrm>
            <a:off x="609600" y="1304925"/>
            <a:ext cx="10972800" cy="9525"/>
          </a:xfrm>
          <a:prstGeom prst="rect">
            <a:avLst/>
          </a:prstGeom>
          <a:solidFill>
            <a:srgbClr val="D8D1C4"/>
          </a:solidFill>
          <a:ln w="0">
            <a:noFill/>
          </a:ln>
        </p:spPr>
      </p:sp>
      <p:graphicFrame>
        <p:nvGraphicFramePr>
          <p:cNvPr id="14" name="Tabla 13"/>
          <p:cNvGraphicFramePr/>
          <p:nvPr/>
        </p:nvGraphicFramePr>
        <p:xfrm>
          <a:off x="666750" y="1571625"/>
          <a:ext cx="10858500" cy="4000500"/>
        </p:xfrm>
        <a:graphic>
          <a:graphicData uri="http://schemas.openxmlformats.org/drawingml/2006/table">
            <a:tbl>
              <a:tblPr/>
              <a:tblGrid>
                <a:gridCol w="2190750">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tblGrid>
              <a:tr h="571500">
                <a:tc>
                  <a:txBody>
                    <a:bodyPr/>
                    <a:lstStyle/>
                    <a:p>
                      <a:r>
                        <a:t>Type</a:t>
                      </a:r>
                    </a:p>
                  </a:txBody>
                  <a:tcPr/>
                </a:tc>
                <a:tc>
                  <a:txBody>
                    <a:bodyPr/>
                    <a:lstStyle/>
                    <a:p>
                      <a:r>
                        <a:t>Business issue</a:t>
                      </a:r>
                    </a:p>
                  </a:txBody>
                  <a:tcPr/>
                </a:tc>
                <a:tc>
                  <a:txBody>
                    <a:bodyPr/>
                    <a:lstStyle/>
                    <a:p>
                      <a:r>
                        <a:t>Round 1 control</a:t>
                      </a:r>
                    </a:p>
                  </a:txBody>
                  <a:tcPr/>
                </a:tc>
                <a:extLst>
                  <a:ext uri="{0D108BD9-81ED-4DB2-BD59-A6C34878D82A}">
                    <a16:rowId xmlns:a16="http://schemas.microsoft.com/office/drawing/2014/main" val="10000"/>
                  </a:ext>
                </a:extLst>
              </a:tr>
              <a:tr h="571500">
                <a:tc>
                  <a:txBody>
                    <a:bodyPr/>
                    <a:lstStyle/>
                    <a:p>
                      <a:r>
                        <a:rPr sz="1050" b="1">
                          <a:solidFill>
                            <a:srgbClr val="145463"/>
                          </a:solidFill>
                          <a:latin typeface="DejaVu Sans"/>
                          <a:ea typeface="DejaVu Sans"/>
                          <a:cs typeface="DejaVu Sans"/>
                        </a:rPr>
                        <a:t>Opportunity</a:t>
                      </a:r>
                    </a:p>
                  </a:txBody>
                  <a:tcPr>
                    <a:solidFill>
                      <a:srgbClr val="DCEAE7"/>
                    </a:solidFill>
                  </a:tcPr>
                </a:tc>
                <a:tc>
                  <a:txBody>
                    <a:bodyPr/>
                    <a:lstStyle/>
                    <a:p>
                      <a:r>
                        <a:t>Faster first response</a:t>
                      </a:r>
                    </a:p>
                  </a:txBody>
                  <a:tcPr/>
                </a:tc>
                <a:tc>
                  <a:txBody>
                    <a:bodyPr/>
                    <a:lstStyle/>
                    <a:p>
                      <a:r>
                        <a:t>Agent reviews a prepared draft</a:t>
                      </a:r>
                    </a:p>
                  </a:txBody>
                  <a:tcPr/>
                </a:tc>
                <a:extLst>
                  <a:ext uri="{0D108BD9-81ED-4DB2-BD59-A6C34878D82A}">
                    <a16:rowId xmlns:a16="http://schemas.microsoft.com/office/drawing/2014/main" val="10001"/>
                  </a:ext>
                </a:extLst>
              </a:tr>
              <a:tr h="571500">
                <a:tc>
                  <a:txBody>
                    <a:bodyPr/>
                    <a:lstStyle/>
                    <a:p>
                      <a:r>
                        <a:rPr sz="1050" b="1">
                          <a:solidFill>
                            <a:srgbClr val="145463"/>
                          </a:solidFill>
                          <a:latin typeface="DejaVu Sans"/>
                          <a:ea typeface="DejaVu Sans"/>
                          <a:cs typeface="DejaVu Sans"/>
                        </a:rPr>
                        <a:t>Opportunity</a:t>
                      </a:r>
                    </a:p>
                  </a:txBody>
                  <a:tcPr>
                    <a:solidFill>
                      <a:srgbClr val="DCEAE7"/>
                    </a:solidFill>
                  </a:tcPr>
                </a:tc>
                <a:tc>
                  <a:txBody>
                    <a:bodyPr/>
                    <a:lstStyle/>
                    <a:p>
                      <a:r>
                        <a:rPr dirty="0"/>
                        <a:t>Consistent qualification</a:t>
                      </a:r>
                    </a:p>
                  </a:txBody>
                  <a:tcPr/>
                </a:tc>
                <a:tc>
                  <a:txBody>
                    <a:bodyPr/>
                    <a:lstStyle/>
                    <a:p>
                      <a:r>
                        <a:t>One visible field checklist and score</a:t>
                      </a:r>
                    </a:p>
                  </a:txBody>
                  <a:tcPr/>
                </a:tc>
                <a:extLst>
                  <a:ext uri="{0D108BD9-81ED-4DB2-BD59-A6C34878D82A}">
                    <a16:rowId xmlns:a16="http://schemas.microsoft.com/office/drawing/2014/main" val="10002"/>
                  </a:ext>
                </a:extLst>
              </a:tr>
              <a:tr h="571500">
                <a:tc>
                  <a:txBody>
                    <a:bodyPr/>
                    <a:lstStyle/>
                    <a:p>
                      <a:r>
                        <a:rPr sz="1050" b="1">
                          <a:solidFill>
                            <a:srgbClr val="145463"/>
                          </a:solidFill>
                          <a:latin typeface="DejaVu Sans"/>
                          <a:ea typeface="DejaVu Sans"/>
                          <a:cs typeface="DejaVu Sans"/>
                        </a:rPr>
                        <a:t>Opportunity</a:t>
                      </a:r>
                    </a:p>
                  </a:txBody>
                  <a:tcPr>
                    <a:solidFill>
                      <a:srgbClr val="DCEAE7"/>
                    </a:solidFill>
                  </a:tcPr>
                </a:tc>
                <a:tc>
                  <a:txBody>
                    <a:bodyPr/>
                    <a:lstStyle/>
                    <a:p>
                      <a:r>
                        <a:t>Relevant multilingual service</a:t>
                      </a:r>
                    </a:p>
                  </a:txBody>
                  <a:tcPr/>
                </a:tc>
                <a:tc>
                  <a:txBody>
                    <a:bodyPr/>
                    <a:lstStyle/>
                    <a:p>
                      <a:r>
                        <a:t>Same-language draft in EN, DE or ES</a:t>
                      </a:r>
                    </a:p>
                  </a:txBody>
                  <a:tcPr/>
                </a:tc>
                <a:extLst>
                  <a:ext uri="{0D108BD9-81ED-4DB2-BD59-A6C34878D82A}">
                    <a16:rowId xmlns:a16="http://schemas.microsoft.com/office/drawing/2014/main" val="10003"/>
                  </a:ext>
                </a:extLst>
              </a:tr>
              <a:tr h="571500">
                <a:tc>
                  <a:txBody>
                    <a:bodyPr/>
                    <a:lstStyle/>
                    <a:p>
                      <a:r>
                        <a:rPr sz="1050" b="1">
                          <a:solidFill>
                            <a:srgbClr val="A64235"/>
                          </a:solidFill>
                          <a:latin typeface="DejaVu Sans"/>
                          <a:ea typeface="DejaVu Sans"/>
                          <a:cs typeface="DejaVu Sans"/>
                        </a:rPr>
                        <a:t>Risk</a:t>
                      </a:r>
                    </a:p>
                  </a:txBody>
                  <a:tcPr>
                    <a:solidFill>
                      <a:srgbClr val="F5E3DC"/>
                    </a:solidFill>
                  </a:tcPr>
                </a:tc>
                <a:tc>
                  <a:txBody>
                    <a:bodyPr/>
                    <a:lstStyle/>
                    <a:p>
                      <a:r>
                        <a:t>Incorrect extraction or fabricated facts</a:t>
                      </a:r>
                    </a:p>
                  </a:txBody>
                  <a:tcPr/>
                </a:tc>
                <a:tc>
                  <a:txBody>
                    <a:bodyPr/>
                    <a:lstStyle/>
                    <a:p>
                      <a:r>
                        <a:t>Show fields, keep unknowns blank</a:t>
                      </a:r>
                    </a:p>
                  </a:txBody>
                  <a:tcPr/>
                </a:tc>
                <a:extLst>
                  <a:ext uri="{0D108BD9-81ED-4DB2-BD59-A6C34878D82A}">
                    <a16:rowId xmlns:a16="http://schemas.microsoft.com/office/drawing/2014/main" val="10004"/>
                  </a:ext>
                </a:extLst>
              </a:tr>
              <a:tr h="571500">
                <a:tc>
                  <a:txBody>
                    <a:bodyPr/>
                    <a:lstStyle/>
                    <a:p>
                      <a:r>
                        <a:rPr sz="1050" b="1">
                          <a:solidFill>
                            <a:srgbClr val="A64235"/>
                          </a:solidFill>
                          <a:latin typeface="DejaVu Sans"/>
                          <a:ea typeface="DejaVu Sans"/>
                          <a:cs typeface="DejaVu Sans"/>
                        </a:rPr>
                        <a:t>Risk</a:t>
                      </a:r>
                    </a:p>
                  </a:txBody>
                  <a:tcPr>
                    <a:solidFill>
                      <a:srgbClr val="F5E3DC"/>
                    </a:solidFill>
                  </a:tcPr>
                </a:tc>
                <a:tc>
                  <a:txBody>
                    <a:bodyPr/>
                    <a:lstStyle/>
                    <a:p>
                      <a:r>
                        <a:t>Privacy and GDPR exposure</a:t>
                      </a:r>
                    </a:p>
                  </a:txBody>
                  <a:tcPr/>
                </a:tc>
                <a:tc>
                  <a:txBody>
                    <a:bodyPr/>
                    <a:lstStyle/>
                    <a:p>
                      <a:r>
                        <a:t>Synthetic tests, minimum fields, retention plan</a:t>
                      </a:r>
                    </a:p>
                  </a:txBody>
                  <a:tcPr/>
                </a:tc>
                <a:extLst>
                  <a:ext uri="{0D108BD9-81ED-4DB2-BD59-A6C34878D82A}">
                    <a16:rowId xmlns:a16="http://schemas.microsoft.com/office/drawing/2014/main" val="10005"/>
                  </a:ext>
                </a:extLst>
              </a:tr>
              <a:tr h="571500">
                <a:tc>
                  <a:txBody>
                    <a:bodyPr/>
                    <a:lstStyle/>
                    <a:p>
                      <a:r>
                        <a:rPr sz="1050" b="1">
                          <a:solidFill>
                            <a:srgbClr val="A64235"/>
                          </a:solidFill>
                          <a:latin typeface="DejaVu Sans"/>
                          <a:ea typeface="DejaVu Sans"/>
                          <a:cs typeface="DejaVu Sans"/>
                        </a:rPr>
                        <a:t>Risk</a:t>
                      </a:r>
                    </a:p>
                  </a:txBody>
                  <a:tcPr>
                    <a:solidFill>
                      <a:srgbClr val="F5E3DC"/>
                    </a:solidFill>
                  </a:tcPr>
                </a:tc>
                <a:tc>
                  <a:txBody>
                    <a:bodyPr/>
                    <a:lstStyle/>
                    <a:p>
                      <a:r>
                        <a:t>Outdated property availability</a:t>
                      </a:r>
                    </a:p>
                  </a:txBody>
                  <a:tcPr/>
                </a:tc>
                <a:tc>
                  <a:txBody>
                    <a:bodyPr/>
                    <a:lstStyle/>
                    <a:p>
                      <a:r>
                        <a:rPr dirty="0"/>
                        <a:t>Controlled catalogue and status reconfirmation</a:t>
                      </a:r>
                    </a:p>
                  </a:txBody>
                  <a:tcPr/>
                </a:tc>
                <a:extLst>
                  <a:ext uri="{0D108BD9-81ED-4DB2-BD59-A6C34878D82A}">
                    <a16:rowId xmlns:a16="http://schemas.microsoft.com/office/drawing/2014/main" val="10006"/>
                  </a:ext>
                </a:extLst>
              </a:tr>
            </a:tbl>
          </a:graphicData>
        </a:graphic>
      </p:graphicFrame>
      <p:sp>
        <p:nvSpPr>
          <p:cNvPr id="7" name="Rectángulo: esquinas redondeadas 6">
            <a:extLst>
              <a:ext uri="{FF2B5EF4-FFF2-40B4-BE49-F238E27FC236}">
                <a16:creationId xmlns:a16="http://schemas.microsoft.com/office/drawing/2014/main" id="{10FDE760-64B2-4F21-84BF-32287E4306EE}"/>
              </a:ext>
            </a:extLst>
          </p:cNvPr>
          <p:cNvSpPr>
            <a:spLocks noGrp="1"/>
          </p:cNvSpPr>
          <p:nvPr/>
        </p:nvSpPr>
        <p:spPr>
          <a:xfrm>
            <a:off x="2247900" y="5905500"/>
            <a:ext cx="7696200" cy="400050"/>
          </a:xfrm>
          <a:prstGeom prst="roundRect">
            <a:avLst>
              <a:gd name="adj" fmla="val 23810"/>
            </a:avLst>
          </a:prstGeom>
          <a:solidFill>
            <a:srgbClr val="17324D"/>
          </a:solidFill>
          <a:ln w="0">
            <a:noFill/>
          </a:ln>
        </p:spPr>
      </p:sp>
      <p:sp>
        <p:nvSpPr>
          <p:cNvPr id="8" name="Rectángulo 7">
            <a:extLst>
              <a:ext uri="{FF2B5EF4-FFF2-40B4-BE49-F238E27FC236}">
                <a16:creationId xmlns:a16="http://schemas.microsoft.com/office/drawing/2014/main" id="{F517B9B5-7899-4314-96CF-9FAD5BCA460F}"/>
              </a:ext>
            </a:extLst>
          </p:cNvPr>
          <p:cNvSpPr>
            <a:spLocks noGrp="1"/>
          </p:cNvSpPr>
          <p:nvPr/>
        </p:nvSpPr>
        <p:spPr>
          <a:xfrm>
            <a:off x="2428875" y="5981700"/>
            <a:ext cx="7334250" cy="247650"/>
          </a:xfrm>
          <a:prstGeom prst="rect">
            <a:avLst/>
          </a:prstGeom>
          <a:noFill/>
          <a:ln w="0">
            <a:noFill/>
          </a:ln>
        </p:spPr>
        <p:txBody>
          <a:bodyPr anchor="ctr">
            <a:normAutofit fontScale="85417"/>
          </a:bodyPr>
          <a:lstStyle/>
          <a:p>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Pilot rule: the agent approves every recommendation and every outbound reply</a:t>
            </a:r>
          </a:p>
        </p:txBody>
      </p:sp>
    </p:spTree>
    <p:extLst>
      <p:ext uri="{BB962C8B-B14F-4D97-AF65-F5344CB8AC3E}">
        <p14:creationId xmlns:p14="http://schemas.microsoft.com/office/powerpoint/2010/main" val="1269007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07FDB3B1-2350-4711-8661-CC1FDDE0266F}"/>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EEC02149-4193-4EE2-9F73-2D5F7E8D9AC9}"/>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ROUND 1 EVALUATION PLAN</a:t>
            </a:r>
          </a:p>
        </p:txBody>
      </p:sp>
      <p:sp>
        <p:nvSpPr>
          <p:cNvPr id="3" name="Rectángulo 2">
            <a:extLst>
              <a:ext uri="{FF2B5EF4-FFF2-40B4-BE49-F238E27FC236}">
                <a16:creationId xmlns:a16="http://schemas.microsoft.com/office/drawing/2014/main" id="{B8B12F8D-F212-4686-A985-70EC41441D1A}"/>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Five criteria test the behaviour that matters</a:t>
            </a:r>
          </a:p>
        </p:txBody>
      </p:sp>
      <p:sp>
        <p:nvSpPr>
          <p:cNvPr id="4" name="Rectángulo 3">
            <a:extLst>
              <a:ext uri="{FF2B5EF4-FFF2-40B4-BE49-F238E27FC236}">
                <a16:creationId xmlns:a16="http://schemas.microsoft.com/office/drawing/2014/main" id="{F6B873BF-129C-4EAE-80E6-1EE41C4ACEB3}"/>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13</a:t>
            </a:r>
          </a:p>
        </p:txBody>
      </p:sp>
      <p:sp>
        <p:nvSpPr>
          <p:cNvPr id="5" name="Rectángulo 4">
            <a:extLst>
              <a:ext uri="{FF2B5EF4-FFF2-40B4-BE49-F238E27FC236}">
                <a16:creationId xmlns:a16="http://schemas.microsoft.com/office/drawing/2014/main" id="{EA07D77E-B80F-47FB-89FF-8E3385EA94FB}"/>
              </a:ext>
            </a:extLst>
          </p:cNvPr>
          <p:cNvSpPr>
            <a:spLocks noGrp="1"/>
          </p:cNvSpPr>
          <p:nvPr/>
        </p:nvSpPr>
        <p:spPr>
          <a:xfrm>
            <a:off x="609600" y="1304925"/>
            <a:ext cx="10972800" cy="9525"/>
          </a:xfrm>
          <a:prstGeom prst="rect">
            <a:avLst/>
          </a:prstGeom>
          <a:solidFill>
            <a:srgbClr val="D8D1C4"/>
          </a:solidFill>
          <a:ln w="0">
            <a:noFill/>
          </a:ln>
        </p:spPr>
      </p:sp>
      <p:sp>
        <p:nvSpPr>
          <p:cNvPr id="6" name="Rectángulo: esquinas redondeadas 5">
            <a:extLst>
              <a:ext uri="{FF2B5EF4-FFF2-40B4-BE49-F238E27FC236}">
                <a16:creationId xmlns:a16="http://schemas.microsoft.com/office/drawing/2014/main" id="{BF9AA166-40F2-4037-94F8-7BAC52AC8EE0}"/>
              </a:ext>
            </a:extLst>
          </p:cNvPr>
          <p:cNvSpPr>
            <a:spLocks noGrp="1"/>
          </p:cNvSpPr>
          <p:nvPr/>
        </p:nvSpPr>
        <p:spPr>
          <a:xfrm>
            <a:off x="666750" y="1552575"/>
            <a:ext cx="1952625"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LANGUAGE</a:t>
            </a:r>
          </a:p>
        </p:txBody>
      </p:sp>
      <p:sp>
        <p:nvSpPr>
          <p:cNvPr id="7" name="Rectángulo: esquinas redondeadas 6">
            <a:extLst>
              <a:ext uri="{FF2B5EF4-FFF2-40B4-BE49-F238E27FC236}">
                <a16:creationId xmlns:a16="http://schemas.microsoft.com/office/drawing/2014/main" id="{3613DF67-EB6A-4A51-9EDA-1B1E7E050A2E}"/>
              </a:ext>
            </a:extLst>
          </p:cNvPr>
          <p:cNvSpPr>
            <a:spLocks noGrp="1"/>
          </p:cNvSpPr>
          <p:nvPr/>
        </p:nvSpPr>
        <p:spPr>
          <a:xfrm>
            <a:off x="2819400" y="1552575"/>
            <a:ext cx="1952625"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EXTRACTION</a:t>
            </a:r>
          </a:p>
        </p:txBody>
      </p:sp>
      <p:sp>
        <p:nvSpPr>
          <p:cNvPr id="8" name="Rectángulo: esquinas redondeadas 7">
            <a:extLst>
              <a:ext uri="{FF2B5EF4-FFF2-40B4-BE49-F238E27FC236}">
                <a16:creationId xmlns:a16="http://schemas.microsoft.com/office/drawing/2014/main" id="{FB8F623D-2305-4908-8616-A196D220DBCB}"/>
              </a:ext>
            </a:extLst>
          </p:cNvPr>
          <p:cNvSpPr>
            <a:spLocks noGrp="1"/>
          </p:cNvSpPr>
          <p:nvPr/>
        </p:nvSpPr>
        <p:spPr>
          <a:xfrm>
            <a:off x="4972050" y="1552575"/>
            <a:ext cx="1952625" cy="266700"/>
          </a:xfrm>
          <a:prstGeom prst="roundRect">
            <a:avLst>
              <a:gd name="adj" fmla="val 42857"/>
            </a:avLst>
          </a:prstGeom>
          <a:solidFill>
            <a:srgbClr val="F5E3DC"/>
          </a:solidFill>
          <a:ln w="0">
            <a:noFill/>
          </a:ln>
        </p:spPr>
        <p:txBody>
          <a:bodyPr anchor="ctr">
            <a:normAutofit fontScale="78963"/>
          </a:bodyPr>
          <a:lstStyle/>
          <a:p>
            <a:pPr algn="ctr">
              <a:defRPr sz="900" b="1" i="0">
                <a:solidFill>
                  <a:srgbClr val="C96A4B"/>
                </a:solidFill>
                <a:latin typeface="DejaVu Sans"/>
                <a:ea typeface="DejaVu Sans"/>
                <a:cs typeface="DejaVu Sans"/>
              </a:defRPr>
            </a:pPr>
            <a:r>
              <a:rPr sz="900" b="1" i="0">
                <a:solidFill>
                  <a:srgbClr val="C96A4B"/>
                </a:solidFill>
                <a:latin typeface="DejaVu Sans"/>
                <a:ea typeface="DejaVu Sans"/>
                <a:cs typeface="DejaVu Sans"/>
              </a:rPr>
              <a:t>NO FABRICATION</a:t>
            </a:r>
          </a:p>
        </p:txBody>
      </p:sp>
      <p:sp>
        <p:nvSpPr>
          <p:cNvPr id="9" name="Rectángulo: esquinas redondeadas 8">
            <a:extLst>
              <a:ext uri="{FF2B5EF4-FFF2-40B4-BE49-F238E27FC236}">
                <a16:creationId xmlns:a16="http://schemas.microsoft.com/office/drawing/2014/main" id="{3AFA155D-82D0-475F-A303-4523FF01C3C9}"/>
              </a:ext>
            </a:extLst>
          </p:cNvPr>
          <p:cNvSpPr>
            <a:spLocks noGrp="1"/>
          </p:cNvSpPr>
          <p:nvPr/>
        </p:nvSpPr>
        <p:spPr>
          <a:xfrm>
            <a:off x="7124700" y="1552575"/>
            <a:ext cx="1952625"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COMPATIBLE MATCH</a:t>
            </a:r>
          </a:p>
        </p:txBody>
      </p:sp>
      <p:sp>
        <p:nvSpPr>
          <p:cNvPr id="10" name="Rectángulo: esquinas redondeadas 9">
            <a:extLst>
              <a:ext uri="{FF2B5EF4-FFF2-40B4-BE49-F238E27FC236}">
                <a16:creationId xmlns:a16="http://schemas.microsoft.com/office/drawing/2014/main" id="{93E2BE0C-7085-4BF3-819E-ACDEFC8554C8}"/>
              </a:ext>
            </a:extLst>
          </p:cNvPr>
          <p:cNvSpPr>
            <a:spLocks noGrp="1"/>
          </p:cNvSpPr>
          <p:nvPr/>
        </p:nvSpPr>
        <p:spPr>
          <a:xfrm>
            <a:off x="9277350" y="1552575"/>
            <a:ext cx="1952625" cy="266700"/>
          </a:xfrm>
          <a:prstGeom prst="roundRect">
            <a:avLst>
              <a:gd name="adj" fmla="val 42857"/>
            </a:avLst>
          </a:prstGeom>
          <a:solidFill>
            <a:srgbClr val="DCEAE7"/>
          </a:solidFill>
          <a:ln w="0">
            <a:noFill/>
          </a:ln>
        </p:spPr>
        <p:txBody>
          <a:bodyPr anchor="ctr">
            <a:normAutofit fontScale="78963"/>
          </a:bodyPr>
          <a:lstStyle/>
          <a:p>
            <a:pPr algn="ctr">
              <a:defRPr sz="900" b="1" i="0">
                <a:solidFill>
                  <a:srgbClr val="1C7180"/>
                </a:solidFill>
                <a:latin typeface="DejaVu Sans"/>
                <a:ea typeface="DejaVu Sans"/>
                <a:cs typeface="DejaVu Sans"/>
              </a:defRPr>
            </a:pPr>
            <a:r>
              <a:rPr sz="900" b="1" i="0">
                <a:solidFill>
                  <a:srgbClr val="1C7180"/>
                </a:solidFill>
                <a:latin typeface="DejaVu Sans"/>
                <a:ea typeface="DejaVu Sans"/>
                <a:cs typeface="DejaVu Sans"/>
              </a:rPr>
              <a:t>HUMAN CONTROL</a:t>
            </a:r>
          </a:p>
        </p:txBody>
      </p:sp>
      <p:graphicFrame>
        <p:nvGraphicFramePr>
          <p:cNvPr id="24" name="Tabla 23"/>
          <p:cNvGraphicFramePr/>
          <p:nvPr/>
        </p:nvGraphicFramePr>
        <p:xfrm>
          <a:off x="666750" y="2095500"/>
          <a:ext cx="10858500" cy="3333750"/>
        </p:xfrm>
        <a:graphic>
          <a:graphicData uri="http://schemas.openxmlformats.org/drawingml/2006/table">
            <a:tbl>
              <a:tblPr/>
              <a:tblGrid>
                <a:gridCol w="809625">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6196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555625">
                <a:tc>
                  <a:txBody>
                    <a:bodyPr/>
                    <a:lstStyle/>
                    <a:p>
                      <a:r>
                        <a:t>Case</a:t>
                      </a:r>
                    </a:p>
                  </a:txBody>
                  <a:tcPr/>
                </a:tc>
                <a:tc>
                  <a:txBody>
                    <a:bodyPr/>
                    <a:lstStyle/>
                    <a:p>
                      <a:r>
                        <a:t>Input</a:t>
                      </a:r>
                    </a:p>
                  </a:txBody>
                  <a:tcPr/>
                </a:tc>
                <a:tc>
                  <a:txBody>
                    <a:bodyPr/>
                    <a:lstStyle/>
                    <a:p>
                      <a:r>
                        <a:t>Expected behaviour</a:t>
                      </a:r>
                    </a:p>
                  </a:txBody>
                  <a:tcPr/>
                </a:tc>
                <a:tc>
                  <a:txBody>
                    <a:bodyPr/>
                    <a:lstStyle/>
                    <a:p>
                      <a:r>
                        <a:t>Result</a:t>
                      </a:r>
                    </a:p>
                  </a:txBody>
                  <a:tcPr/>
                </a:tc>
                <a:extLst>
                  <a:ext uri="{0D108BD9-81ED-4DB2-BD59-A6C34878D82A}">
                    <a16:rowId xmlns:a16="http://schemas.microsoft.com/office/drawing/2014/main" val="10000"/>
                  </a:ext>
                </a:extLst>
              </a:tr>
              <a:tr h="555625">
                <a:tc>
                  <a:txBody>
                    <a:bodyPr/>
                    <a:lstStyle/>
                    <a:p>
                      <a:r>
                        <a:t>01</a:t>
                      </a:r>
                    </a:p>
                  </a:txBody>
                  <a:tcPr/>
                </a:tc>
                <a:tc>
                  <a:txBody>
                    <a:bodyPr/>
                    <a:lstStyle/>
                    <a:p>
                      <a:r>
                        <a:t>English · €800k · Palma apartment</a:t>
                      </a:r>
                    </a:p>
                  </a:txBody>
                  <a:tcPr/>
                </a:tc>
                <a:tc>
                  <a:txBody>
                    <a:bodyPr/>
                    <a:lstStyle/>
                    <a:p>
                      <a:r>
                        <a:t>Extract stated requirements and match</a:t>
                      </a:r>
                    </a:p>
                  </a:txBody>
                  <a:tcPr/>
                </a:tc>
                <a:tc>
                  <a:txBody>
                    <a:bodyPr/>
                    <a:lstStyle/>
                    <a:p>
                      <a:pPr algn="ctr"/>
                      <a:r>
                        <a:rPr sz="1125" b="1">
                          <a:solidFill>
                            <a:srgbClr val="3F7D5D"/>
                          </a:solidFill>
                          <a:latin typeface="DejaVu Sans"/>
                          <a:ea typeface="DejaVu Sans"/>
                          <a:cs typeface="DejaVu Sans"/>
                        </a:rPr>
                        <a:t>PASS</a:t>
                      </a:r>
                    </a:p>
                  </a:txBody>
                  <a:tcPr>
                    <a:solidFill>
                      <a:srgbClr val="DCEAE7"/>
                    </a:solidFill>
                  </a:tcPr>
                </a:tc>
                <a:extLst>
                  <a:ext uri="{0D108BD9-81ED-4DB2-BD59-A6C34878D82A}">
                    <a16:rowId xmlns:a16="http://schemas.microsoft.com/office/drawing/2014/main" val="10001"/>
                  </a:ext>
                </a:extLst>
              </a:tr>
              <a:tr h="555625">
                <a:tc>
                  <a:txBody>
                    <a:bodyPr/>
                    <a:lstStyle/>
                    <a:p>
                      <a:r>
                        <a:t>02</a:t>
                      </a:r>
                    </a:p>
                  </a:txBody>
                  <a:tcPr/>
                </a:tc>
                <a:tc>
                  <a:txBody>
                    <a:bodyPr/>
                    <a:lstStyle/>
                    <a:p>
                      <a:r>
                        <a:t>German · Sóller house · no budget</a:t>
                      </a:r>
                    </a:p>
                  </a:txBody>
                  <a:tcPr/>
                </a:tc>
                <a:tc>
                  <a:txBody>
                    <a:bodyPr/>
                    <a:lstStyle/>
                    <a:p>
                      <a:r>
                        <a:t>Keep budget blank and ask for it</a:t>
                      </a:r>
                    </a:p>
                  </a:txBody>
                  <a:tcPr/>
                </a:tc>
                <a:tc>
                  <a:txBody>
                    <a:bodyPr/>
                    <a:lstStyle/>
                    <a:p>
                      <a:pPr algn="ctr"/>
                      <a:r>
                        <a:rPr sz="1125" b="1">
                          <a:solidFill>
                            <a:srgbClr val="3F7D5D"/>
                          </a:solidFill>
                          <a:latin typeface="DejaVu Sans"/>
                          <a:ea typeface="DejaVu Sans"/>
                          <a:cs typeface="DejaVu Sans"/>
                        </a:rPr>
                        <a:t>PASS</a:t>
                      </a:r>
                    </a:p>
                  </a:txBody>
                  <a:tcPr>
                    <a:solidFill>
                      <a:srgbClr val="DCEAE7"/>
                    </a:solidFill>
                  </a:tcPr>
                </a:tc>
                <a:extLst>
                  <a:ext uri="{0D108BD9-81ED-4DB2-BD59-A6C34878D82A}">
                    <a16:rowId xmlns:a16="http://schemas.microsoft.com/office/drawing/2014/main" val="10002"/>
                  </a:ext>
                </a:extLst>
              </a:tr>
              <a:tr h="555625">
                <a:tc>
                  <a:txBody>
                    <a:bodyPr/>
                    <a:lstStyle/>
                    <a:p>
                      <a:r>
                        <a:t>03</a:t>
                      </a:r>
                    </a:p>
                  </a:txBody>
                  <a:tcPr/>
                </a:tc>
                <a:tc>
                  <a:txBody>
                    <a:bodyPr/>
                    <a:lstStyle/>
                    <a:p>
                      <a:r>
                        <a:t>€250k beachfront home in Palma</a:t>
                      </a:r>
                    </a:p>
                  </a:txBody>
                  <a:tcPr/>
                </a:tc>
                <a:tc>
                  <a:txBody>
                    <a:bodyPr/>
                    <a:lstStyle/>
                    <a:p>
                      <a:r>
                        <a:t>Return zero matches and flag review</a:t>
                      </a:r>
                    </a:p>
                  </a:txBody>
                  <a:tcPr/>
                </a:tc>
                <a:tc>
                  <a:txBody>
                    <a:bodyPr/>
                    <a:lstStyle/>
                    <a:p>
                      <a:pPr algn="ctr"/>
                      <a:r>
                        <a:rPr sz="1125" b="1">
                          <a:solidFill>
                            <a:srgbClr val="3F7D5D"/>
                          </a:solidFill>
                          <a:latin typeface="DejaVu Sans"/>
                          <a:ea typeface="DejaVu Sans"/>
                          <a:cs typeface="DejaVu Sans"/>
                        </a:rPr>
                        <a:t>PASS</a:t>
                      </a:r>
                    </a:p>
                  </a:txBody>
                  <a:tcPr>
                    <a:solidFill>
                      <a:srgbClr val="DCEAE7"/>
                    </a:solidFill>
                  </a:tcPr>
                </a:tc>
                <a:extLst>
                  <a:ext uri="{0D108BD9-81ED-4DB2-BD59-A6C34878D82A}">
                    <a16:rowId xmlns:a16="http://schemas.microsoft.com/office/drawing/2014/main" val="10003"/>
                  </a:ext>
                </a:extLst>
              </a:tr>
              <a:tr h="555625">
                <a:tc>
                  <a:txBody>
                    <a:bodyPr/>
                    <a:lstStyle/>
                    <a:p>
                      <a:r>
                        <a:t>04</a:t>
                      </a:r>
                    </a:p>
                  </a:txBody>
                  <a:tcPr/>
                </a:tc>
                <a:tc>
                  <a:txBody>
                    <a:bodyPr/>
                    <a:lstStyle/>
                    <a:p>
                      <a:r>
                        <a:t>€1.5m finca with tourist licence</a:t>
                      </a:r>
                    </a:p>
                  </a:txBody>
                  <a:tcPr/>
                </a:tc>
                <a:tc>
                  <a:txBody>
                    <a:bodyPr/>
                    <a:lstStyle/>
                    <a:p>
                      <a:r>
                        <a:t>Use licence evidence in the match</a:t>
                      </a:r>
                    </a:p>
                  </a:txBody>
                  <a:tcPr/>
                </a:tc>
                <a:tc>
                  <a:txBody>
                    <a:bodyPr/>
                    <a:lstStyle/>
                    <a:p>
                      <a:pPr algn="ctr"/>
                      <a:r>
                        <a:rPr sz="1125" b="1">
                          <a:solidFill>
                            <a:srgbClr val="3F7D5D"/>
                          </a:solidFill>
                          <a:latin typeface="DejaVu Sans"/>
                          <a:ea typeface="DejaVu Sans"/>
                          <a:cs typeface="DejaVu Sans"/>
                        </a:rPr>
                        <a:t>PASS</a:t>
                      </a:r>
                    </a:p>
                  </a:txBody>
                  <a:tcPr>
                    <a:solidFill>
                      <a:srgbClr val="DCEAE7"/>
                    </a:solidFill>
                  </a:tcPr>
                </a:tc>
                <a:extLst>
                  <a:ext uri="{0D108BD9-81ED-4DB2-BD59-A6C34878D82A}">
                    <a16:rowId xmlns:a16="http://schemas.microsoft.com/office/drawing/2014/main" val="10004"/>
                  </a:ext>
                </a:extLst>
              </a:tr>
              <a:tr h="555625">
                <a:tc>
                  <a:txBody>
                    <a:bodyPr/>
                    <a:lstStyle/>
                    <a:p>
                      <a:r>
                        <a:t>05</a:t>
                      </a:r>
                    </a:p>
                  </a:txBody>
                  <a:tcPr/>
                </a:tc>
                <a:tc>
                  <a:txBody>
                    <a:bodyPr/>
                    <a:lstStyle/>
                    <a:p>
                      <a:r>
                        <a:t>Mixed language · unclear timing</a:t>
                      </a:r>
                    </a:p>
                  </a:txBody>
                  <a:tcPr/>
                </a:tc>
                <a:tc>
                  <a:txBody>
                    <a:bodyPr/>
                    <a:lstStyle/>
                    <a:p>
                      <a:r>
                        <a:t>Preserve ambiguity and escalate</a:t>
                      </a:r>
                    </a:p>
                  </a:txBody>
                  <a:tcPr/>
                </a:tc>
                <a:tc>
                  <a:txBody>
                    <a:bodyPr/>
                    <a:lstStyle/>
                    <a:p>
                      <a:pPr algn="ctr"/>
                      <a:r>
                        <a:rPr sz="1125" b="1">
                          <a:solidFill>
                            <a:srgbClr val="3F7D5D"/>
                          </a:solidFill>
                          <a:latin typeface="DejaVu Sans"/>
                          <a:ea typeface="DejaVu Sans"/>
                          <a:cs typeface="DejaVu Sans"/>
                        </a:rPr>
                        <a:t>PASS</a:t>
                      </a:r>
                    </a:p>
                  </a:txBody>
                  <a:tcPr>
                    <a:solidFill>
                      <a:srgbClr val="DCEAE7"/>
                    </a:solidFill>
                  </a:tcPr>
                </a:tc>
                <a:extLst>
                  <a:ext uri="{0D108BD9-81ED-4DB2-BD59-A6C34878D82A}">
                    <a16:rowId xmlns:a16="http://schemas.microsoft.com/office/drawing/2014/main" val="10005"/>
                  </a:ext>
                </a:extLst>
              </a:tr>
            </a:tbl>
          </a:graphicData>
        </a:graphic>
      </p:graphicFrame>
      <p:sp>
        <p:nvSpPr>
          <p:cNvPr id="12" name="Rectángulo: esquinas redondeadas 11">
            <a:extLst>
              <a:ext uri="{FF2B5EF4-FFF2-40B4-BE49-F238E27FC236}">
                <a16:creationId xmlns:a16="http://schemas.microsoft.com/office/drawing/2014/main" id="{8D76E667-483E-4E1C-A817-7D20FDC5FA87}"/>
              </a:ext>
            </a:extLst>
          </p:cNvPr>
          <p:cNvSpPr>
            <a:spLocks noGrp="1"/>
          </p:cNvSpPr>
          <p:nvPr/>
        </p:nvSpPr>
        <p:spPr>
          <a:xfrm>
            <a:off x="1000125" y="5762625"/>
            <a:ext cx="10191750" cy="571500"/>
          </a:xfrm>
          <a:prstGeom prst="roundRect">
            <a:avLst>
              <a:gd name="adj" fmla="val 20000"/>
            </a:avLst>
          </a:prstGeom>
          <a:solidFill>
            <a:srgbClr val="F5E3DC"/>
          </a:solidFill>
          <a:ln w="0">
            <a:noFill/>
          </a:ln>
        </p:spPr>
      </p:sp>
      <p:sp>
        <p:nvSpPr>
          <p:cNvPr id="13" name="Rectángulo 12">
            <a:extLst>
              <a:ext uri="{FF2B5EF4-FFF2-40B4-BE49-F238E27FC236}">
                <a16:creationId xmlns:a16="http://schemas.microsoft.com/office/drawing/2014/main" id="{5D088A9C-4C71-4F12-838A-F371DE561EA7}"/>
              </a:ext>
            </a:extLst>
          </p:cNvPr>
          <p:cNvSpPr>
            <a:spLocks noGrp="1"/>
          </p:cNvSpPr>
          <p:nvPr/>
        </p:nvSpPr>
        <p:spPr>
          <a:xfrm>
            <a:off x="1238250" y="5876925"/>
            <a:ext cx="9715500" cy="323850"/>
          </a:xfrm>
          <a:prstGeom prst="rect">
            <a:avLst/>
          </a:prstGeom>
          <a:noFill/>
          <a:ln w="0">
            <a:noFill/>
          </a:ln>
        </p:spPr>
        <p:txBody>
          <a:bodyPr anchor="ctr">
            <a:normAutofit fontScale="92966"/>
          </a:bodyPr>
          <a:lstStyle/>
          <a:p>
            <a:pPr algn="ctr">
              <a:defRPr sz="1200" b="1" i="0">
                <a:solidFill>
                  <a:srgbClr val="A64235"/>
                </a:solidFill>
                <a:latin typeface="DejaVu Sans"/>
                <a:ea typeface="DejaVu Sans"/>
                <a:cs typeface="DejaVu Sans"/>
              </a:defRPr>
            </a:pPr>
            <a:r>
              <a:rPr sz="1200" b="1" i="0">
                <a:solidFill>
                  <a:srgbClr val="A64235"/>
                </a:solidFill>
                <a:latin typeface="DejaVu Sans"/>
                <a:ea typeface="DejaVu Sans"/>
                <a:cs typeface="DejaVu Sans"/>
              </a:rPr>
              <a:t>Limit: five crafted cases do not measure real-world language variation, LLM consistency, latency or conversion impact.</a:t>
            </a:r>
          </a:p>
        </p:txBody>
      </p:sp>
    </p:spTree>
    <p:extLst>
      <p:ext uri="{BB962C8B-B14F-4D97-AF65-F5344CB8AC3E}">
        <p14:creationId xmlns:p14="http://schemas.microsoft.com/office/powerpoint/2010/main" val="1228980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31" name="Rectángulo 30">
            <a:extLst>
              <a:ext uri="{FF2B5EF4-FFF2-40B4-BE49-F238E27FC236}">
                <a16:creationId xmlns:a16="http://schemas.microsoft.com/office/drawing/2014/main" id="{FB25DCDD-6721-4F43-85C1-0A0F01A79A1F}"/>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3D3E8B42-D4AA-4F69-ABDB-28FBD14F597F}"/>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ASSUMPTIONS BEFORE DISCOVERY</a:t>
            </a:r>
          </a:p>
        </p:txBody>
      </p:sp>
      <p:sp>
        <p:nvSpPr>
          <p:cNvPr id="3" name="Rectángulo 2">
            <a:extLst>
              <a:ext uri="{FF2B5EF4-FFF2-40B4-BE49-F238E27FC236}">
                <a16:creationId xmlns:a16="http://schemas.microsoft.com/office/drawing/2014/main" id="{418CB06B-EDCB-4963-B143-0C13FBE7C34C}"/>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A four-week pilot costs an estimated €4,200</a:t>
            </a:r>
          </a:p>
        </p:txBody>
      </p:sp>
      <p:sp>
        <p:nvSpPr>
          <p:cNvPr id="4" name="Rectángulo 3">
            <a:extLst>
              <a:ext uri="{FF2B5EF4-FFF2-40B4-BE49-F238E27FC236}">
                <a16:creationId xmlns:a16="http://schemas.microsoft.com/office/drawing/2014/main" id="{13994B5D-C124-44F1-819E-F094B466D685}"/>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14</a:t>
            </a:r>
          </a:p>
        </p:txBody>
      </p:sp>
      <p:sp>
        <p:nvSpPr>
          <p:cNvPr id="5" name="Rectángulo 4">
            <a:extLst>
              <a:ext uri="{FF2B5EF4-FFF2-40B4-BE49-F238E27FC236}">
                <a16:creationId xmlns:a16="http://schemas.microsoft.com/office/drawing/2014/main" id="{E38C7A8F-6CB8-4218-948C-A92292FDA3F4}"/>
              </a:ext>
            </a:extLst>
          </p:cNvPr>
          <p:cNvSpPr>
            <a:spLocks noGrp="1"/>
          </p:cNvSpPr>
          <p:nvPr/>
        </p:nvSpPr>
        <p:spPr>
          <a:xfrm>
            <a:off x="609600" y="1304925"/>
            <a:ext cx="10972800" cy="9525"/>
          </a:xfrm>
          <a:prstGeom prst="rect">
            <a:avLst/>
          </a:prstGeom>
          <a:solidFill>
            <a:srgbClr val="D8D1C4"/>
          </a:solidFill>
          <a:ln w="0">
            <a:noFill/>
          </a:ln>
        </p:spPr>
      </p:sp>
      <p:graphicFrame>
        <p:nvGraphicFramePr>
          <p:cNvPr id="36" name="Tabla 35"/>
          <p:cNvGraphicFramePr/>
          <p:nvPr/>
        </p:nvGraphicFramePr>
        <p:xfrm>
          <a:off x="666750" y="1571625"/>
          <a:ext cx="4810125" cy="3100705"/>
        </p:xfrm>
        <a:graphic>
          <a:graphicData uri="http://schemas.openxmlformats.org/drawingml/2006/table">
            <a:tbl>
              <a:tblPr/>
              <a:tblGrid>
                <a:gridCol w="347662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492125">
                <a:tc>
                  <a:txBody>
                    <a:bodyPr/>
                    <a:lstStyle/>
                    <a:p>
                      <a:r>
                        <a:t>Upfront work</a:t>
                      </a:r>
                    </a:p>
                  </a:txBody>
                  <a:tcPr/>
                </a:tc>
                <a:tc>
                  <a:txBody>
                    <a:bodyPr/>
                    <a:lstStyle/>
                    <a:p>
                      <a:r>
                        <a:t>Cost</a:t>
                      </a:r>
                    </a:p>
                  </a:txBody>
                  <a:tcPr/>
                </a:tc>
                <a:extLst>
                  <a:ext uri="{0D108BD9-81ED-4DB2-BD59-A6C34878D82A}">
                    <a16:rowId xmlns:a16="http://schemas.microsoft.com/office/drawing/2014/main" val="10000"/>
                  </a:ext>
                </a:extLst>
              </a:tr>
              <a:tr h="492125">
                <a:tc>
                  <a:txBody>
                    <a:bodyPr/>
                    <a:lstStyle/>
                    <a:p>
                      <a:r>
                        <a:t>Discovery and process mapping</a:t>
                      </a:r>
                    </a:p>
                  </a:txBody>
                  <a:tcPr/>
                </a:tc>
                <a:tc>
                  <a:txBody>
                    <a:bodyPr/>
                    <a:lstStyle/>
                    <a:p>
                      <a:r>
                        <a:t>€600</a:t>
                      </a:r>
                    </a:p>
                  </a:txBody>
                  <a:tcPr/>
                </a:tc>
                <a:extLst>
                  <a:ext uri="{0D108BD9-81ED-4DB2-BD59-A6C34878D82A}">
                    <a16:rowId xmlns:a16="http://schemas.microsoft.com/office/drawing/2014/main" val="10001"/>
                  </a:ext>
                </a:extLst>
              </a:tr>
              <a:tr h="492125">
                <a:tc>
                  <a:txBody>
                    <a:bodyPr/>
                    <a:lstStyle/>
                    <a:p>
                      <a:r>
                        <a:t>n8n workflow and lead schema</a:t>
                      </a:r>
                    </a:p>
                  </a:txBody>
                  <a:tcPr/>
                </a:tc>
                <a:tc>
                  <a:txBody>
                    <a:bodyPr/>
                    <a:lstStyle/>
                    <a:p>
                      <a:r>
                        <a:t>€1,400</a:t>
                      </a:r>
                    </a:p>
                  </a:txBody>
                  <a:tcPr/>
                </a:tc>
                <a:extLst>
                  <a:ext uri="{0D108BD9-81ED-4DB2-BD59-A6C34878D82A}">
                    <a16:rowId xmlns:a16="http://schemas.microsoft.com/office/drawing/2014/main" val="10002"/>
                  </a:ext>
                </a:extLst>
              </a:tr>
              <a:tr h="492125">
                <a:tc>
                  <a:txBody>
                    <a:bodyPr/>
                    <a:lstStyle/>
                    <a:p>
                      <a:r>
                        <a:t>Catalogue and matching logic</a:t>
                      </a:r>
                    </a:p>
                  </a:txBody>
                  <a:tcPr/>
                </a:tc>
                <a:tc>
                  <a:txBody>
                    <a:bodyPr/>
                    <a:lstStyle/>
                    <a:p>
                      <a:r>
                        <a:t>€900</a:t>
                      </a:r>
                    </a:p>
                  </a:txBody>
                  <a:tcPr/>
                </a:tc>
                <a:extLst>
                  <a:ext uri="{0D108BD9-81ED-4DB2-BD59-A6C34878D82A}">
                    <a16:rowId xmlns:a16="http://schemas.microsoft.com/office/drawing/2014/main" val="10003"/>
                  </a:ext>
                </a:extLst>
              </a:tr>
              <a:tr h="492125">
                <a:tc>
                  <a:txBody>
                    <a:bodyPr/>
                    <a:lstStyle/>
                    <a:p>
                      <a:r>
                        <a:t>Prompts, testing, training and privacy</a:t>
                      </a:r>
                    </a:p>
                  </a:txBody>
                  <a:tcPr/>
                </a:tc>
                <a:tc>
                  <a:txBody>
                    <a:bodyPr/>
                    <a:lstStyle/>
                    <a:p>
                      <a:r>
                        <a:t>€1,300</a:t>
                      </a:r>
                    </a:p>
                  </a:txBody>
                  <a:tcPr/>
                </a:tc>
                <a:extLst>
                  <a:ext uri="{0D108BD9-81ED-4DB2-BD59-A6C34878D82A}">
                    <a16:rowId xmlns:a16="http://schemas.microsoft.com/office/drawing/2014/main" val="10004"/>
                  </a:ext>
                </a:extLst>
              </a:tr>
              <a:tr h="492125">
                <a:tc>
                  <a:txBody>
                    <a:bodyPr/>
                    <a:lstStyle/>
                    <a:p>
                      <a:r>
                        <a:rPr sz="1200" b="1">
                          <a:solidFill>
                            <a:srgbClr val="17324D"/>
                          </a:solidFill>
                          <a:latin typeface="DejaVu Sans"/>
                          <a:ea typeface="DejaVu Sans"/>
                          <a:cs typeface="DejaVu Sans"/>
                        </a:rPr>
                        <a:t>Total upfront</a:t>
                      </a:r>
                    </a:p>
                  </a:txBody>
                  <a:tcPr>
                    <a:solidFill>
                      <a:srgbClr val="DCEAE7"/>
                    </a:solidFill>
                  </a:tcPr>
                </a:tc>
                <a:tc>
                  <a:txBody>
                    <a:bodyPr/>
                    <a:lstStyle/>
                    <a:p>
                      <a:r>
                        <a:rPr sz="1275" b="1">
                          <a:solidFill>
                            <a:srgbClr val="1C7180"/>
                          </a:solidFill>
                          <a:latin typeface="DejaVu Sans"/>
                          <a:ea typeface="DejaVu Sans"/>
                          <a:cs typeface="DejaVu Sans"/>
                        </a:rPr>
                        <a:t>€4,200</a:t>
                      </a:r>
                    </a:p>
                  </a:txBody>
                  <a:tcPr>
                    <a:solidFill>
                      <a:srgbClr val="DCEAE7"/>
                    </a:solidFill>
                  </a:tcPr>
                </a:tc>
                <a:extLst>
                  <a:ext uri="{0D108BD9-81ED-4DB2-BD59-A6C34878D82A}">
                    <a16:rowId xmlns:a16="http://schemas.microsoft.com/office/drawing/2014/main" val="10005"/>
                  </a:ext>
                </a:extLst>
              </a:tr>
            </a:tbl>
          </a:graphicData>
        </a:graphic>
      </p:graphicFrame>
      <p:sp>
        <p:nvSpPr>
          <p:cNvPr id="7" name="Rectángulo: esquinas redondeadas 6">
            <a:extLst>
              <a:ext uri="{FF2B5EF4-FFF2-40B4-BE49-F238E27FC236}">
                <a16:creationId xmlns:a16="http://schemas.microsoft.com/office/drawing/2014/main" id="{C0A41F97-508D-4FFB-BC00-2A0BC2752105}"/>
              </a:ext>
            </a:extLst>
          </p:cNvPr>
          <p:cNvSpPr>
            <a:spLocks noGrp="1"/>
          </p:cNvSpPr>
          <p:nvPr/>
        </p:nvSpPr>
        <p:spPr>
          <a:xfrm>
            <a:off x="1047750" y="4857750"/>
            <a:ext cx="4048125" cy="704850"/>
          </a:xfrm>
          <a:prstGeom prst="roundRect">
            <a:avLst>
              <a:gd name="adj" fmla="val 18919"/>
            </a:avLst>
          </a:prstGeom>
          <a:solidFill>
            <a:srgbClr val="17324D"/>
          </a:solidFill>
          <a:ln w="0">
            <a:noFill/>
          </a:ln>
        </p:spPr>
      </p:sp>
      <p:sp>
        <p:nvSpPr>
          <p:cNvPr id="8" name="Rectángulo 7">
            <a:extLst>
              <a:ext uri="{FF2B5EF4-FFF2-40B4-BE49-F238E27FC236}">
                <a16:creationId xmlns:a16="http://schemas.microsoft.com/office/drawing/2014/main" id="{3ACAA283-51B2-4791-ACF4-3A21BEA3D86A}"/>
              </a:ext>
            </a:extLst>
          </p:cNvPr>
          <p:cNvSpPr>
            <a:spLocks noGrp="1"/>
          </p:cNvSpPr>
          <p:nvPr/>
        </p:nvSpPr>
        <p:spPr>
          <a:xfrm>
            <a:off x="1314450" y="5010150"/>
            <a:ext cx="3524250" cy="381000"/>
          </a:xfrm>
          <a:prstGeom prst="rect">
            <a:avLst/>
          </a:prstGeom>
          <a:noFill/>
          <a:ln w="0">
            <a:noFill/>
          </a:ln>
        </p:spPr>
        <p:txBody>
          <a:bodyPr anchor="ctr">
            <a:normAutofit/>
          </a:bodyPr>
          <a:lstStyle/>
          <a:p>
            <a:pPr algn="ctr">
              <a:defRPr sz="1800" b="1" i="0">
                <a:solidFill>
                  <a:srgbClr val="FFFFFF"/>
                </a:solidFill>
                <a:latin typeface="DejaVu Serif"/>
                <a:ea typeface="DejaVu Serif"/>
                <a:cs typeface="DejaVu Serif"/>
              </a:defRPr>
            </a:pPr>
            <a:r>
              <a:rPr sz="1800" b="1" i="0">
                <a:solidFill>
                  <a:srgbClr val="FFFFFF"/>
                </a:solidFill>
                <a:latin typeface="DejaVu Serif"/>
                <a:ea typeface="DejaVu Serif"/>
                <a:cs typeface="DejaVu Serif"/>
              </a:rPr>
              <a:t>€240 / month after pilot</a:t>
            </a:r>
          </a:p>
        </p:txBody>
      </p:sp>
      <p:sp>
        <p:nvSpPr>
          <p:cNvPr id="9" name="Rectángulo 8">
            <a:extLst>
              <a:ext uri="{FF2B5EF4-FFF2-40B4-BE49-F238E27FC236}">
                <a16:creationId xmlns:a16="http://schemas.microsoft.com/office/drawing/2014/main" id="{0ABB5BBE-BD1B-4FD6-ACB5-45C1E282850F}"/>
              </a:ext>
            </a:extLst>
          </p:cNvPr>
          <p:cNvSpPr>
            <a:spLocks noGrp="1"/>
          </p:cNvSpPr>
          <p:nvPr/>
        </p:nvSpPr>
        <p:spPr>
          <a:xfrm>
            <a:off x="904875" y="5734050"/>
            <a:ext cx="4286250" cy="400050"/>
          </a:xfrm>
          <a:prstGeom prst="rect">
            <a:avLst/>
          </a:prstGeom>
          <a:noFill/>
          <a:ln w="0">
            <a:noFill/>
          </a:ln>
        </p:spPr>
        <p:txBody>
          <a:bodyPr anchor="t">
            <a:normAutofit/>
          </a:bodyPr>
          <a:lstStyle/>
          <a:p>
            <a:pPr algn="ctr">
              <a:defRPr sz="975" b="0" i="0">
                <a:solidFill>
                  <a:srgbClr val="6D7E87"/>
                </a:solidFill>
                <a:latin typeface="DejaVu Sans"/>
                <a:ea typeface="DejaVu Sans"/>
                <a:cs typeface="DejaVu Sans"/>
              </a:defRPr>
            </a:pPr>
            <a:r>
              <a:rPr sz="975" b="0" i="0">
                <a:solidFill>
                  <a:srgbClr val="6D7E87"/>
                </a:solidFill>
                <a:latin typeface="DejaVu Sans"/>
                <a:ea typeface="DejaVu Sans"/>
                <a:cs typeface="DejaVu Sans"/>
              </a:rPr>
              <a:t>Hosting, usage and monitoring · VAT and external licences excluded</a:t>
            </a:r>
          </a:p>
        </p:txBody>
      </p:sp>
      <p:sp>
        <p:nvSpPr>
          <p:cNvPr id="10" name="Elipse 9">
            <a:extLst>
              <a:ext uri="{FF2B5EF4-FFF2-40B4-BE49-F238E27FC236}">
                <a16:creationId xmlns:a16="http://schemas.microsoft.com/office/drawing/2014/main" id="{DD09CA36-624A-421F-BF16-06529F082F94}"/>
              </a:ext>
            </a:extLst>
          </p:cNvPr>
          <p:cNvSpPr>
            <a:spLocks noGrp="1"/>
          </p:cNvSpPr>
          <p:nvPr/>
        </p:nvSpPr>
        <p:spPr>
          <a:xfrm>
            <a:off x="6191250" y="1600200"/>
            <a:ext cx="514350" cy="514350"/>
          </a:xfrm>
          <a:prstGeom prst="ellipse">
            <a:avLst/>
          </a:prstGeom>
          <a:solidFill>
            <a:srgbClr val="1C7180"/>
          </a:solidFill>
          <a:ln w="0">
            <a:noFill/>
          </a:ln>
        </p:spPr>
      </p:sp>
      <p:sp>
        <p:nvSpPr>
          <p:cNvPr id="11" name="Rectángulo 10">
            <a:extLst>
              <a:ext uri="{FF2B5EF4-FFF2-40B4-BE49-F238E27FC236}">
                <a16:creationId xmlns:a16="http://schemas.microsoft.com/office/drawing/2014/main" id="{C63E50DF-6612-4AFD-9EA9-64357984BB4E}"/>
              </a:ext>
            </a:extLst>
          </p:cNvPr>
          <p:cNvSpPr>
            <a:spLocks noGrp="1"/>
          </p:cNvSpPr>
          <p:nvPr/>
        </p:nvSpPr>
        <p:spPr>
          <a:xfrm>
            <a:off x="6191250" y="1676400"/>
            <a:ext cx="514350" cy="342900"/>
          </a:xfrm>
          <a:prstGeom prst="rect">
            <a:avLst/>
          </a:prstGeom>
          <a:noFill/>
          <a:ln w="0">
            <a:noFill/>
          </a:ln>
        </p:spPr>
        <p:txBody>
          <a:bodyPr anchor="ctr">
            <a:normAutofit/>
          </a:bodyPr>
          <a:lstStyle/>
          <a:p>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W1</a:t>
            </a:r>
          </a:p>
        </p:txBody>
      </p:sp>
      <p:sp>
        <p:nvSpPr>
          <p:cNvPr id="12" name="Rectángulo 11">
            <a:extLst>
              <a:ext uri="{FF2B5EF4-FFF2-40B4-BE49-F238E27FC236}">
                <a16:creationId xmlns:a16="http://schemas.microsoft.com/office/drawing/2014/main" id="{6E524BB2-C461-4FE8-A6F1-47A6C55B51DA}"/>
              </a:ext>
            </a:extLst>
          </p:cNvPr>
          <p:cNvSpPr>
            <a:spLocks noGrp="1"/>
          </p:cNvSpPr>
          <p:nvPr/>
        </p:nvSpPr>
        <p:spPr>
          <a:xfrm>
            <a:off x="6953250" y="1609725"/>
            <a:ext cx="1524000" cy="266700"/>
          </a:xfrm>
          <a:prstGeom prst="rect">
            <a:avLst/>
          </a:prstGeom>
          <a:noFill/>
          <a:ln w="0">
            <a:noFill/>
          </a:ln>
        </p:spPr>
        <p:txBody>
          <a:bodyPr anchor="t">
            <a:normAutofit fontScale="80702"/>
          </a:bodyPr>
          <a:lstStyle/>
          <a:p>
            <a:pPr algn="l">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Discovery</a:t>
            </a:r>
          </a:p>
        </p:txBody>
      </p:sp>
      <p:sp>
        <p:nvSpPr>
          <p:cNvPr id="13" name="Rectángulo 12">
            <a:extLst>
              <a:ext uri="{FF2B5EF4-FFF2-40B4-BE49-F238E27FC236}">
                <a16:creationId xmlns:a16="http://schemas.microsoft.com/office/drawing/2014/main" id="{42934838-8D56-4B0C-9154-CA5FDC5BDFFD}"/>
              </a:ext>
            </a:extLst>
          </p:cNvPr>
          <p:cNvSpPr>
            <a:spLocks noGrp="1"/>
          </p:cNvSpPr>
          <p:nvPr/>
        </p:nvSpPr>
        <p:spPr>
          <a:xfrm>
            <a:off x="6953250" y="1924050"/>
            <a:ext cx="3619500" cy="266700"/>
          </a:xfrm>
          <a:prstGeom prst="rect">
            <a:avLst/>
          </a:prstGeom>
          <a:noFill/>
          <a:ln w="0">
            <a:noFill/>
          </a:ln>
        </p:spPr>
        <p:txBody>
          <a:bodyPr anchor="t">
            <a:normAutofit/>
          </a:bodyPr>
          <a:lstStyle/>
          <a:p>
            <a:pPr algn="l">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Fields, privacy, success criteria</a:t>
            </a:r>
          </a:p>
        </p:txBody>
      </p:sp>
      <p:sp>
        <p:nvSpPr>
          <p:cNvPr id="14" name="Rectángulo 13">
            <a:extLst>
              <a:ext uri="{FF2B5EF4-FFF2-40B4-BE49-F238E27FC236}">
                <a16:creationId xmlns:a16="http://schemas.microsoft.com/office/drawing/2014/main" id="{E5884775-DF6B-440A-B632-23007AD455A8}"/>
              </a:ext>
            </a:extLst>
          </p:cNvPr>
          <p:cNvSpPr>
            <a:spLocks noGrp="1"/>
          </p:cNvSpPr>
          <p:nvPr/>
        </p:nvSpPr>
        <p:spPr>
          <a:xfrm>
            <a:off x="6429375" y="2133600"/>
            <a:ext cx="28575" cy="457200"/>
          </a:xfrm>
          <a:prstGeom prst="rect">
            <a:avLst/>
          </a:prstGeom>
          <a:solidFill>
            <a:srgbClr val="D8D1C4"/>
          </a:solidFill>
          <a:ln w="0">
            <a:noFill/>
          </a:ln>
        </p:spPr>
      </p:sp>
      <p:sp>
        <p:nvSpPr>
          <p:cNvPr id="15" name="Elipse 14">
            <a:extLst>
              <a:ext uri="{FF2B5EF4-FFF2-40B4-BE49-F238E27FC236}">
                <a16:creationId xmlns:a16="http://schemas.microsoft.com/office/drawing/2014/main" id="{F39349DC-7789-4B4C-8CDE-ACF023E1A5A9}"/>
              </a:ext>
            </a:extLst>
          </p:cNvPr>
          <p:cNvSpPr>
            <a:spLocks noGrp="1"/>
          </p:cNvSpPr>
          <p:nvPr/>
        </p:nvSpPr>
        <p:spPr>
          <a:xfrm>
            <a:off x="6191250" y="2600325"/>
            <a:ext cx="514350" cy="514350"/>
          </a:xfrm>
          <a:prstGeom prst="ellipse">
            <a:avLst/>
          </a:prstGeom>
          <a:solidFill>
            <a:srgbClr val="1C7180"/>
          </a:solidFill>
          <a:ln w="0">
            <a:noFill/>
          </a:ln>
        </p:spPr>
      </p:sp>
      <p:sp>
        <p:nvSpPr>
          <p:cNvPr id="16" name="Rectángulo 15">
            <a:extLst>
              <a:ext uri="{FF2B5EF4-FFF2-40B4-BE49-F238E27FC236}">
                <a16:creationId xmlns:a16="http://schemas.microsoft.com/office/drawing/2014/main" id="{AEB505B8-4E31-4B5B-A5AF-517ED6BD976C}"/>
              </a:ext>
            </a:extLst>
          </p:cNvPr>
          <p:cNvSpPr>
            <a:spLocks noGrp="1"/>
          </p:cNvSpPr>
          <p:nvPr/>
        </p:nvSpPr>
        <p:spPr>
          <a:xfrm>
            <a:off x="6191250" y="2676525"/>
            <a:ext cx="514350" cy="342900"/>
          </a:xfrm>
          <a:prstGeom prst="rect">
            <a:avLst/>
          </a:prstGeom>
          <a:noFill/>
          <a:ln w="0">
            <a:noFill/>
          </a:ln>
        </p:spPr>
        <p:txBody>
          <a:bodyPr anchor="ctr">
            <a:normAutofit/>
          </a:bodyPr>
          <a:lstStyle/>
          <a:p>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W2</a:t>
            </a:r>
          </a:p>
        </p:txBody>
      </p:sp>
      <p:sp>
        <p:nvSpPr>
          <p:cNvPr id="17" name="Rectángulo 16">
            <a:extLst>
              <a:ext uri="{FF2B5EF4-FFF2-40B4-BE49-F238E27FC236}">
                <a16:creationId xmlns:a16="http://schemas.microsoft.com/office/drawing/2014/main" id="{81794C2F-2216-40C0-BEC7-9420051070DD}"/>
              </a:ext>
            </a:extLst>
          </p:cNvPr>
          <p:cNvSpPr>
            <a:spLocks noGrp="1"/>
          </p:cNvSpPr>
          <p:nvPr/>
        </p:nvSpPr>
        <p:spPr>
          <a:xfrm>
            <a:off x="6953250" y="2609850"/>
            <a:ext cx="1524000" cy="266700"/>
          </a:xfrm>
          <a:prstGeom prst="rect">
            <a:avLst/>
          </a:prstGeom>
          <a:noFill/>
          <a:ln w="0">
            <a:noFill/>
          </a:ln>
        </p:spPr>
        <p:txBody>
          <a:bodyPr anchor="t">
            <a:normAutofit fontScale="80702"/>
          </a:bodyPr>
          <a:lstStyle/>
          <a:p>
            <a:pPr algn="l">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Build</a:t>
            </a:r>
          </a:p>
        </p:txBody>
      </p:sp>
      <p:sp>
        <p:nvSpPr>
          <p:cNvPr id="18" name="Rectángulo 17">
            <a:extLst>
              <a:ext uri="{FF2B5EF4-FFF2-40B4-BE49-F238E27FC236}">
                <a16:creationId xmlns:a16="http://schemas.microsoft.com/office/drawing/2014/main" id="{A36BB4B6-9052-4E60-9595-7816C7A1A769}"/>
              </a:ext>
            </a:extLst>
          </p:cNvPr>
          <p:cNvSpPr>
            <a:spLocks noGrp="1"/>
          </p:cNvSpPr>
          <p:nvPr/>
        </p:nvSpPr>
        <p:spPr>
          <a:xfrm>
            <a:off x="6953250" y="2924175"/>
            <a:ext cx="3619500" cy="266700"/>
          </a:xfrm>
          <a:prstGeom prst="rect">
            <a:avLst/>
          </a:prstGeom>
          <a:noFill/>
          <a:ln w="0">
            <a:noFill/>
          </a:ln>
        </p:spPr>
        <p:txBody>
          <a:bodyPr anchor="t">
            <a:normAutofit/>
          </a:bodyPr>
          <a:lstStyle/>
          <a:p>
            <a:pPr algn="l">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Workflow and catalogue</a:t>
            </a:r>
          </a:p>
        </p:txBody>
      </p:sp>
      <p:sp>
        <p:nvSpPr>
          <p:cNvPr id="19" name="Rectángulo 18">
            <a:extLst>
              <a:ext uri="{FF2B5EF4-FFF2-40B4-BE49-F238E27FC236}">
                <a16:creationId xmlns:a16="http://schemas.microsoft.com/office/drawing/2014/main" id="{03CBF3E3-B3C1-4F14-A58D-A3E8422DC792}"/>
              </a:ext>
            </a:extLst>
          </p:cNvPr>
          <p:cNvSpPr>
            <a:spLocks noGrp="1"/>
          </p:cNvSpPr>
          <p:nvPr/>
        </p:nvSpPr>
        <p:spPr>
          <a:xfrm>
            <a:off x="6429375" y="3133725"/>
            <a:ext cx="28575" cy="457200"/>
          </a:xfrm>
          <a:prstGeom prst="rect">
            <a:avLst/>
          </a:prstGeom>
          <a:solidFill>
            <a:srgbClr val="D8D1C4"/>
          </a:solidFill>
          <a:ln w="0">
            <a:noFill/>
          </a:ln>
        </p:spPr>
      </p:sp>
      <p:sp>
        <p:nvSpPr>
          <p:cNvPr id="20" name="Elipse 19">
            <a:extLst>
              <a:ext uri="{FF2B5EF4-FFF2-40B4-BE49-F238E27FC236}">
                <a16:creationId xmlns:a16="http://schemas.microsoft.com/office/drawing/2014/main" id="{21CCAFC3-A2C7-456F-A910-145927AD82CC}"/>
              </a:ext>
            </a:extLst>
          </p:cNvPr>
          <p:cNvSpPr>
            <a:spLocks noGrp="1"/>
          </p:cNvSpPr>
          <p:nvPr/>
        </p:nvSpPr>
        <p:spPr>
          <a:xfrm>
            <a:off x="6191250" y="3600450"/>
            <a:ext cx="514350" cy="514350"/>
          </a:xfrm>
          <a:prstGeom prst="ellipse">
            <a:avLst/>
          </a:prstGeom>
          <a:solidFill>
            <a:srgbClr val="1C7180"/>
          </a:solidFill>
          <a:ln w="0">
            <a:noFill/>
          </a:ln>
        </p:spPr>
      </p:sp>
      <p:sp>
        <p:nvSpPr>
          <p:cNvPr id="21" name="Rectángulo 20">
            <a:extLst>
              <a:ext uri="{FF2B5EF4-FFF2-40B4-BE49-F238E27FC236}">
                <a16:creationId xmlns:a16="http://schemas.microsoft.com/office/drawing/2014/main" id="{1F8D6BA7-22EF-4381-8F04-7A33A9A429F7}"/>
              </a:ext>
            </a:extLst>
          </p:cNvPr>
          <p:cNvSpPr>
            <a:spLocks noGrp="1"/>
          </p:cNvSpPr>
          <p:nvPr/>
        </p:nvSpPr>
        <p:spPr>
          <a:xfrm>
            <a:off x="6191250" y="3676650"/>
            <a:ext cx="514350" cy="342900"/>
          </a:xfrm>
          <a:prstGeom prst="rect">
            <a:avLst/>
          </a:prstGeom>
          <a:noFill/>
          <a:ln w="0">
            <a:noFill/>
          </a:ln>
        </p:spPr>
        <p:txBody>
          <a:bodyPr anchor="ctr">
            <a:normAutofit/>
          </a:bodyPr>
          <a:lstStyle/>
          <a:p>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W3</a:t>
            </a:r>
          </a:p>
        </p:txBody>
      </p:sp>
      <p:sp>
        <p:nvSpPr>
          <p:cNvPr id="22" name="Rectángulo 21">
            <a:extLst>
              <a:ext uri="{FF2B5EF4-FFF2-40B4-BE49-F238E27FC236}">
                <a16:creationId xmlns:a16="http://schemas.microsoft.com/office/drawing/2014/main" id="{2147C436-8335-4D70-BF77-6562B07046A5}"/>
              </a:ext>
            </a:extLst>
          </p:cNvPr>
          <p:cNvSpPr>
            <a:spLocks noGrp="1"/>
          </p:cNvSpPr>
          <p:nvPr/>
        </p:nvSpPr>
        <p:spPr>
          <a:xfrm>
            <a:off x="6953250" y="3609975"/>
            <a:ext cx="1524000" cy="266700"/>
          </a:xfrm>
          <a:prstGeom prst="rect">
            <a:avLst/>
          </a:prstGeom>
          <a:noFill/>
          <a:ln w="0">
            <a:noFill/>
          </a:ln>
        </p:spPr>
        <p:txBody>
          <a:bodyPr anchor="t">
            <a:normAutofit fontScale="80702"/>
          </a:bodyPr>
          <a:lstStyle/>
          <a:p>
            <a:pPr algn="l">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Test</a:t>
            </a:r>
          </a:p>
        </p:txBody>
      </p:sp>
      <p:sp>
        <p:nvSpPr>
          <p:cNvPr id="23" name="Rectángulo 22">
            <a:extLst>
              <a:ext uri="{FF2B5EF4-FFF2-40B4-BE49-F238E27FC236}">
                <a16:creationId xmlns:a16="http://schemas.microsoft.com/office/drawing/2014/main" id="{107CCCCF-D594-4664-8CBE-82C47E7729F0}"/>
              </a:ext>
            </a:extLst>
          </p:cNvPr>
          <p:cNvSpPr>
            <a:spLocks noGrp="1"/>
          </p:cNvSpPr>
          <p:nvPr/>
        </p:nvSpPr>
        <p:spPr>
          <a:xfrm>
            <a:off x="6953250" y="3924300"/>
            <a:ext cx="3619500" cy="266700"/>
          </a:xfrm>
          <a:prstGeom prst="rect">
            <a:avLst/>
          </a:prstGeom>
          <a:noFill/>
          <a:ln w="0">
            <a:noFill/>
          </a:ln>
        </p:spPr>
        <p:txBody>
          <a:bodyPr anchor="t">
            <a:normAutofit/>
          </a:bodyPr>
          <a:lstStyle/>
          <a:p>
            <a:pPr algn="l">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Multilingual cases and fixes</a:t>
            </a:r>
          </a:p>
        </p:txBody>
      </p:sp>
      <p:sp>
        <p:nvSpPr>
          <p:cNvPr id="24" name="Rectángulo 23">
            <a:extLst>
              <a:ext uri="{FF2B5EF4-FFF2-40B4-BE49-F238E27FC236}">
                <a16:creationId xmlns:a16="http://schemas.microsoft.com/office/drawing/2014/main" id="{64600D29-7032-4965-9EC9-7123AE2639A5}"/>
              </a:ext>
            </a:extLst>
          </p:cNvPr>
          <p:cNvSpPr>
            <a:spLocks noGrp="1"/>
          </p:cNvSpPr>
          <p:nvPr/>
        </p:nvSpPr>
        <p:spPr>
          <a:xfrm>
            <a:off x="6429375" y="4133850"/>
            <a:ext cx="28575" cy="457200"/>
          </a:xfrm>
          <a:prstGeom prst="rect">
            <a:avLst/>
          </a:prstGeom>
          <a:solidFill>
            <a:srgbClr val="D8D1C4"/>
          </a:solidFill>
          <a:ln w="0">
            <a:noFill/>
          </a:ln>
        </p:spPr>
      </p:sp>
      <p:sp>
        <p:nvSpPr>
          <p:cNvPr id="25" name="Elipse 24">
            <a:extLst>
              <a:ext uri="{FF2B5EF4-FFF2-40B4-BE49-F238E27FC236}">
                <a16:creationId xmlns:a16="http://schemas.microsoft.com/office/drawing/2014/main" id="{4A021836-64CA-45BB-855A-B9229947ABE5}"/>
              </a:ext>
            </a:extLst>
          </p:cNvPr>
          <p:cNvSpPr>
            <a:spLocks noGrp="1"/>
          </p:cNvSpPr>
          <p:nvPr/>
        </p:nvSpPr>
        <p:spPr>
          <a:xfrm>
            <a:off x="6191250" y="4600575"/>
            <a:ext cx="514350" cy="514350"/>
          </a:xfrm>
          <a:prstGeom prst="ellipse">
            <a:avLst/>
          </a:prstGeom>
          <a:solidFill>
            <a:srgbClr val="C96A4B"/>
          </a:solidFill>
          <a:ln w="0">
            <a:noFill/>
          </a:ln>
        </p:spPr>
      </p:sp>
      <p:sp>
        <p:nvSpPr>
          <p:cNvPr id="26" name="Rectángulo 25">
            <a:extLst>
              <a:ext uri="{FF2B5EF4-FFF2-40B4-BE49-F238E27FC236}">
                <a16:creationId xmlns:a16="http://schemas.microsoft.com/office/drawing/2014/main" id="{E40AFB56-5CB6-4C9B-9648-6FEEC6DD62B0}"/>
              </a:ext>
            </a:extLst>
          </p:cNvPr>
          <p:cNvSpPr>
            <a:spLocks noGrp="1"/>
          </p:cNvSpPr>
          <p:nvPr/>
        </p:nvSpPr>
        <p:spPr>
          <a:xfrm>
            <a:off x="6191250" y="4676775"/>
            <a:ext cx="514350" cy="342900"/>
          </a:xfrm>
          <a:prstGeom prst="rect">
            <a:avLst/>
          </a:prstGeom>
          <a:noFill/>
          <a:ln w="0">
            <a:noFill/>
          </a:ln>
        </p:spPr>
        <p:txBody>
          <a:bodyPr anchor="ctr">
            <a:normAutofit/>
          </a:bodyPr>
          <a:lstStyle/>
          <a:p>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W4</a:t>
            </a:r>
          </a:p>
        </p:txBody>
      </p:sp>
      <p:sp>
        <p:nvSpPr>
          <p:cNvPr id="27" name="Rectángulo 26">
            <a:extLst>
              <a:ext uri="{FF2B5EF4-FFF2-40B4-BE49-F238E27FC236}">
                <a16:creationId xmlns:a16="http://schemas.microsoft.com/office/drawing/2014/main" id="{B8E230A2-CEC8-4A11-BFA7-052D141C6C2B}"/>
              </a:ext>
            </a:extLst>
          </p:cNvPr>
          <p:cNvSpPr>
            <a:spLocks noGrp="1"/>
          </p:cNvSpPr>
          <p:nvPr/>
        </p:nvSpPr>
        <p:spPr>
          <a:xfrm>
            <a:off x="6953250" y="4610100"/>
            <a:ext cx="1524000" cy="266700"/>
          </a:xfrm>
          <a:prstGeom prst="rect">
            <a:avLst/>
          </a:prstGeom>
          <a:noFill/>
          <a:ln w="0">
            <a:noFill/>
          </a:ln>
        </p:spPr>
        <p:txBody>
          <a:bodyPr anchor="t">
            <a:normAutofit fontScale="80702"/>
          </a:bodyPr>
          <a:lstStyle/>
          <a:p>
            <a:pPr algn="l">
              <a:defRPr sz="1425" b="1" i="0">
                <a:solidFill>
                  <a:srgbClr val="17324D"/>
                </a:solidFill>
                <a:latin typeface="DejaVu Serif"/>
                <a:ea typeface="DejaVu Serif"/>
                <a:cs typeface="DejaVu Serif"/>
              </a:defRPr>
            </a:pPr>
            <a:r>
              <a:rPr sz="1425" b="1" i="0">
                <a:solidFill>
                  <a:srgbClr val="17324D"/>
                </a:solidFill>
                <a:latin typeface="DejaVu Serif"/>
                <a:ea typeface="DejaVu Serif"/>
                <a:cs typeface="DejaVu Serif"/>
              </a:rPr>
              <a:t>Pilot</a:t>
            </a:r>
          </a:p>
        </p:txBody>
      </p:sp>
      <p:sp>
        <p:nvSpPr>
          <p:cNvPr id="28" name="Rectángulo 27">
            <a:extLst>
              <a:ext uri="{FF2B5EF4-FFF2-40B4-BE49-F238E27FC236}">
                <a16:creationId xmlns:a16="http://schemas.microsoft.com/office/drawing/2014/main" id="{C5C1131A-EE8A-4FE3-826E-A33EFDB2AC22}"/>
              </a:ext>
            </a:extLst>
          </p:cNvPr>
          <p:cNvSpPr>
            <a:spLocks noGrp="1"/>
          </p:cNvSpPr>
          <p:nvPr/>
        </p:nvSpPr>
        <p:spPr>
          <a:xfrm>
            <a:off x="6953250" y="4924425"/>
            <a:ext cx="3619500" cy="266700"/>
          </a:xfrm>
          <a:prstGeom prst="rect">
            <a:avLst/>
          </a:prstGeom>
          <a:noFill/>
          <a:ln w="0">
            <a:noFill/>
          </a:ln>
        </p:spPr>
        <p:txBody>
          <a:bodyPr anchor="t">
            <a:normAutofit/>
          </a:bodyPr>
          <a:lstStyle/>
          <a:p>
            <a:pPr algn="l">
              <a:defRPr sz="1050" b="0" i="0">
                <a:solidFill>
                  <a:srgbClr val="6D7E87"/>
                </a:solidFill>
                <a:latin typeface="DejaVu Sans"/>
                <a:ea typeface="DejaVu Sans"/>
                <a:cs typeface="DejaVu Sans"/>
              </a:defRPr>
            </a:pPr>
            <a:r>
              <a:rPr sz="1050" b="0" i="0">
                <a:solidFill>
                  <a:srgbClr val="6D7E87"/>
                </a:solidFill>
                <a:latin typeface="DejaVu Sans"/>
                <a:ea typeface="DejaVu Sans"/>
                <a:cs typeface="DejaVu Sans"/>
              </a:rPr>
              <a:t>Training and controlled launch</a:t>
            </a:r>
          </a:p>
        </p:txBody>
      </p:sp>
      <p:sp>
        <p:nvSpPr>
          <p:cNvPr id="29" name="Rectángulo: esquinas redondeadas 28">
            <a:extLst>
              <a:ext uri="{FF2B5EF4-FFF2-40B4-BE49-F238E27FC236}">
                <a16:creationId xmlns:a16="http://schemas.microsoft.com/office/drawing/2014/main" id="{3432D831-9E12-4DCD-8C90-AAFF58D51062}"/>
              </a:ext>
            </a:extLst>
          </p:cNvPr>
          <p:cNvSpPr>
            <a:spLocks noGrp="1"/>
          </p:cNvSpPr>
          <p:nvPr/>
        </p:nvSpPr>
        <p:spPr>
          <a:xfrm>
            <a:off x="6191250" y="5715000"/>
            <a:ext cx="4762500" cy="495300"/>
          </a:xfrm>
          <a:prstGeom prst="roundRect">
            <a:avLst>
              <a:gd name="adj" fmla="val 23077"/>
            </a:avLst>
          </a:prstGeom>
          <a:solidFill>
            <a:srgbClr val="F1E8D7"/>
          </a:solidFill>
          <a:ln w="0">
            <a:noFill/>
          </a:ln>
        </p:spPr>
      </p:sp>
      <p:sp>
        <p:nvSpPr>
          <p:cNvPr id="30" name="Rectángulo 29">
            <a:extLst>
              <a:ext uri="{FF2B5EF4-FFF2-40B4-BE49-F238E27FC236}">
                <a16:creationId xmlns:a16="http://schemas.microsoft.com/office/drawing/2014/main" id="{48099EBD-FE0C-40DA-9624-E951407A1CE9}"/>
              </a:ext>
            </a:extLst>
          </p:cNvPr>
          <p:cNvSpPr>
            <a:spLocks noGrp="1"/>
          </p:cNvSpPr>
          <p:nvPr/>
        </p:nvSpPr>
        <p:spPr>
          <a:xfrm>
            <a:off x="6438900" y="5819775"/>
            <a:ext cx="4286250" cy="266700"/>
          </a:xfrm>
          <a:prstGeom prst="rect">
            <a:avLst/>
          </a:prstGeom>
          <a:noFill/>
          <a:ln w="0">
            <a:noFill/>
          </a:ln>
        </p:spPr>
        <p:txBody>
          <a:bodyPr anchor="t">
            <a:normAutofit fontScale="71563"/>
          </a:bodyPr>
          <a:lstStyle/>
          <a:p>
            <a:pPr algn="ctr">
              <a:defRPr sz="1125" b="1" i="0">
                <a:solidFill>
                  <a:srgbClr val="17324D"/>
                </a:solidFill>
                <a:latin typeface="DejaVu Sans"/>
                <a:ea typeface="DejaVu Sans"/>
                <a:cs typeface="DejaVu Sans"/>
              </a:defRPr>
            </a:pPr>
            <a:r>
              <a:rPr sz="1125" b="1" i="0">
                <a:solidFill>
                  <a:srgbClr val="17324D"/>
                </a:solidFill>
                <a:latin typeface="DejaVu Sans"/>
                <a:ea typeface="DejaVu Sans"/>
                <a:cs typeface="DejaVu Sans"/>
              </a:rPr>
              <a:t>Go forward only after pass thresholds and GDPR controls are approved</a:t>
            </a:r>
          </a:p>
        </p:txBody>
      </p:sp>
    </p:spTree>
    <p:extLst>
      <p:ext uri="{BB962C8B-B14F-4D97-AF65-F5344CB8AC3E}">
        <p14:creationId xmlns:p14="http://schemas.microsoft.com/office/powerpoint/2010/main" val="1624488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7EF"/>
        </a:solidFill>
        <a:effectLst/>
      </p:bgPr>
    </p:bg>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90C3CFD2-B1ED-4D19-82A4-5E9D414A452D}"/>
              </a:ext>
            </a:extLst>
          </p:cNvPr>
          <p:cNvSpPr>
            <a:spLocks noGrp="1"/>
          </p:cNvSpPr>
          <p:nvPr/>
        </p:nvSpPr>
        <p:spPr>
          <a:xfrm>
            <a:off x="0" y="0"/>
            <a:ext cx="12192000" cy="114300"/>
          </a:xfrm>
          <a:prstGeom prst="rect">
            <a:avLst/>
          </a:prstGeom>
          <a:solidFill>
            <a:srgbClr val="1C7180"/>
          </a:solidFill>
          <a:ln w="0">
            <a:noFill/>
          </a:ln>
        </p:spPr>
      </p:sp>
      <p:sp>
        <p:nvSpPr>
          <p:cNvPr id="2" name="Rectángulo 1">
            <a:extLst>
              <a:ext uri="{FF2B5EF4-FFF2-40B4-BE49-F238E27FC236}">
                <a16:creationId xmlns:a16="http://schemas.microsoft.com/office/drawing/2014/main" id="{6ECA44D7-3754-4151-93F2-6EFE936083A1}"/>
              </a:ext>
            </a:extLst>
          </p:cNvPr>
          <p:cNvSpPr>
            <a:spLocks noGrp="1"/>
          </p:cNvSpPr>
          <p:nvPr/>
        </p:nvSpPr>
        <p:spPr>
          <a:xfrm>
            <a:off x="609600" y="333375"/>
            <a:ext cx="5334000" cy="209550"/>
          </a:xfrm>
          <a:prstGeom prst="rect">
            <a:avLst/>
          </a:prstGeom>
          <a:noFill/>
          <a:ln w="0">
            <a:noFill/>
          </a:ln>
        </p:spPr>
        <p:txBody>
          <a:bodyPr anchor="t">
            <a:normAutofit fontScale="93939"/>
          </a:bodyPr>
          <a:lstStyle/>
          <a:p>
            <a:pPr algn="l">
              <a:defRPr sz="825" b="1" i="0">
                <a:solidFill>
                  <a:srgbClr val="1C7180"/>
                </a:solidFill>
                <a:latin typeface="DejaVu Sans"/>
                <a:ea typeface="DejaVu Sans"/>
                <a:cs typeface="DejaVu Sans"/>
              </a:defRPr>
            </a:pPr>
            <a:r>
              <a:rPr sz="825" b="1" i="0">
                <a:solidFill>
                  <a:srgbClr val="1C7180"/>
                </a:solidFill>
                <a:latin typeface="DejaVu Sans"/>
                <a:ea typeface="DejaVu Sans"/>
                <a:cs typeface="DejaVu Sans"/>
              </a:rPr>
              <a:t>TEACHING STAFF FEEDBACK GATE</a:t>
            </a:r>
          </a:p>
        </p:txBody>
      </p:sp>
      <p:sp>
        <p:nvSpPr>
          <p:cNvPr id="3" name="Rectángulo 2">
            <a:extLst>
              <a:ext uri="{FF2B5EF4-FFF2-40B4-BE49-F238E27FC236}">
                <a16:creationId xmlns:a16="http://schemas.microsoft.com/office/drawing/2014/main" id="{81F72C85-5A81-466E-97BF-A04516EF7AF9}"/>
              </a:ext>
            </a:extLst>
          </p:cNvPr>
          <p:cNvSpPr>
            <a:spLocks noGrp="1"/>
          </p:cNvSpPr>
          <p:nvPr/>
        </p:nvSpPr>
        <p:spPr>
          <a:xfrm>
            <a:off x="609600" y="666750"/>
            <a:ext cx="10287000" cy="628650"/>
          </a:xfrm>
          <a:prstGeom prst="rect">
            <a:avLst/>
          </a:prstGeom>
          <a:noFill/>
          <a:ln w="0">
            <a:noFill/>
          </a:ln>
        </p:spPr>
        <p:txBody>
          <a:bodyPr anchor="ctr">
            <a:normAutofit/>
          </a:bodyPr>
          <a:lstStyle/>
          <a:p>
            <a:pPr algn="l">
              <a:defRPr sz="2400" b="1" i="0">
                <a:solidFill>
                  <a:srgbClr val="17324D"/>
                </a:solidFill>
                <a:latin typeface="DejaVu Serif"/>
                <a:ea typeface="DejaVu Serif"/>
                <a:cs typeface="DejaVu Serif"/>
              </a:defRPr>
            </a:pPr>
            <a:r>
              <a:rPr sz="2400" b="1" i="0">
                <a:solidFill>
                  <a:srgbClr val="17324D"/>
                </a:solidFill>
                <a:latin typeface="DejaVu Serif"/>
                <a:ea typeface="DejaVu Serif"/>
                <a:cs typeface="DejaVu Serif"/>
              </a:rPr>
              <a:t>Round 1 ends with a decision, not a promise</a:t>
            </a:r>
          </a:p>
        </p:txBody>
      </p:sp>
      <p:sp>
        <p:nvSpPr>
          <p:cNvPr id="4" name="Rectángulo 3">
            <a:extLst>
              <a:ext uri="{FF2B5EF4-FFF2-40B4-BE49-F238E27FC236}">
                <a16:creationId xmlns:a16="http://schemas.microsoft.com/office/drawing/2014/main" id="{16FDE5CA-9F98-422E-A0EF-EDA25AC86C2A}"/>
              </a:ext>
            </a:extLst>
          </p:cNvPr>
          <p:cNvSpPr>
            <a:spLocks noGrp="1"/>
          </p:cNvSpPr>
          <p:nvPr/>
        </p:nvSpPr>
        <p:spPr>
          <a:xfrm>
            <a:off x="11144250" y="409575"/>
            <a:ext cx="438150" cy="228600"/>
          </a:xfrm>
          <a:prstGeom prst="rect">
            <a:avLst/>
          </a:prstGeom>
          <a:noFill/>
          <a:ln w="0">
            <a:noFill/>
          </a:ln>
        </p:spPr>
        <p:txBody>
          <a:bodyPr anchor="t">
            <a:normAutofit/>
          </a:bodyPr>
          <a:lstStyle/>
          <a:p>
            <a:pPr algn="r">
              <a:defRPr sz="900" b="1" i="0">
                <a:solidFill>
                  <a:srgbClr val="6D7E87"/>
                </a:solidFill>
                <a:latin typeface="DejaVu Sans"/>
                <a:ea typeface="DejaVu Sans"/>
                <a:cs typeface="DejaVu Sans"/>
              </a:defRPr>
            </a:pPr>
            <a:r>
              <a:rPr sz="900" b="1" i="0">
                <a:solidFill>
                  <a:srgbClr val="6D7E87"/>
                </a:solidFill>
                <a:latin typeface="DejaVu Sans"/>
                <a:ea typeface="DejaVu Sans"/>
                <a:cs typeface="DejaVu Sans"/>
              </a:rPr>
              <a:t>15</a:t>
            </a:r>
          </a:p>
        </p:txBody>
      </p:sp>
      <p:sp>
        <p:nvSpPr>
          <p:cNvPr id="5" name="Rectángulo 4">
            <a:extLst>
              <a:ext uri="{FF2B5EF4-FFF2-40B4-BE49-F238E27FC236}">
                <a16:creationId xmlns:a16="http://schemas.microsoft.com/office/drawing/2014/main" id="{1886805D-256D-4F53-A05E-B1AB538AB36C}"/>
              </a:ext>
            </a:extLst>
          </p:cNvPr>
          <p:cNvSpPr>
            <a:spLocks noGrp="1"/>
          </p:cNvSpPr>
          <p:nvPr/>
        </p:nvSpPr>
        <p:spPr>
          <a:xfrm>
            <a:off x="609600" y="1304925"/>
            <a:ext cx="10972800" cy="9525"/>
          </a:xfrm>
          <a:prstGeom prst="rect">
            <a:avLst/>
          </a:prstGeom>
          <a:solidFill>
            <a:srgbClr val="D8D1C4"/>
          </a:solidFill>
          <a:ln w="0">
            <a:noFill/>
          </a:ln>
        </p:spPr>
      </p:sp>
      <p:sp>
        <p:nvSpPr>
          <p:cNvPr id="6" name="Rectángulo: esquinas redondeadas 5">
            <a:extLst>
              <a:ext uri="{FF2B5EF4-FFF2-40B4-BE49-F238E27FC236}">
                <a16:creationId xmlns:a16="http://schemas.microsoft.com/office/drawing/2014/main" id="{44864D92-986A-402F-BA7A-0FA297351743}"/>
              </a:ext>
            </a:extLst>
          </p:cNvPr>
          <p:cNvSpPr>
            <a:spLocks noGrp="1"/>
          </p:cNvSpPr>
          <p:nvPr/>
        </p:nvSpPr>
        <p:spPr>
          <a:xfrm>
            <a:off x="666750" y="1571625"/>
            <a:ext cx="5095875" cy="914400"/>
          </a:xfrm>
          <a:prstGeom prst="roundRect">
            <a:avLst>
              <a:gd name="adj" fmla="val 14583"/>
            </a:avLst>
          </a:prstGeom>
          <a:solidFill>
            <a:srgbClr val="FFFFFF"/>
          </a:solidFill>
          <a:ln w="9525">
            <a:solidFill>
              <a:srgbClr val="D8D1C4"/>
            </a:solidFill>
            <a:prstDash val="solid"/>
          </a:ln>
        </p:spPr>
      </p:sp>
      <p:sp>
        <p:nvSpPr>
          <p:cNvPr id="7" name="Elipse 6">
            <a:extLst>
              <a:ext uri="{FF2B5EF4-FFF2-40B4-BE49-F238E27FC236}">
                <a16:creationId xmlns:a16="http://schemas.microsoft.com/office/drawing/2014/main" id="{3813AB56-AB2D-4978-A7FC-6F0F7591D25A}"/>
              </a:ext>
            </a:extLst>
          </p:cNvPr>
          <p:cNvSpPr>
            <a:spLocks noGrp="1"/>
          </p:cNvSpPr>
          <p:nvPr/>
        </p:nvSpPr>
        <p:spPr>
          <a:xfrm>
            <a:off x="857250" y="1781175"/>
            <a:ext cx="457200" cy="457200"/>
          </a:xfrm>
          <a:prstGeom prst="ellipse">
            <a:avLst/>
          </a:prstGeom>
          <a:solidFill>
            <a:srgbClr val="1C7180"/>
          </a:solidFill>
          <a:ln w="0">
            <a:noFill/>
          </a:ln>
        </p:spPr>
      </p:sp>
      <p:sp>
        <p:nvSpPr>
          <p:cNvPr id="8" name="Rectángulo 7">
            <a:extLst>
              <a:ext uri="{FF2B5EF4-FFF2-40B4-BE49-F238E27FC236}">
                <a16:creationId xmlns:a16="http://schemas.microsoft.com/office/drawing/2014/main" id="{B072FCD7-AC8F-4144-850C-52454FB06709}"/>
              </a:ext>
            </a:extLst>
          </p:cNvPr>
          <p:cNvSpPr>
            <a:spLocks noGrp="1"/>
          </p:cNvSpPr>
          <p:nvPr/>
        </p:nvSpPr>
        <p:spPr>
          <a:xfrm>
            <a:off x="857250" y="1847850"/>
            <a:ext cx="457200" cy="30480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1</a:t>
            </a:r>
          </a:p>
        </p:txBody>
      </p:sp>
      <p:sp>
        <p:nvSpPr>
          <p:cNvPr id="9" name="Rectángulo 8">
            <a:extLst>
              <a:ext uri="{FF2B5EF4-FFF2-40B4-BE49-F238E27FC236}">
                <a16:creationId xmlns:a16="http://schemas.microsoft.com/office/drawing/2014/main" id="{E02B4B92-4E01-4314-A248-056C981B2A59}"/>
              </a:ext>
            </a:extLst>
          </p:cNvPr>
          <p:cNvSpPr>
            <a:spLocks noGrp="1"/>
          </p:cNvSpPr>
          <p:nvPr/>
        </p:nvSpPr>
        <p:spPr>
          <a:xfrm>
            <a:off x="1504950" y="1743075"/>
            <a:ext cx="3952875" cy="552450"/>
          </a:xfrm>
          <a:prstGeom prst="rect">
            <a:avLst/>
          </a:prstGeom>
          <a:noFill/>
          <a:ln w="0">
            <a:noFill/>
          </a:ln>
        </p:spPr>
        <p:txBody>
          <a:bodyPr anchor="ctr">
            <a:normAutofit/>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What feedback appears most often?</a:t>
            </a:r>
          </a:p>
        </p:txBody>
      </p:sp>
      <p:sp>
        <p:nvSpPr>
          <p:cNvPr id="10" name="Rectángulo: esquinas redondeadas 9">
            <a:extLst>
              <a:ext uri="{FF2B5EF4-FFF2-40B4-BE49-F238E27FC236}">
                <a16:creationId xmlns:a16="http://schemas.microsoft.com/office/drawing/2014/main" id="{66352101-C1D2-4217-A526-08B4E961294B}"/>
              </a:ext>
            </a:extLst>
          </p:cNvPr>
          <p:cNvSpPr>
            <a:spLocks noGrp="1"/>
          </p:cNvSpPr>
          <p:nvPr/>
        </p:nvSpPr>
        <p:spPr>
          <a:xfrm>
            <a:off x="6143625" y="1571625"/>
            <a:ext cx="5095875" cy="914400"/>
          </a:xfrm>
          <a:prstGeom prst="roundRect">
            <a:avLst>
              <a:gd name="adj" fmla="val 14583"/>
            </a:avLst>
          </a:prstGeom>
          <a:solidFill>
            <a:srgbClr val="FFFFFF"/>
          </a:solidFill>
          <a:ln w="9525">
            <a:solidFill>
              <a:srgbClr val="D8D1C4"/>
            </a:solidFill>
            <a:prstDash val="solid"/>
          </a:ln>
        </p:spPr>
      </p:sp>
      <p:sp>
        <p:nvSpPr>
          <p:cNvPr id="11" name="Elipse 10">
            <a:extLst>
              <a:ext uri="{FF2B5EF4-FFF2-40B4-BE49-F238E27FC236}">
                <a16:creationId xmlns:a16="http://schemas.microsoft.com/office/drawing/2014/main" id="{0398C937-7722-497B-8039-85F46984B477}"/>
              </a:ext>
            </a:extLst>
          </p:cNvPr>
          <p:cNvSpPr>
            <a:spLocks noGrp="1"/>
          </p:cNvSpPr>
          <p:nvPr/>
        </p:nvSpPr>
        <p:spPr>
          <a:xfrm>
            <a:off x="6334125" y="1781175"/>
            <a:ext cx="457200" cy="457200"/>
          </a:xfrm>
          <a:prstGeom prst="ellipse">
            <a:avLst/>
          </a:prstGeom>
          <a:solidFill>
            <a:srgbClr val="1C7180"/>
          </a:solidFill>
          <a:ln w="0">
            <a:noFill/>
          </a:ln>
        </p:spPr>
      </p:sp>
      <p:sp>
        <p:nvSpPr>
          <p:cNvPr id="12" name="Rectángulo 11">
            <a:extLst>
              <a:ext uri="{FF2B5EF4-FFF2-40B4-BE49-F238E27FC236}">
                <a16:creationId xmlns:a16="http://schemas.microsoft.com/office/drawing/2014/main" id="{8B736A4F-7491-4DB2-BF7A-57620DC09A4A}"/>
              </a:ext>
            </a:extLst>
          </p:cNvPr>
          <p:cNvSpPr>
            <a:spLocks noGrp="1"/>
          </p:cNvSpPr>
          <p:nvPr/>
        </p:nvSpPr>
        <p:spPr>
          <a:xfrm>
            <a:off x="6334125" y="1847850"/>
            <a:ext cx="457200" cy="30480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2</a:t>
            </a:r>
          </a:p>
        </p:txBody>
      </p:sp>
      <p:sp>
        <p:nvSpPr>
          <p:cNvPr id="13" name="Rectángulo 12">
            <a:extLst>
              <a:ext uri="{FF2B5EF4-FFF2-40B4-BE49-F238E27FC236}">
                <a16:creationId xmlns:a16="http://schemas.microsoft.com/office/drawing/2014/main" id="{2C337D7D-961F-4D95-BBB2-9748BAE7583B}"/>
              </a:ext>
            </a:extLst>
          </p:cNvPr>
          <p:cNvSpPr>
            <a:spLocks noGrp="1"/>
          </p:cNvSpPr>
          <p:nvPr/>
        </p:nvSpPr>
        <p:spPr>
          <a:xfrm>
            <a:off x="6981825" y="1743075"/>
            <a:ext cx="3952875" cy="552450"/>
          </a:xfrm>
          <a:prstGeom prst="rect">
            <a:avLst/>
          </a:prstGeom>
          <a:noFill/>
          <a:ln w="0">
            <a:noFill/>
          </a:ln>
        </p:spPr>
        <p:txBody>
          <a:bodyPr anchor="ctr">
            <a:normAutofit/>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Is this industry and use case worth deepening?</a:t>
            </a:r>
          </a:p>
        </p:txBody>
      </p:sp>
      <p:sp>
        <p:nvSpPr>
          <p:cNvPr id="14" name="Rectángulo: esquinas redondeadas 13">
            <a:extLst>
              <a:ext uri="{FF2B5EF4-FFF2-40B4-BE49-F238E27FC236}">
                <a16:creationId xmlns:a16="http://schemas.microsoft.com/office/drawing/2014/main" id="{71702FD9-BC16-47C5-A4B0-2013A45254F7}"/>
              </a:ext>
            </a:extLst>
          </p:cNvPr>
          <p:cNvSpPr>
            <a:spLocks noGrp="1"/>
          </p:cNvSpPr>
          <p:nvPr/>
        </p:nvSpPr>
        <p:spPr>
          <a:xfrm>
            <a:off x="666750" y="2762250"/>
            <a:ext cx="5095875" cy="914400"/>
          </a:xfrm>
          <a:prstGeom prst="roundRect">
            <a:avLst>
              <a:gd name="adj" fmla="val 14583"/>
            </a:avLst>
          </a:prstGeom>
          <a:solidFill>
            <a:srgbClr val="17324D"/>
          </a:solidFill>
          <a:ln w="9525">
            <a:solidFill>
              <a:srgbClr val="17324D"/>
            </a:solidFill>
            <a:prstDash val="solid"/>
          </a:ln>
        </p:spPr>
      </p:sp>
      <p:sp>
        <p:nvSpPr>
          <p:cNvPr id="15" name="Elipse 14">
            <a:extLst>
              <a:ext uri="{FF2B5EF4-FFF2-40B4-BE49-F238E27FC236}">
                <a16:creationId xmlns:a16="http://schemas.microsoft.com/office/drawing/2014/main" id="{403A7FE5-59B4-4AC8-B4C4-FCCE6DDC0010}"/>
              </a:ext>
            </a:extLst>
          </p:cNvPr>
          <p:cNvSpPr>
            <a:spLocks noGrp="1"/>
          </p:cNvSpPr>
          <p:nvPr/>
        </p:nvSpPr>
        <p:spPr>
          <a:xfrm>
            <a:off x="857250" y="2971800"/>
            <a:ext cx="457200" cy="457200"/>
          </a:xfrm>
          <a:prstGeom prst="ellipse">
            <a:avLst/>
          </a:prstGeom>
          <a:solidFill>
            <a:srgbClr val="C96A4B"/>
          </a:solidFill>
          <a:ln w="0">
            <a:noFill/>
          </a:ln>
        </p:spPr>
      </p:sp>
      <p:sp>
        <p:nvSpPr>
          <p:cNvPr id="16" name="Rectángulo 15">
            <a:extLst>
              <a:ext uri="{FF2B5EF4-FFF2-40B4-BE49-F238E27FC236}">
                <a16:creationId xmlns:a16="http://schemas.microsoft.com/office/drawing/2014/main" id="{D9F2672E-EC37-4F85-A7B9-64CC0CB64697}"/>
              </a:ext>
            </a:extLst>
          </p:cNvPr>
          <p:cNvSpPr>
            <a:spLocks noGrp="1"/>
          </p:cNvSpPr>
          <p:nvPr/>
        </p:nvSpPr>
        <p:spPr>
          <a:xfrm>
            <a:off x="857250" y="3038475"/>
            <a:ext cx="457200" cy="30480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3</a:t>
            </a:r>
          </a:p>
        </p:txBody>
      </p:sp>
      <p:sp>
        <p:nvSpPr>
          <p:cNvPr id="17" name="Rectángulo 16">
            <a:extLst>
              <a:ext uri="{FF2B5EF4-FFF2-40B4-BE49-F238E27FC236}">
                <a16:creationId xmlns:a16="http://schemas.microsoft.com/office/drawing/2014/main" id="{89ADBF8C-9485-4E19-A049-7AC41D751995}"/>
              </a:ext>
            </a:extLst>
          </p:cNvPr>
          <p:cNvSpPr>
            <a:spLocks noGrp="1"/>
          </p:cNvSpPr>
          <p:nvPr/>
        </p:nvSpPr>
        <p:spPr>
          <a:xfrm>
            <a:off x="1504950" y="2933700"/>
            <a:ext cx="3952875" cy="552450"/>
          </a:xfrm>
          <a:prstGeom prst="rect">
            <a:avLst/>
          </a:prstGeom>
          <a:noFill/>
          <a:ln w="0">
            <a:noFill/>
          </a:ln>
        </p:spPr>
        <p:txBody>
          <a:bodyPr anchor="ctr">
            <a:normAutofit/>
          </a:bodyPr>
          <a:lstStyle/>
          <a:p>
            <a:pPr algn="l">
              <a:defRPr sz="1350" b="1" i="0">
                <a:solidFill>
                  <a:srgbClr val="FFFFFF"/>
                </a:solidFill>
                <a:latin typeface="DejaVu Sans"/>
                <a:ea typeface="DejaVu Sans"/>
                <a:cs typeface="DejaVu Sans"/>
              </a:defRPr>
            </a:pPr>
            <a:r>
              <a:rPr sz="1350" b="1" i="0">
                <a:solidFill>
                  <a:srgbClr val="FFFFFF"/>
                </a:solidFill>
                <a:latin typeface="DejaVu Sans"/>
                <a:ea typeface="DejaVu Sans"/>
                <a:cs typeface="DejaVu Sans"/>
              </a:rPr>
              <a:t>KEEP or CHANGE?</a:t>
            </a:r>
          </a:p>
        </p:txBody>
      </p:sp>
      <p:sp>
        <p:nvSpPr>
          <p:cNvPr id="18" name="Rectángulo: esquinas redondeadas 17">
            <a:extLst>
              <a:ext uri="{FF2B5EF4-FFF2-40B4-BE49-F238E27FC236}">
                <a16:creationId xmlns:a16="http://schemas.microsoft.com/office/drawing/2014/main" id="{DA45B8ED-DEBE-4966-A99D-7DE56DD11CEA}"/>
              </a:ext>
            </a:extLst>
          </p:cNvPr>
          <p:cNvSpPr>
            <a:spLocks noGrp="1"/>
          </p:cNvSpPr>
          <p:nvPr/>
        </p:nvSpPr>
        <p:spPr>
          <a:xfrm>
            <a:off x="6143625" y="2762250"/>
            <a:ext cx="5095875" cy="914400"/>
          </a:xfrm>
          <a:prstGeom prst="roundRect">
            <a:avLst>
              <a:gd name="adj" fmla="val 14583"/>
            </a:avLst>
          </a:prstGeom>
          <a:solidFill>
            <a:srgbClr val="FFFFFF"/>
          </a:solidFill>
          <a:ln w="9525">
            <a:solidFill>
              <a:srgbClr val="D8D1C4"/>
            </a:solidFill>
            <a:prstDash val="solid"/>
          </a:ln>
        </p:spPr>
      </p:sp>
      <p:sp>
        <p:nvSpPr>
          <p:cNvPr id="19" name="Elipse 18">
            <a:extLst>
              <a:ext uri="{FF2B5EF4-FFF2-40B4-BE49-F238E27FC236}">
                <a16:creationId xmlns:a16="http://schemas.microsoft.com/office/drawing/2014/main" id="{0FA4B8F8-A8F2-4296-9E30-183183F27041}"/>
              </a:ext>
            </a:extLst>
          </p:cNvPr>
          <p:cNvSpPr>
            <a:spLocks noGrp="1"/>
          </p:cNvSpPr>
          <p:nvPr/>
        </p:nvSpPr>
        <p:spPr>
          <a:xfrm>
            <a:off x="6334125" y="2971800"/>
            <a:ext cx="457200" cy="457200"/>
          </a:xfrm>
          <a:prstGeom prst="ellipse">
            <a:avLst/>
          </a:prstGeom>
          <a:solidFill>
            <a:srgbClr val="1C7180"/>
          </a:solidFill>
          <a:ln w="0">
            <a:noFill/>
          </a:ln>
        </p:spPr>
      </p:sp>
      <p:sp>
        <p:nvSpPr>
          <p:cNvPr id="20" name="Rectángulo 19">
            <a:extLst>
              <a:ext uri="{FF2B5EF4-FFF2-40B4-BE49-F238E27FC236}">
                <a16:creationId xmlns:a16="http://schemas.microsoft.com/office/drawing/2014/main" id="{78035895-7010-4CFF-AEF9-44793103CE40}"/>
              </a:ext>
            </a:extLst>
          </p:cNvPr>
          <p:cNvSpPr>
            <a:spLocks noGrp="1"/>
          </p:cNvSpPr>
          <p:nvPr/>
        </p:nvSpPr>
        <p:spPr>
          <a:xfrm>
            <a:off x="6334125" y="3038475"/>
            <a:ext cx="457200" cy="30480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4</a:t>
            </a:r>
          </a:p>
        </p:txBody>
      </p:sp>
      <p:sp>
        <p:nvSpPr>
          <p:cNvPr id="21" name="Rectángulo 20">
            <a:extLst>
              <a:ext uri="{FF2B5EF4-FFF2-40B4-BE49-F238E27FC236}">
                <a16:creationId xmlns:a16="http://schemas.microsoft.com/office/drawing/2014/main" id="{99979BE7-2A4E-4D75-98ED-8FD511E011AA}"/>
              </a:ext>
            </a:extLst>
          </p:cNvPr>
          <p:cNvSpPr>
            <a:spLocks noGrp="1"/>
          </p:cNvSpPr>
          <p:nvPr/>
        </p:nvSpPr>
        <p:spPr>
          <a:xfrm>
            <a:off x="6981825" y="2933700"/>
            <a:ext cx="3952875" cy="552450"/>
          </a:xfrm>
          <a:prstGeom prst="rect">
            <a:avLst/>
          </a:prstGeom>
          <a:noFill/>
          <a:ln w="0">
            <a:noFill/>
          </a:ln>
        </p:spPr>
        <p:txBody>
          <a:bodyPr anchor="ctr">
            <a:normAutofit/>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Which Round 2 document creates the highest risk?</a:t>
            </a:r>
          </a:p>
        </p:txBody>
      </p:sp>
      <p:sp>
        <p:nvSpPr>
          <p:cNvPr id="22" name="Rectángulo: esquinas redondeadas 21">
            <a:extLst>
              <a:ext uri="{FF2B5EF4-FFF2-40B4-BE49-F238E27FC236}">
                <a16:creationId xmlns:a16="http://schemas.microsoft.com/office/drawing/2014/main" id="{97C16ED4-36F2-4CC8-A88D-EDDAEC5CEB35}"/>
              </a:ext>
            </a:extLst>
          </p:cNvPr>
          <p:cNvSpPr>
            <a:spLocks noGrp="1"/>
          </p:cNvSpPr>
          <p:nvPr/>
        </p:nvSpPr>
        <p:spPr>
          <a:xfrm>
            <a:off x="666750" y="3952875"/>
            <a:ext cx="5095875" cy="914400"/>
          </a:xfrm>
          <a:prstGeom prst="roundRect">
            <a:avLst>
              <a:gd name="adj" fmla="val 14583"/>
            </a:avLst>
          </a:prstGeom>
          <a:solidFill>
            <a:srgbClr val="FFFFFF"/>
          </a:solidFill>
          <a:ln w="9525">
            <a:solidFill>
              <a:srgbClr val="D8D1C4"/>
            </a:solidFill>
            <a:prstDash val="solid"/>
          </a:ln>
        </p:spPr>
      </p:sp>
      <p:sp>
        <p:nvSpPr>
          <p:cNvPr id="23" name="Elipse 22">
            <a:extLst>
              <a:ext uri="{FF2B5EF4-FFF2-40B4-BE49-F238E27FC236}">
                <a16:creationId xmlns:a16="http://schemas.microsoft.com/office/drawing/2014/main" id="{1A6F08DF-E94A-43E8-B505-146D8DAB84D8}"/>
              </a:ext>
            </a:extLst>
          </p:cNvPr>
          <p:cNvSpPr>
            <a:spLocks noGrp="1"/>
          </p:cNvSpPr>
          <p:nvPr/>
        </p:nvSpPr>
        <p:spPr>
          <a:xfrm>
            <a:off x="857250" y="4162425"/>
            <a:ext cx="457200" cy="457200"/>
          </a:xfrm>
          <a:prstGeom prst="ellipse">
            <a:avLst/>
          </a:prstGeom>
          <a:solidFill>
            <a:srgbClr val="1C7180"/>
          </a:solidFill>
          <a:ln w="0">
            <a:noFill/>
          </a:ln>
        </p:spPr>
      </p:sp>
      <p:sp>
        <p:nvSpPr>
          <p:cNvPr id="24" name="Rectángulo 23">
            <a:extLst>
              <a:ext uri="{FF2B5EF4-FFF2-40B4-BE49-F238E27FC236}">
                <a16:creationId xmlns:a16="http://schemas.microsoft.com/office/drawing/2014/main" id="{7A1B3409-60D6-4246-9F40-FE0A0D8A1E24}"/>
              </a:ext>
            </a:extLst>
          </p:cNvPr>
          <p:cNvSpPr>
            <a:spLocks noGrp="1"/>
          </p:cNvSpPr>
          <p:nvPr/>
        </p:nvSpPr>
        <p:spPr>
          <a:xfrm>
            <a:off x="857250" y="4229100"/>
            <a:ext cx="457200" cy="30480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5</a:t>
            </a:r>
          </a:p>
        </p:txBody>
      </p:sp>
      <p:sp>
        <p:nvSpPr>
          <p:cNvPr id="25" name="Rectángulo 24">
            <a:extLst>
              <a:ext uri="{FF2B5EF4-FFF2-40B4-BE49-F238E27FC236}">
                <a16:creationId xmlns:a16="http://schemas.microsoft.com/office/drawing/2014/main" id="{C4B8C72E-7C12-48A8-B8CD-7EE7986641C7}"/>
              </a:ext>
            </a:extLst>
          </p:cNvPr>
          <p:cNvSpPr>
            <a:spLocks noGrp="1"/>
          </p:cNvSpPr>
          <p:nvPr/>
        </p:nvSpPr>
        <p:spPr>
          <a:xfrm>
            <a:off x="1504950" y="4124325"/>
            <a:ext cx="3952875" cy="552450"/>
          </a:xfrm>
          <a:prstGeom prst="rect">
            <a:avLst/>
          </a:prstGeom>
          <a:noFill/>
          <a:ln w="0">
            <a:noFill/>
          </a:ln>
        </p:spPr>
        <p:txBody>
          <a:bodyPr anchor="ctr">
            <a:normAutofit/>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Does the smallest MVP still prove the case?</a:t>
            </a:r>
          </a:p>
        </p:txBody>
      </p:sp>
      <p:sp>
        <p:nvSpPr>
          <p:cNvPr id="26" name="Rectángulo: esquinas redondeadas 25">
            <a:extLst>
              <a:ext uri="{FF2B5EF4-FFF2-40B4-BE49-F238E27FC236}">
                <a16:creationId xmlns:a16="http://schemas.microsoft.com/office/drawing/2014/main" id="{6A3A2A3B-6356-4473-92E4-F1EE64B3AABF}"/>
              </a:ext>
            </a:extLst>
          </p:cNvPr>
          <p:cNvSpPr>
            <a:spLocks noGrp="1"/>
          </p:cNvSpPr>
          <p:nvPr/>
        </p:nvSpPr>
        <p:spPr>
          <a:xfrm>
            <a:off x="6143625" y="3952875"/>
            <a:ext cx="5095875" cy="914400"/>
          </a:xfrm>
          <a:prstGeom prst="roundRect">
            <a:avLst>
              <a:gd name="adj" fmla="val 14583"/>
            </a:avLst>
          </a:prstGeom>
          <a:solidFill>
            <a:srgbClr val="FFFFFF"/>
          </a:solidFill>
          <a:ln w="9525">
            <a:solidFill>
              <a:srgbClr val="D8D1C4"/>
            </a:solidFill>
            <a:prstDash val="solid"/>
          </a:ln>
        </p:spPr>
      </p:sp>
      <p:sp>
        <p:nvSpPr>
          <p:cNvPr id="27" name="Elipse 26">
            <a:extLst>
              <a:ext uri="{FF2B5EF4-FFF2-40B4-BE49-F238E27FC236}">
                <a16:creationId xmlns:a16="http://schemas.microsoft.com/office/drawing/2014/main" id="{DC31E099-5318-46D2-B97D-FE1F754D6B56}"/>
              </a:ext>
            </a:extLst>
          </p:cNvPr>
          <p:cNvSpPr>
            <a:spLocks noGrp="1"/>
          </p:cNvSpPr>
          <p:nvPr/>
        </p:nvSpPr>
        <p:spPr>
          <a:xfrm>
            <a:off x="6334125" y="4162425"/>
            <a:ext cx="457200" cy="457200"/>
          </a:xfrm>
          <a:prstGeom prst="ellipse">
            <a:avLst/>
          </a:prstGeom>
          <a:solidFill>
            <a:srgbClr val="1C7180"/>
          </a:solidFill>
          <a:ln w="0">
            <a:noFill/>
          </a:ln>
        </p:spPr>
      </p:sp>
      <p:sp>
        <p:nvSpPr>
          <p:cNvPr id="28" name="Rectángulo 27">
            <a:extLst>
              <a:ext uri="{FF2B5EF4-FFF2-40B4-BE49-F238E27FC236}">
                <a16:creationId xmlns:a16="http://schemas.microsoft.com/office/drawing/2014/main" id="{D193E1F5-1BF0-4889-AC7C-076D1F7BBF16}"/>
              </a:ext>
            </a:extLst>
          </p:cNvPr>
          <p:cNvSpPr>
            <a:spLocks noGrp="1"/>
          </p:cNvSpPr>
          <p:nvPr/>
        </p:nvSpPr>
        <p:spPr>
          <a:xfrm>
            <a:off x="6334125" y="4229100"/>
            <a:ext cx="457200" cy="304800"/>
          </a:xfrm>
          <a:prstGeom prst="rect">
            <a:avLst/>
          </a:prstGeom>
          <a:noFill/>
          <a:ln w="0">
            <a:noFill/>
          </a:ln>
        </p:spPr>
        <p:txBody>
          <a:bodyPr anchor="ctr">
            <a:normAutofit/>
          </a:bodyPr>
          <a:lstStyle/>
          <a:p>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6</a:t>
            </a:r>
          </a:p>
        </p:txBody>
      </p:sp>
      <p:sp>
        <p:nvSpPr>
          <p:cNvPr id="29" name="Rectángulo 28">
            <a:extLst>
              <a:ext uri="{FF2B5EF4-FFF2-40B4-BE49-F238E27FC236}">
                <a16:creationId xmlns:a16="http://schemas.microsoft.com/office/drawing/2014/main" id="{4E62D2E2-2EE7-4541-B794-E8B2755D3889}"/>
              </a:ext>
            </a:extLst>
          </p:cNvPr>
          <p:cNvSpPr>
            <a:spLocks noGrp="1"/>
          </p:cNvSpPr>
          <p:nvPr/>
        </p:nvSpPr>
        <p:spPr>
          <a:xfrm>
            <a:off x="6981825" y="4124325"/>
            <a:ext cx="3952875" cy="552450"/>
          </a:xfrm>
          <a:prstGeom prst="rect">
            <a:avLst/>
          </a:prstGeom>
          <a:noFill/>
          <a:ln w="0">
            <a:noFill/>
          </a:ln>
        </p:spPr>
        <p:txBody>
          <a:bodyPr anchor="ctr">
            <a:normAutofit/>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Would a change require new research or only new framing?</a:t>
            </a:r>
          </a:p>
        </p:txBody>
      </p:sp>
      <p:sp>
        <p:nvSpPr>
          <p:cNvPr id="30" name="Rectángulo: esquinas redondeadas 29">
            <a:extLst>
              <a:ext uri="{FF2B5EF4-FFF2-40B4-BE49-F238E27FC236}">
                <a16:creationId xmlns:a16="http://schemas.microsoft.com/office/drawing/2014/main" id="{16324AA8-F341-4620-B16E-ADA9A01AEBA4}"/>
              </a:ext>
            </a:extLst>
          </p:cNvPr>
          <p:cNvSpPr>
            <a:spLocks noGrp="1"/>
          </p:cNvSpPr>
          <p:nvPr/>
        </p:nvSpPr>
        <p:spPr>
          <a:xfrm>
            <a:off x="666750" y="5334000"/>
            <a:ext cx="10477500" cy="876300"/>
          </a:xfrm>
          <a:prstGeom prst="roundRect">
            <a:avLst>
              <a:gd name="adj" fmla="val 17391"/>
            </a:avLst>
          </a:prstGeom>
          <a:solidFill>
            <a:srgbClr val="F1E8D7"/>
          </a:solidFill>
          <a:ln w="0">
            <a:noFill/>
          </a:ln>
        </p:spPr>
      </p:sp>
      <p:sp>
        <p:nvSpPr>
          <p:cNvPr id="31" name="Rectángulo 30">
            <a:extLst>
              <a:ext uri="{FF2B5EF4-FFF2-40B4-BE49-F238E27FC236}">
                <a16:creationId xmlns:a16="http://schemas.microsoft.com/office/drawing/2014/main" id="{3E3D845E-3661-479B-A826-C2F6AF31DA9E}"/>
              </a:ext>
            </a:extLst>
          </p:cNvPr>
          <p:cNvSpPr>
            <a:spLocks noGrp="1"/>
          </p:cNvSpPr>
          <p:nvPr/>
        </p:nvSpPr>
        <p:spPr>
          <a:xfrm>
            <a:off x="933450" y="5534025"/>
            <a:ext cx="1952625" cy="228600"/>
          </a:xfrm>
          <a:prstGeom prst="rect">
            <a:avLst/>
          </a:prstGeom>
          <a:noFill/>
          <a:ln w="0">
            <a:noFill/>
          </a:ln>
        </p:spPr>
        <p:txBody>
          <a:bodyPr anchor="t">
            <a:normAutofit fontScale="92308"/>
          </a:bodyPr>
          <a:lstStyle/>
          <a:p>
            <a:pPr algn="l">
              <a:defRPr sz="975" b="1" i="0">
                <a:solidFill>
                  <a:srgbClr val="C96A4B"/>
                </a:solidFill>
                <a:latin typeface="DejaVu Sans"/>
                <a:ea typeface="DejaVu Sans"/>
                <a:cs typeface="DejaVu Sans"/>
              </a:defRPr>
            </a:pPr>
            <a:r>
              <a:rPr sz="975" b="1" i="0">
                <a:solidFill>
                  <a:srgbClr val="C96A4B"/>
                </a:solidFill>
                <a:latin typeface="DejaVu Sans"/>
                <a:ea typeface="DejaVu Sans"/>
                <a:cs typeface="DejaVu Sans"/>
              </a:rPr>
              <a:t>My Round 1 position</a:t>
            </a:r>
          </a:p>
        </p:txBody>
      </p:sp>
      <p:sp>
        <p:nvSpPr>
          <p:cNvPr id="32" name="Rectángulo 31">
            <a:extLst>
              <a:ext uri="{FF2B5EF4-FFF2-40B4-BE49-F238E27FC236}">
                <a16:creationId xmlns:a16="http://schemas.microsoft.com/office/drawing/2014/main" id="{D8E25F58-96B8-403F-A919-2CD620C48A7E}"/>
              </a:ext>
            </a:extLst>
          </p:cNvPr>
          <p:cNvSpPr>
            <a:spLocks noGrp="1"/>
          </p:cNvSpPr>
          <p:nvPr/>
        </p:nvSpPr>
        <p:spPr>
          <a:xfrm>
            <a:off x="3048000" y="5467350"/>
            <a:ext cx="7715250" cy="495300"/>
          </a:xfrm>
          <a:prstGeom prst="rect">
            <a:avLst/>
          </a:prstGeom>
          <a:noFill/>
          <a:ln w="0">
            <a:noFill/>
          </a:ln>
        </p:spPr>
        <p:txBody>
          <a:bodyPr anchor="ctr">
            <a:normAutofit fontScale="98148"/>
          </a:bodyPr>
          <a:lstStyle/>
          <a:p>
            <a:pPr algn="l">
              <a:defRPr sz="1350" b="1" i="0">
                <a:solidFill>
                  <a:srgbClr val="17324D"/>
                </a:solidFill>
                <a:latin typeface="DejaVu Sans"/>
                <a:ea typeface="DejaVu Sans"/>
                <a:cs typeface="DejaVu Sans"/>
              </a:defRPr>
            </a:pPr>
            <a:r>
              <a:rPr sz="1350" b="1" i="0">
                <a:solidFill>
                  <a:srgbClr val="17324D"/>
                </a:solidFill>
                <a:latin typeface="DejaVu Sans"/>
                <a:ea typeface="DejaVu Sans"/>
                <a:cs typeface="DejaVu Sans"/>
              </a:rPr>
              <a:t>KEEP the starting direction, subject to staff feedback. Round 2 focuses on a reliable MVP, LangSmith evaluation, ROI, GDPR and EU AI Act documentation.</a:t>
            </a:r>
          </a:p>
        </p:txBody>
      </p:sp>
    </p:spTree>
    <p:extLst>
      <p:ext uri="{BB962C8B-B14F-4D97-AF65-F5344CB8AC3E}">
        <p14:creationId xmlns:p14="http://schemas.microsoft.com/office/powerpoint/2010/main" val="20477236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2124</Words>
  <Application>Microsoft Office PowerPoint</Application>
  <DocSecurity>0</DocSecurity>
  <PresentationFormat>Panorámica</PresentationFormat>
  <Paragraphs>313</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Calibri</vt:lpstr>
      <vt:lpstr>DejaVu Sans</vt:lpstr>
      <vt:lpstr>DejaVu Serif</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carlos felipe valencia</cp:lastModifiedBy>
  <cp:revision>1</cp:revision>
  <dcterms:created xsi:type="dcterms:W3CDTF">2026-09-24T10:11:21Z</dcterms:created>
  <dcterms:modified xsi:type="dcterms:W3CDTF">2026-09-24T19:28:45Z</dcterms:modified>
</cp:coreProperties>
</file>