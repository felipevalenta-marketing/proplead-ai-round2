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Result</c:v>
          </c:tx>
          <c:spPr>
            <a:solidFill>
              <a:srgbClr val="2F80E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Bitstream Charter"/>
                    <a:ea typeface="Bitstream Charter"/>
                    <a:cs typeface="Bitstream Charter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Field extraction</c:v>
                </c:pt>
                <c:pt idx="1">
                  <c:v>Language</c:v>
                </c:pt>
                <c:pt idx="2">
                  <c:v>Exact matching</c:v>
                </c:pt>
                <c:pt idx="3">
                  <c:v>Escalation</c:v>
                </c:pt>
                <c:pt idx="4">
                  <c:v>Human gate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2D2-4AB6-9CFE-E0BAFAEA3A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evidence: Round 2 local implementation and baseline results, 3 October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feedback/round1_peer_feedback.md and feedback/round1_decision.md.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mvp_documentation.md and architecture/mvp_architecture.md.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n8n/proplead_round2_workflow.json and poc_documentation.md. The file still needs one import test in the target n8n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evaluation/baseline_results.json. Percentages describe the documented synthetic dataset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mvp_documentation.md, gdpr_documentation.md and eu_ai_act_compliance.md.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strategic_plan.md and round2_project_plan.md.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B7B7CE5-7469-47A7-AC22-A49BF3FF265A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5000FE3-A980-4327-ADE2-6C539C2AB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7856C19-3293-4E55-92F2-F77A823BA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EF526836-C546-4768-B80E-C86F066A8DE0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F6A0B40-C84D-43AB-B69A-F58D23854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2A4D8FEE-B13D-4B8E-A32B-3BC6F47D63C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275FAD5-1B9C-4BBA-ABE4-0C558FC3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4A098D2D-B976-4FED-9850-1DF95BF73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01D4D192-04DD-40EB-9245-EC98B7BAABA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A25619D-2106-4A16-90F3-3B5FCFC6C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CD969386-DE97-4F08-B0AB-2D09A0B30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61023540-933D-49B0-A2FB-9E57111F0BB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E7004701-90B9-442A-98A9-70716EDDA27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D705C1C-93CB-4035-AAC7-2A77E0CFF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4BBCB55D-937A-4EA0-B29B-439FF755F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B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4512BA7F-4356-4839-A656-94E9068557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058CF6-3204-47ED-A484-692447884C30}"/>
              </a:ext>
            </a:extLst>
          </p:cNvPr>
          <p:cNvSpPr>
            <a:spLocks noGrp="1"/>
          </p:cNvSpPr>
          <p:nvPr/>
        </p:nvSpPr>
        <p:spPr>
          <a:xfrm>
            <a:off x="666750" y="1162050"/>
            <a:ext cx="64770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PropLead AI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D738438-45AD-471A-B618-BFF52171917C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6477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 i="0">
                <a:solidFill>
                  <a:srgbClr val="C9D8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 i="0">
                <a:solidFill>
                  <a:srgbClr val="C9D8E7"/>
                </a:solidFill>
                <a:latin typeface="Bitstream Charter"/>
                <a:ea typeface="Bitstream Charter"/>
                <a:cs typeface="Bitstream Charter"/>
              </a:rPr>
              <a:t>Round 2 progress review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0560950-EF46-4062-80E5-62734711B1DA}"/>
              </a:ext>
            </a:extLst>
          </p:cNvPr>
          <p:cNvSpPr>
            <a:spLocks noGrp="1"/>
          </p:cNvSpPr>
          <p:nvPr/>
        </p:nvSpPr>
        <p:spPr>
          <a:xfrm>
            <a:off x="685800" y="2676525"/>
            <a:ext cx="6858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Working multilingual lead qualification MVP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401AF77-7F8F-4E9E-8517-F9B532E1EE68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 i="0">
                <a:solidFill>
                  <a:srgbClr val="AFC0D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AFC0D1"/>
                </a:solidFill>
                <a:latin typeface="Bitstream Charter"/>
                <a:ea typeface="Bitstream Charter"/>
                <a:cs typeface="Bitstream Charter"/>
              </a:rPr>
              <a:t>3 October 2026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6D291B2-ECBA-4616-AAF2-56AA5C0AF579}"/>
              </a:ext>
            </a:extLst>
          </p:cNvPr>
          <p:cNvSpPr>
            <a:spLocks noGrp="1"/>
          </p:cNvSpPr>
          <p:nvPr/>
        </p:nvSpPr>
        <p:spPr>
          <a:xfrm>
            <a:off x="8705850" y="1238250"/>
            <a:ext cx="2571750" cy="4000500"/>
          </a:xfrm>
          <a:prstGeom prst="roundRect">
            <a:avLst>
              <a:gd name="adj" fmla="val 2963"/>
            </a:avLst>
          </a:prstGeom>
          <a:solidFill>
            <a:srgbClr val="2F80ED"/>
          </a:solidFill>
          <a:ln w="0">
            <a:noFill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634EA3-4027-4F6D-9A77-4CD1B1E57FBA}"/>
              </a:ext>
            </a:extLst>
          </p:cNvPr>
          <p:cNvSpPr>
            <a:spLocks noGrp="1"/>
          </p:cNvSpPr>
          <p:nvPr/>
        </p:nvSpPr>
        <p:spPr>
          <a:xfrm>
            <a:off x="8953500" y="17907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C03320F-B5E1-4E1C-A578-6FBC6611F721}"/>
              </a:ext>
            </a:extLst>
          </p:cNvPr>
          <p:cNvSpPr>
            <a:spLocks noGrp="1"/>
          </p:cNvSpPr>
          <p:nvPr/>
        </p:nvSpPr>
        <p:spPr>
          <a:xfrm>
            <a:off x="8953500" y="2314575"/>
            <a:ext cx="20764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 dirty="0">
                <a:solidFill>
                  <a:schemeClr val="bg1"/>
                </a:solidFill>
                <a:latin typeface="Bitstream Charter"/>
                <a:ea typeface="Bitstream Charter"/>
                <a:cs typeface="Bitstream Charter"/>
              </a:rPr>
              <a:t>multilingual test cases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5E159FA-C4FE-43B6-84AD-16C1D82072CD}"/>
              </a:ext>
            </a:extLst>
          </p:cNvPr>
          <p:cNvSpPr>
            <a:spLocks noGrp="1"/>
          </p:cNvSpPr>
          <p:nvPr/>
        </p:nvSpPr>
        <p:spPr>
          <a:xfrm>
            <a:off x="8953500" y="2905125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27/27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5757D41-399B-49F8-9A1B-565B9D513329}"/>
              </a:ext>
            </a:extLst>
          </p:cNvPr>
          <p:cNvSpPr>
            <a:spLocks noGrp="1"/>
          </p:cNvSpPr>
          <p:nvPr/>
        </p:nvSpPr>
        <p:spPr>
          <a:xfrm>
            <a:off x="8953500" y="3429000"/>
            <a:ext cx="20764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 dirty="0">
                <a:solidFill>
                  <a:schemeClr val="bg1"/>
                </a:solidFill>
                <a:latin typeface="Bitstream Charter"/>
                <a:ea typeface="Bitstream Charter"/>
                <a:cs typeface="Bitstream Charter"/>
              </a:rPr>
              <a:t>automated tests passing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DD0B37-D000-47A0-BE41-0C96C796973B}"/>
              </a:ext>
            </a:extLst>
          </p:cNvPr>
          <p:cNvSpPr>
            <a:spLocks noGrp="1"/>
          </p:cNvSpPr>
          <p:nvPr/>
        </p:nvSpPr>
        <p:spPr>
          <a:xfrm>
            <a:off x="8953500" y="401955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C969BB8-037D-482E-9657-77E867605ECC}"/>
              </a:ext>
            </a:extLst>
          </p:cNvPr>
          <p:cNvSpPr>
            <a:spLocks noGrp="1"/>
          </p:cNvSpPr>
          <p:nvPr/>
        </p:nvSpPr>
        <p:spPr>
          <a:xfrm>
            <a:off x="8953500" y="4543425"/>
            <a:ext cx="20764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 dirty="0">
                <a:solidFill>
                  <a:schemeClr val="bg1"/>
                </a:solidFill>
                <a:latin typeface="Bitstream Charter"/>
                <a:ea typeface="Bitstream Charter"/>
                <a:cs typeface="Bitstream Charter"/>
              </a:rPr>
              <a:t>n8n workflow nodes</a:t>
            </a:r>
          </a:p>
        </p:txBody>
      </p:sp>
    </p:spTree>
    <p:extLst>
      <p:ext uri="{BB962C8B-B14F-4D97-AF65-F5344CB8AC3E}">
        <p14:creationId xmlns:p14="http://schemas.microsoft.com/office/powerpoint/2010/main" val="34714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EDFE534C-9634-456C-A3C8-CC55A83EBA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6C2EA7-7306-45F4-9761-B91301A36A67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Round 1 feedback changed the MVP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A47F6D0-EECE-496D-9AD3-F70664367A88}"/>
              </a:ext>
            </a:extLst>
          </p:cNvPr>
          <p:cNvSpPr>
            <a:spLocks noGrp="1"/>
          </p:cNvSpPr>
          <p:nvPr/>
        </p:nvSpPr>
        <p:spPr>
          <a:xfrm>
            <a:off x="11287125" y="34290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0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4CA1BBB-FF54-421D-BCBB-91F381595DC9}"/>
              </a:ext>
            </a:extLst>
          </p:cNvPr>
          <p:cNvSpPr>
            <a:spLocks noGrp="1"/>
          </p:cNvSpPr>
          <p:nvPr/>
        </p:nvSpPr>
        <p:spPr>
          <a:xfrm>
            <a:off x="476250" y="1066800"/>
            <a:ext cx="2286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FEEDBACK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6DF33DA-152E-409D-822B-513013CB7B31}"/>
              </a:ext>
            </a:extLst>
          </p:cNvPr>
          <p:cNvSpPr>
            <a:spLocks noGrp="1"/>
          </p:cNvSpPr>
          <p:nvPr/>
        </p:nvSpPr>
        <p:spPr>
          <a:xfrm>
            <a:off x="6096000" y="1066800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rPr>
              <a:t>ROUND 2 RESPONSE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A2C4D09-5445-4A7C-A6EE-4F13B5174F7E}"/>
              </a:ext>
            </a:extLst>
          </p:cNvPr>
          <p:cNvSpPr>
            <a:spLocks noGrp="1"/>
          </p:cNvSpPr>
          <p:nvPr/>
        </p:nvSpPr>
        <p:spPr>
          <a:xfrm>
            <a:off x="476250" y="1457325"/>
            <a:ext cx="4810125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Lead channels were unclear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F1A41D8-6FAB-4A87-BC7F-93FF82216CB6}"/>
              </a:ext>
            </a:extLst>
          </p:cNvPr>
          <p:cNvSpPr>
            <a:spLocks noGrp="1"/>
          </p:cNvSpPr>
          <p:nvPr/>
        </p:nvSpPr>
        <p:spPr>
          <a:xfrm>
            <a:off x="6096000" y="1457325"/>
            <a:ext cx="5286375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One intake contract with six source labels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6834311-F78E-4D58-AEDA-B1D28D59E996}"/>
              </a:ext>
            </a:extLst>
          </p:cNvPr>
          <p:cNvSpPr>
            <a:spLocks noGrp="1"/>
          </p:cNvSpPr>
          <p:nvPr/>
        </p:nvSpPr>
        <p:spPr>
          <a:xfrm>
            <a:off x="476250" y="2181225"/>
            <a:ext cx="10906125" cy="9525"/>
          </a:xfrm>
          <a:prstGeom prst="rect">
            <a:avLst/>
          </a:prstGeom>
          <a:solidFill>
            <a:srgbClr val="DCE5ED"/>
          </a:solidFill>
          <a:ln w="0">
            <a:noFill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D7698C-9247-4F5A-876B-7C93AC166F16}"/>
              </a:ext>
            </a:extLst>
          </p:cNvPr>
          <p:cNvSpPr>
            <a:spLocks noGrp="1"/>
          </p:cNvSpPr>
          <p:nvPr/>
        </p:nvSpPr>
        <p:spPr>
          <a:xfrm>
            <a:off x="476250" y="2324100"/>
            <a:ext cx="4810125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Missing data could distort classification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10197FF-ED67-4B53-B18F-46A6D62389CE}"/>
              </a:ext>
            </a:extLst>
          </p:cNvPr>
          <p:cNvSpPr>
            <a:spLocks noGrp="1"/>
          </p:cNvSpPr>
          <p:nvPr/>
        </p:nvSpPr>
        <p:spPr>
          <a:xfrm>
            <a:off x="6096000" y="2324100"/>
            <a:ext cx="5286375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Qualification gate and clarification draft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DF03035-037C-4D38-B0A3-7059E8A783D9}"/>
              </a:ext>
            </a:extLst>
          </p:cNvPr>
          <p:cNvSpPr>
            <a:spLocks noGrp="1"/>
          </p:cNvSpPr>
          <p:nvPr/>
        </p:nvSpPr>
        <p:spPr>
          <a:xfrm>
            <a:off x="476250" y="3048000"/>
            <a:ext cx="10906125" cy="9525"/>
          </a:xfrm>
          <a:prstGeom prst="rect">
            <a:avLst/>
          </a:prstGeom>
          <a:solidFill>
            <a:srgbClr val="DCE5ED"/>
          </a:solidFill>
          <a:ln w="0">
            <a:noFill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A5B6AAC-A3EC-4395-9884-BAFE621B60FD}"/>
              </a:ext>
            </a:extLst>
          </p:cNvPr>
          <p:cNvSpPr>
            <a:spLocks noGrp="1"/>
          </p:cNvSpPr>
          <p:nvPr/>
        </p:nvSpPr>
        <p:spPr>
          <a:xfrm>
            <a:off x="476250" y="3190875"/>
            <a:ext cx="4810125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Spanish reply switched to English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D459763-31E4-46A0-96B3-651AF6B4151C}"/>
              </a:ext>
            </a:extLst>
          </p:cNvPr>
          <p:cNvSpPr>
            <a:spLocks noGrp="1"/>
          </p:cNvSpPr>
          <p:nvPr/>
        </p:nvSpPr>
        <p:spPr>
          <a:xfrm>
            <a:off x="6096000" y="3190875"/>
            <a:ext cx="5286375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rPr>
              <a:t>Whole-message language regression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EE53B16-F1B9-4DF9-B15B-AFDD767C6991}"/>
              </a:ext>
            </a:extLst>
          </p:cNvPr>
          <p:cNvSpPr>
            <a:spLocks noGrp="1"/>
          </p:cNvSpPr>
          <p:nvPr/>
        </p:nvSpPr>
        <p:spPr>
          <a:xfrm>
            <a:off x="476250" y="3914775"/>
            <a:ext cx="10906125" cy="9525"/>
          </a:xfrm>
          <a:prstGeom prst="rect">
            <a:avLst/>
          </a:prstGeom>
          <a:solidFill>
            <a:srgbClr val="DCE5ED"/>
          </a:solidFill>
          <a:ln w="0">
            <a:noFill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BAE4645-AD75-44E7-A4C3-AA36481EDE95}"/>
              </a:ext>
            </a:extLst>
          </p:cNvPr>
          <p:cNvSpPr>
            <a:spLocks noGrp="1"/>
          </p:cNvSpPr>
          <p:nvPr/>
        </p:nvSpPr>
        <p:spPr>
          <a:xfrm>
            <a:off x="476250" y="4057650"/>
            <a:ext cx="4810125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Matching could return unsuitable listings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9D4FFA-CE12-474C-B95C-FA8029862815}"/>
              </a:ext>
            </a:extLst>
          </p:cNvPr>
          <p:cNvSpPr>
            <a:spLocks noGrp="1"/>
          </p:cNvSpPr>
          <p:nvPr/>
        </p:nvSpPr>
        <p:spPr>
          <a:xfrm>
            <a:off x="6096000" y="4057650"/>
            <a:ext cx="5286375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Availability, freshness and hard filters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0426CC1-01C9-4E1F-8176-8422C57E66F8}"/>
              </a:ext>
            </a:extLst>
          </p:cNvPr>
          <p:cNvSpPr>
            <a:spLocks noGrp="1"/>
          </p:cNvSpPr>
          <p:nvPr/>
        </p:nvSpPr>
        <p:spPr>
          <a:xfrm>
            <a:off x="476250" y="4781550"/>
            <a:ext cx="10906125" cy="9525"/>
          </a:xfrm>
          <a:prstGeom prst="rect">
            <a:avLst/>
          </a:prstGeom>
          <a:solidFill>
            <a:srgbClr val="DCE5ED"/>
          </a:solidFill>
          <a:ln w="0">
            <a:noFill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DC7E886-047D-4B44-9AEE-0763C6718857}"/>
              </a:ext>
            </a:extLst>
          </p:cNvPr>
          <p:cNvSpPr>
            <a:spLocks noGrp="1"/>
          </p:cNvSpPr>
          <p:nvPr/>
        </p:nvSpPr>
        <p:spPr>
          <a:xfrm>
            <a:off x="476250" y="4924425"/>
            <a:ext cx="4810125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Hot, Warm and Cold felt too rigid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03006EB-3C84-4C5C-A661-1329258F363D}"/>
              </a:ext>
            </a:extLst>
          </p:cNvPr>
          <p:cNvSpPr>
            <a:spLocks noGrp="1"/>
          </p:cNvSpPr>
          <p:nvPr/>
        </p:nvSpPr>
        <p:spPr>
          <a:xfrm>
            <a:off x="6096000" y="4924425"/>
            <a:ext cx="5286375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Confidence, ambiguity flags and review override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4A4EEBD-78A1-4865-85F8-47423A2C87FA}"/>
              </a:ext>
            </a:extLst>
          </p:cNvPr>
          <p:cNvSpPr>
            <a:spLocks noGrp="1"/>
          </p:cNvSpPr>
          <p:nvPr/>
        </p:nvSpPr>
        <p:spPr>
          <a:xfrm>
            <a:off x="476250" y="5648325"/>
            <a:ext cx="10906125" cy="9525"/>
          </a:xfrm>
          <a:prstGeom prst="rect">
            <a:avLst/>
          </a:prstGeom>
          <a:solidFill>
            <a:srgbClr val="DCE5ED"/>
          </a:solidFill>
          <a:ln w="0">
            <a:noFill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165E334-C8F5-41C0-A834-3F1455A9D294}"/>
              </a:ext>
            </a:extLst>
          </p:cNvPr>
          <p:cNvSpPr>
            <a:spLocks noGrp="1"/>
          </p:cNvSpPr>
          <p:nvPr/>
        </p:nvSpPr>
        <p:spPr>
          <a:xfrm>
            <a:off x="476250" y="6000750"/>
            <a:ext cx="109061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rPr>
              <a:t>Decision: KEEP the use case, narrow the sequence</a:t>
            </a:r>
          </a:p>
        </p:txBody>
      </p:sp>
    </p:spTree>
    <p:extLst>
      <p:ext uri="{BB962C8B-B14F-4D97-AF65-F5344CB8AC3E}">
        <p14:creationId xmlns:p14="http://schemas.microsoft.com/office/powerpoint/2010/main" val="109925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F6F2089D-36C3-49F3-91D2-EFFAB0ABEC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60FB8E6-0929-4567-9285-3021FFE37BD6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The working MVP puts qualification before matching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9650302-C279-4290-9AF9-E485EE08B6A1}"/>
              </a:ext>
            </a:extLst>
          </p:cNvPr>
          <p:cNvSpPr>
            <a:spLocks noGrp="1"/>
          </p:cNvSpPr>
          <p:nvPr/>
        </p:nvSpPr>
        <p:spPr>
          <a:xfrm>
            <a:off x="11287125" y="34290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0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BF49093-B579-4182-84F5-7989D6C8EC9F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33813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5ED"/>
            </a:solidFill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321B632-54B1-46D2-8741-708E5BF1EAEF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F6E040E-ECDA-40B1-9530-5E2E097E753A}"/>
              </a:ext>
            </a:extLst>
          </p:cNvPr>
          <p:cNvSpPr>
            <a:spLocks noGrp="1"/>
          </p:cNvSpPr>
          <p:nvPr/>
        </p:nvSpPr>
        <p:spPr>
          <a:xfrm>
            <a:off x="1285875" y="1571625"/>
            <a:ext cx="2333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Channel input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F1AD575-A352-421A-9330-76FDF8142309}"/>
              </a:ext>
            </a:extLst>
          </p:cNvPr>
          <p:cNvSpPr>
            <a:spLocks noGrp="1"/>
          </p:cNvSpPr>
          <p:nvPr/>
        </p:nvSpPr>
        <p:spPr>
          <a:xfrm>
            <a:off x="1285875" y="1981200"/>
            <a:ext cx="2333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WhatsApp, email, form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99E6F15-6C98-4C5D-B5D7-80B20F4E6DEB}"/>
              </a:ext>
            </a:extLst>
          </p:cNvPr>
          <p:cNvSpPr>
            <a:spLocks noGrp="1"/>
          </p:cNvSpPr>
          <p:nvPr/>
        </p:nvSpPr>
        <p:spPr>
          <a:xfrm>
            <a:off x="4381500" y="1381125"/>
            <a:ext cx="33813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5ED"/>
            </a:solidFill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26238C2-D802-4891-87D0-D496AE03375F}"/>
              </a:ext>
            </a:extLst>
          </p:cNvPr>
          <p:cNvSpPr>
            <a:spLocks noGrp="1"/>
          </p:cNvSpPr>
          <p:nvPr/>
        </p:nvSpPr>
        <p:spPr>
          <a:xfrm>
            <a:off x="4552950" y="152400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2205D30-1666-4D6B-B152-1E40E609914B}"/>
              </a:ext>
            </a:extLst>
          </p:cNvPr>
          <p:cNvSpPr>
            <a:spLocks noGrp="1"/>
          </p:cNvSpPr>
          <p:nvPr/>
        </p:nvSpPr>
        <p:spPr>
          <a:xfrm>
            <a:off x="5114925" y="1571625"/>
            <a:ext cx="2333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Normalise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57FCC86-118F-4485-B6CD-E92DC9BA0F74}"/>
              </a:ext>
            </a:extLst>
          </p:cNvPr>
          <p:cNvSpPr>
            <a:spLocks noGrp="1"/>
          </p:cNvSpPr>
          <p:nvPr/>
        </p:nvSpPr>
        <p:spPr>
          <a:xfrm>
            <a:off x="5114925" y="1981200"/>
            <a:ext cx="2333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One data contract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722381E-958B-4151-AFF4-FA578A9D65C8}"/>
              </a:ext>
            </a:extLst>
          </p:cNvPr>
          <p:cNvSpPr>
            <a:spLocks noGrp="1"/>
          </p:cNvSpPr>
          <p:nvPr/>
        </p:nvSpPr>
        <p:spPr>
          <a:xfrm>
            <a:off x="8210550" y="1381125"/>
            <a:ext cx="33813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5ED"/>
            </a:solidFill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04ED055-C937-4161-8BBC-299CFF08C9A9}"/>
              </a:ext>
            </a:extLst>
          </p:cNvPr>
          <p:cNvSpPr>
            <a:spLocks noGrp="1"/>
          </p:cNvSpPr>
          <p:nvPr/>
        </p:nvSpPr>
        <p:spPr>
          <a:xfrm>
            <a:off x="8382000" y="152400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6E6661-9CBF-48F4-BE1D-3A8D3B969FAB}"/>
              </a:ext>
            </a:extLst>
          </p:cNvPr>
          <p:cNvSpPr>
            <a:spLocks noGrp="1"/>
          </p:cNvSpPr>
          <p:nvPr/>
        </p:nvSpPr>
        <p:spPr>
          <a:xfrm>
            <a:off x="8943975" y="1571625"/>
            <a:ext cx="2333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Extract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937CC14-1159-4941-ADA5-E167C0681CC7}"/>
              </a:ext>
            </a:extLst>
          </p:cNvPr>
          <p:cNvSpPr>
            <a:spLocks noGrp="1"/>
          </p:cNvSpPr>
          <p:nvPr/>
        </p:nvSpPr>
        <p:spPr>
          <a:xfrm>
            <a:off x="8943975" y="1981200"/>
            <a:ext cx="2333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EN, DE and 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7D4636E-7A87-418C-9532-7151950FD57B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3381375" cy="1428750"/>
          </a:xfrm>
          <a:prstGeom prst="roundRect">
            <a:avLst>
              <a:gd name="adj" fmla="val 5333"/>
            </a:avLst>
          </a:prstGeom>
          <a:solidFill>
            <a:srgbClr val="EAF7F0"/>
          </a:solidFill>
          <a:ln w="9525">
            <a:solidFill>
              <a:srgbClr val="27AE60"/>
            </a:solidFill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E4E90B9-7C7B-47F8-B60F-50358A2C6E50}"/>
              </a:ext>
            </a:extLst>
          </p:cNvPr>
          <p:cNvSpPr>
            <a:spLocks noGrp="1"/>
          </p:cNvSpPr>
          <p:nvPr/>
        </p:nvSpPr>
        <p:spPr>
          <a:xfrm>
            <a:off x="723900" y="3476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4B08518-F22A-43A0-BAEF-C4949A9C9B81}"/>
              </a:ext>
            </a:extLst>
          </p:cNvPr>
          <p:cNvSpPr>
            <a:spLocks noGrp="1"/>
          </p:cNvSpPr>
          <p:nvPr/>
        </p:nvSpPr>
        <p:spPr>
          <a:xfrm>
            <a:off x="1285875" y="3524250"/>
            <a:ext cx="2333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Qualify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D5E4899-36EE-45B6-B96A-AA4EC95A3270}"/>
              </a:ext>
            </a:extLst>
          </p:cNvPr>
          <p:cNvSpPr>
            <a:spLocks noGrp="1"/>
          </p:cNvSpPr>
          <p:nvPr/>
        </p:nvSpPr>
        <p:spPr>
          <a:xfrm>
            <a:off x="1285875" y="3933825"/>
            <a:ext cx="2333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Missing data gate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9DF60CF0-3BD5-4C02-A9FD-D2EE8A7F5EC5}"/>
              </a:ext>
            </a:extLst>
          </p:cNvPr>
          <p:cNvSpPr>
            <a:spLocks noGrp="1"/>
          </p:cNvSpPr>
          <p:nvPr/>
        </p:nvSpPr>
        <p:spPr>
          <a:xfrm>
            <a:off x="4381500" y="3333750"/>
            <a:ext cx="33813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5ED"/>
            </a:solidFill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0688BCC-34ED-445F-AA30-D057A8DE0434}"/>
              </a:ext>
            </a:extLst>
          </p:cNvPr>
          <p:cNvSpPr>
            <a:spLocks noGrp="1"/>
          </p:cNvSpPr>
          <p:nvPr/>
        </p:nvSpPr>
        <p:spPr>
          <a:xfrm>
            <a:off x="4552950" y="3476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D098F51-846B-4C42-917D-813AA1B10E6D}"/>
              </a:ext>
            </a:extLst>
          </p:cNvPr>
          <p:cNvSpPr>
            <a:spLocks noGrp="1"/>
          </p:cNvSpPr>
          <p:nvPr/>
        </p:nvSpPr>
        <p:spPr>
          <a:xfrm>
            <a:off x="5114925" y="3524250"/>
            <a:ext cx="2333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Match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1D1D2C8-C360-4828-A70A-ABFA7F142D07}"/>
              </a:ext>
            </a:extLst>
          </p:cNvPr>
          <p:cNvSpPr>
            <a:spLocks noGrp="1"/>
          </p:cNvSpPr>
          <p:nvPr/>
        </p:nvSpPr>
        <p:spPr>
          <a:xfrm>
            <a:off x="5114925" y="3933825"/>
            <a:ext cx="2333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Verified catalogue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DD40A64B-4F9F-40FF-9DFB-1D2A33F11229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3381375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5ED"/>
            </a:solidFill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3B28E53-2C1F-4603-9C2E-C475120C83A3}"/>
              </a:ext>
            </a:extLst>
          </p:cNvPr>
          <p:cNvSpPr>
            <a:spLocks noGrp="1"/>
          </p:cNvSpPr>
          <p:nvPr/>
        </p:nvSpPr>
        <p:spPr>
          <a:xfrm>
            <a:off x="8382000" y="3476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072E955-4C84-4639-A8EA-112241DD8001}"/>
              </a:ext>
            </a:extLst>
          </p:cNvPr>
          <p:cNvSpPr>
            <a:spLocks noGrp="1"/>
          </p:cNvSpPr>
          <p:nvPr/>
        </p:nvSpPr>
        <p:spPr>
          <a:xfrm>
            <a:off x="8943975" y="3524250"/>
            <a:ext cx="2333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Review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9D6E238-0C7F-445B-96D2-F8A718726CE9}"/>
              </a:ext>
            </a:extLst>
          </p:cNvPr>
          <p:cNvSpPr>
            <a:spLocks noGrp="1"/>
          </p:cNvSpPr>
          <p:nvPr/>
        </p:nvSpPr>
        <p:spPr>
          <a:xfrm>
            <a:off x="8943975" y="3933825"/>
            <a:ext cx="2333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Approve or escalate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40E221B-019B-4D97-83C2-36A57DD25402}"/>
              </a:ext>
            </a:extLst>
          </p:cNvPr>
          <p:cNvSpPr>
            <a:spLocks noGrp="1"/>
          </p:cNvSpPr>
          <p:nvPr/>
        </p:nvSpPr>
        <p:spPr>
          <a:xfrm>
            <a:off x="857250" y="56197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112B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12B44"/>
                </a:solidFill>
                <a:latin typeface="Bitstream Charter"/>
                <a:ea typeface="Bitstream Charter"/>
                <a:cs typeface="Bitstream Charter"/>
              </a:rPr>
              <a:t>Unknown values stay empty. Every outbound draft stops for human approval.</a:t>
            </a:r>
          </a:p>
        </p:txBody>
      </p:sp>
    </p:spTree>
    <p:extLst>
      <p:ext uri="{BB962C8B-B14F-4D97-AF65-F5344CB8AC3E}">
        <p14:creationId xmlns:p14="http://schemas.microsoft.com/office/powerpoint/2010/main" val="348401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C48FF69A-87FC-4BBE-8501-ACDDD3FA05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F7C92E2-F119-444E-AA0C-C13C31060F5E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The Round 2 n8n POC mirrors the controlled workflow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460C6E6-F959-4467-BED3-5087F1F2CA43}"/>
              </a:ext>
            </a:extLst>
          </p:cNvPr>
          <p:cNvSpPr>
            <a:spLocks noGrp="1"/>
          </p:cNvSpPr>
          <p:nvPr/>
        </p:nvSpPr>
        <p:spPr>
          <a:xfrm>
            <a:off x="11287125" y="34290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0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F145773-95DA-4DF5-9ACD-8BCC052994AB}"/>
              </a:ext>
            </a:extLst>
          </p:cNvPr>
          <p:cNvSpPr>
            <a:spLocks noGrp="1"/>
          </p:cNvSpPr>
          <p:nvPr/>
        </p:nvSpPr>
        <p:spPr>
          <a:xfrm>
            <a:off x="476250" y="1428750"/>
            <a:ext cx="242887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CE5ED"/>
            </a:solidFill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DE6573E-0504-4A37-B817-373ACE9685A9}"/>
              </a:ext>
            </a:extLst>
          </p:cNvPr>
          <p:cNvSpPr>
            <a:spLocks noGrp="1"/>
          </p:cNvSpPr>
          <p:nvPr/>
        </p:nvSpPr>
        <p:spPr>
          <a:xfrm>
            <a:off x="590550" y="1571625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EF6E4B-B5ED-4E8D-B113-9FBBF9E05C36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17907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Manual trigger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B7F7180-0626-4C84-9BAB-A1984C082964}"/>
              </a:ext>
            </a:extLst>
          </p:cNvPr>
          <p:cNvSpPr>
            <a:spLocks noGrp="1"/>
          </p:cNvSpPr>
          <p:nvPr/>
        </p:nvSpPr>
        <p:spPr>
          <a:xfrm>
            <a:off x="3352800" y="1428750"/>
            <a:ext cx="242887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CE5ED"/>
            </a:solidFill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A8EC7D-FCF6-4E0A-87AC-A74EB081F89D}"/>
              </a:ext>
            </a:extLst>
          </p:cNvPr>
          <p:cNvSpPr>
            <a:spLocks noGrp="1"/>
          </p:cNvSpPr>
          <p:nvPr/>
        </p:nvSpPr>
        <p:spPr>
          <a:xfrm>
            <a:off x="3467100" y="1571625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56C61A0-E801-49D3-918D-EF83AE4D862D}"/>
              </a:ext>
            </a:extLst>
          </p:cNvPr>
          <p:cNvSpPr>
            <a:spLocks noGrp="1"/>
          </p:cNvSpPr>
          <p:nvPr/>
        </p:nvSpPr>
        <p:spPr>
          <a:xfrm>
            <a:off x="3810000" y="1562100"/>
            <a:ext cx="17907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Channel input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B99C9BC-9F5F-44B9-ABDC-898E22C15921}"/>
              </a:ext>
            </a:extLst>
          </p:cNvPr>
          <p:cNvSpPr>
            <a:spLocks noGrp="1"/>
          </p:cNvSpPr>
          <p:nvPr/>
        </p:nvSpPr>
        <p:spPr>
          <a:xfrm>
            <a:off x="6229350" y="1428750"/>
            <a:ext cx="242887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CE5ED"/>
            </a:solidFill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A000181-E77A-43B0-9A76-61018FDFC983}"/>
              </a:ext>
            </a:extLst>
          </p:cNvPr>
          <p:cNvSpPr>
            <a:spLocks noGrp="1"/>
          </p:cNvSpPr>
          <p:nvPr/>
        </p:nvSpPr>
        <p:spPr>
          <a:xfrm>
            <a:off x="6343650" y="1571625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6319AF9-8A71-4F28-83E3-961240284E71}"/>
              </a:ext>
            </a:extLst>
          </p:cNvPr>
          <p:cNvSpPr>
            <a:spLocks noGrp="1"/>
          </p:cNvSpPr>
          <p:nvPr/>
        </p:nvSpPr>
        <p:spPr>
          <a:xfrm>
            <a:off x="6686550" y="1562100"/>
            <a:ext cx="17907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Normalise intake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ABEE3DD-E929-4BB6-8AB7-265F36E8B7DA}"/>
              </a:ext>
            </a:extLst>
          </p:cNvPr>
          <p:cNvSpPr>
            <a:spLocks noGrp="1"/>
          </p:cNvSpPr>
          <p:nvPr/>
        </p:nvSpPr>
        <p:spPr>
          <a:xfrm>
            <a:off x="9105900" y="1428750"/>
            <a:ext cx="242887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CE5ED"/>
            </a:solidFill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79DA41E-C8AF-4FB7-97E4-D89D784905CD}"/>
              </a:ext>
            </a:extLst>
          </p:cNvPr>
          <p:cNvSpPr>
            <a:spLocks noGrp="1"/>
          </p:cNvSpPr>
          <p:nvPr/>
        </p:nvSpPr>
        <p:spPr>
          <a:xfrm>
            <a:off x="9220200" y="1571625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9B6C3D2-4D14-4065-89B0-9D1A7B581FCC}"/>
              </a:ext>
            </a:extLst>
          </p:cNvPr>
          <p:cNvSpPr>
            <a:spLocks noGrp="1"/>
          </p:cNvSpPr>
          <p:nvPr/>
        </p:nvSpPr>
        <p:spPr>
          <a:xfrm>
            <a:off x="9563100" y="1562100"/>
            <a:ext cx="17907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Extract and qualify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4E5A65CB-D950-49EC-BF17-D50C821483FE}"/>
              </a:ext>
            </a:extLst>
          </p:cNvPr>
          <p:cNvSpPr>
            <a:spLocks noGrp="1"/>
          </p:cNvSpPr>
          <p:nvPr/>
        </p:nvSpPr>
        <p:spPr>
          <a:xfrm>
            <a:off x="476250" y="3095625"/>
            <a:ext cx="242887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CE5ED"/>
            </a:solidFill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8C9C536-FEB0-4438-94B0-AF9F485ABFED}"/>
              </a:ext>
            </a:extLst>
          </p:cNvPr>
          <p:cNvSpPr>
            <a:spLocks noGrp="1"/>
          </p:cNvSpPr>
          <p:nvPr/>
        </p:nvSpPr>
        <p:spPr>
          <a:xfrm>
            <a:off x="590550" y="3238500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AAEF6C3-25F9-4AFE-837D-31BE437341F1}"/>
              </a:ext>
            </a:extLst>
          </p:cNvPr>
          <p:cNvSpPr>
            <a:spLocks noGrp="1"/>
          </p:cNvSpPr>
          <p:nvPr/>
        </p:nvSpPr>
        <p:spPr>
          <a:xfrm>
            <a:off x="933450" y="3228975"/>
            <a:ext cx="17907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Qualification gate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24C8782B-007A-4A0B-9387-BCA8B474EB82}"/>
              </a:ext>
            </a:extLst>
          </p:cNvPr>
          <p:cNvSpPr>
            <a:spLocks noGrp="1"/>
          </p:cNvSpPr>
          <p:nvPr/>
        </p:nvSpPr>
        <p:spPr>
          <a:xfrm>
            <a:off x="3352800" y="3095625"/>
            <a:ext cx="2428875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CE5ED"/>
            </a:solidFill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22A9EA2-2725-4C64-86EF-568A705D87C7}"/>
              </a:ext>
            </a:extLst>
          </p:cNvPr>
          <p:cNvSpPr>
            <a:spLocks noGrp="1"/>
          </p:cNvSpPr>
          <p:nvPr/>
        </p:nvSpPr>
        <p:spPr>
          <a:xfrm>
            <a:off x="3467100" y="3238500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31F2778-D6EF-44FE-B625-F3E890F6E2E1}"/>
              </a:ext>
            </a:extLst>
          </p:cNvPr>
          <p:cNvSpPr>
            <a:spLocks noGrp="1"/>
          </p:cNvSpPr>
          <p:nvPr/>
        </p:nvSpPr>
        <p:spPr>
          <a:xfrm>
            <a:off x="3810000" y="3228975"/>
            <a:ext cx="17907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Single-language draft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66D89381-FE25-4AF9-81F2-984A0D9A48DE}"/>
              </a:ext>
            </a:extLst>
          </p:cNvPr>
          <p:cNvSpPr>
            <a:spLocks noGrp="1"/>
          </p:cNvSpPr>
          <p:nvPr/>
        </p:nvSpPr>
        <p:spPr>
          <a:xfrm>
            <a:off x="6229350" y="3095625"/>
            <a:ext cx="2428875" cy="971550"/>
          </a:xfrm>
          <a:prstGeom prst="roundRect">
            <a:avLst>
              <a:gd name="adj" fmla="val 7843"/>
            </a:avLst>
          </a:prstGeom>
          <a:solidFill>
            <a:srgbClr val="EAF7F0"/>
          </a:solidFill>
          <a:ln w="9525">
            <a:solidFill>
              <a:srgbClr val="27AE60"/>
            </a:solidFill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44B8DBB-2591-4E00-9D09-A9CAF2CC9292}"/>
              </a:ext>
            </a:extLst>
          </p:cNvPr>
          <p:cNvSpPr>
            <a:spLocks noGrp="1"/>
          </p:cNvSpPr>
          <p:nvPr/>
        </p:nvSpPr>
        <p:spPr>
          <a:xfrm>
            <a:off x="6343650" y="3238500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F9EE561-A165-4D69-9854-AD620C006E62}"/>
              </a:ext>
            </a:extLst>
          </p:cNvPr>
          <p:cNvSpPr>
            <a:spLocks noGrp="1"/>
          </p:cNvSpPr>
          <p:nvPr/>
        </p:nvSpPr>
        <p:spPr>
          <a:xfrm>
            <a:off x="6686550" y="3228975"/>
            <a:ext cx="17907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Agent review queue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D1AEAF5-F88A-4E72-A500-C82093628D8D}"/>
              </a:ext>
            </a:extLst>
          </p:cNvPr>
          <p:cNvSpPr>
            <a:spLocks noGrp="1"/>
          </p:cNvSpPr>
          <p:nvPr/>
        </p:nvSpPr>
        <p:spPr>
          <a:xfrm>
            <a:off x="476250" y="4905375"/>
            <a:ext cx="2333625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Default demonstration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1C37C3D-76F7-463F-9919-A5803748D01D}"/>
              </a:ext>
            </a:extLst>
          </p:cNvPr>
          <p:cNvSpPr>
            <a:spLocks noGrp="1"/>
          </p:cNvSpPr>
          <p:nvPr/>
        </p:nvSpPr>
        <p:spPr>
          <a:xfrm>
            <a:off x="476250" y="5219700"/>
            <a:ext cx="1081087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Spanish WhatsApp enquiry  •  PM-101 match  •  Spanish draft  •  human review required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8796014-36A0-4989-A4D2-C0B1D46A9DB5}"/>
              </a:ext>
            </a:extLst>
          </p:cNvPr>
          <p:cNvSpPr>
            <a:spLocks noGrp="1"/>
          </p:cNvSpPr>
          <p:nvPr/>
        </p:nvSpPr>
        <p:spPr>
          <a:xfrm>
            <a:off x="476250" y="5876925"/>
            <a:ext cx="10810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The workflow uses no credentials and sends no message.</a:t>
            </a:r>
          </a:p>
        </p:txBody>
      </p:sp>
    </p:spTree>
    <p:extLst>
      <p:ext uri="{BB962C8B-B14F-4D97-AF65-F5344CB8AC3E}">
        <p14:creationId xmlns:p14="http://schemas.microsoft.com/office/powerpoint/2010/main" val="204825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D49DE41A-EF02-4202-B85C-814C67DEF7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7ED00B6-4AA4-4B8C-BC6B-D7B20B4A29CD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The deterministic baseline passes the controlled dataset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7E5FA84-D03C-4996-97F5-67B72EE3DECF}"/>
              </a:ext>
            </a:extLst>
          </p:cNvPr>
          <p:cNvSpPr>
            <a:spLocks noGrp="1"/>
          </p:cNvSpPr>
          <p:nvPr/>
        </p:nvSpPr>
        <p:spPr>
          <a:xfrm>
            <a:off x="11287125" y="34290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0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523875" y="1381125"/>
          <a:ext cx="723900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DB086ED3-194B-4F21-910F-FA00DB06F361}"/>
              </a:ext>
            </a:extLst>
          </p:cNvPr>
          <p:cNvSpPr>
            <a:spLocks noGrp="1"/>
          </p:cNvSpPr>
          <p:nvPr/>
        </p:nvSpPr>
        <p:spPr>
          <a:xfrm>
            <a:off x="8286750" y="1571625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2296E2F-B96D-49C5-BEF4-90CF2B2AB417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synthetic enquiries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59F7D8-43FA-455A-845B-8F12B8DBFFA1}"/>
              </a:ext>
            </a:extLst>
          </p:cNvPr>
          <p:cNvSpPr>
            <a:spLocks noGrp="1"/>
          </p:cNvSpPr>
          <p:nvPr/>
        </p:nvSpPr>
        <p:spPr>
          <a:xfrm>
            <a:off x="8286750" y="2905125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7378679-66AE-4297-83E4-16A1DECE4221}"/>
              </a:ext>
            </a:extLst>
          </p:cNvPr>
          <p:cNvSpPr>
            <a:spLocks noGrp="1"/>
          </p:cNvSpPr>
          <p:nvPr/>
        </p:nvSpPr>
        <p:spPr>
          <a:xfrm>
            <a:off x="8286750" y="342900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languages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D06CEAA-4E6C-49FF-8E1B-4C59D17BE9A8}"/>
              </a:ext>
            </a:extLst>
          </p:cNvPr>
          <p:cNvSpPr>
            <a:spLocks noGrp="1"/>
          </p:cNvSpPr>
          <p:nvPr/>
        </p:nvSpPr>
        <p:spPr>
          <a:xfrm>
            <a:off x="8286750" y="4238625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 i="0">
                <a:solidFill>
                  <a:srgbClr val="112B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 i="0">
                <a:solidFill>
                  <a:srgbClr val="112B44"/>
                </a:solidFill>
                <a:latin typeface="Bitstream Charter"/>
                <a:ea typeface="Bitstream Charter"/>
                <a:cs typeface="Bitstream Charter"/>
              </a:rPr>
              <a:t>27/27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69E97F-1C77-4684-BA3E-37D6ACE893CF}"/>
              </a:ext>
            </a:extLst>
          </p:cNvPr>
          <p:cNvSpPr>
            <a:spLocks noGrp="1"/>
          </p:cNvSpPr>
          <p:nvPr/>
        </p:nvSpPr>
        <p:spPr>
          <a:xfrm>
            <a:off x="8286750" y="476250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tests passing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C937D54-313E-41CB-94F4-4403ACEB74A7}"/>
              </a:ext>
            </a:extLst>
          </p:cNvPr>
          <p:cNvSpPr>
            <a:spLocks noGrp="1"/>
          </p:cNvSpPr>
          <p:nvPr/>
        </p:nvSpPr>
        <p:spPr>
          <a:xfrm>
            <a:off x="666750" y="59531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E3A51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E3A51A"/>
                </a:solidFill>
                <a:latin typeface="Bitstream Charter"/>
                <a:ea typeface="Bitstream Charter"/>
                <a:cs typeface="Bitstream Charter"/>
              </a:rPr>
              <a:t>Controlled benchmark only. Live accuracy and conversion impact remain unproven.</a:t>
            </a:r>
          </a:p>
        </p:txBody>
      </p:sp>
    </p:spTree>
    <p:extLst>
      <p:ext uri="{BB962C8B-B14F-4D97-AF65-F5344CB8AC3E}">
        <p14:creationId xmlns:p14="http://schemas.microsoft.com/office/powerpoint/2010/main" val="2105531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B3EF9DC2-2B94-4E46-A6BA-DFAA180B8E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783BB63-2616-4AC6-B378-B847B660687A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Visible controls reduce the main project risks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3CB763A-4ECC-4D73-9694-1DDD842C95E5}"/>
              </a:ext>
            </a:extLst>
          </p:cNvPr>
          <p:cNvSpPr>
            <a:spLocks noGrp="1"/>
          </p:cNvSpPr>
          <p:nvPr/>
        </p:nvSpPr>
        <p:spPr>
          <a:xfrm>
            <a:off x="11287125" y="34290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0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2539570-3F94-43A0-9FCB-AE875CA755EF}"/>
              </a:ext>
            </a:extLst>
          </p:cNvPr>
          <p:cNvSpPr>
            <a:spLocks noGrp="1"/>
          </p:cNvSpPr>
          <p:nvPr/>
        </p:nvSpPr>
        <p:spPr>
          <a:xfrm>
            <a:off x="523875" y="1285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UNSUPPORTED INFERENCE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059A94-62E8-461B-A9BF-A0C54CBCF59A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5000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Unknown preferences remain null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51D724E-0567-4661-8E59-99EA4869327B}"/>
              </a:ext>
            </a:extLst>
          </p:cNvPr>
          <p:cNvSpPr>
            <a:spLocks noGrp="1"/>
          </p:cNvSpPr>
          <p:nvPr/>
        </p:nvSpPr>
        <p:spPr>
          <a:xfrm>
            <a:off x="523875" y="2228850"/>
            <a:ext cx="4953000" cy="9525"/>
          </a:xfrm>
          <a:prstGeom prst="rect">
            <a:avLst/>
          </a:prstGeom>
          <a:solidFill>
            <a:srgbClr val="DCE5ED"/>
          </a:solidFill>
          <a:ln w="0">
            <a:noFill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B052E9-9F69-41C9-B32D-EE26552F48A7}"/>
              </a:ext>
            </a:extLst>
          </p:cNvPr>
          <p:cNvSpPr>
            <a:spLocks noGrp="1"/>
          </p:cNvSpPr>
          <p:nvPr/>
        </p:nvSpPr>
        <p:spPr>
          <a:xfrm>
            <a:off x="523875" y="271462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INCOMPLETE LEAD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4114091-EBE7-43D2-B0DC-359BE9EF7359}"/>
              </a:ext>
            </a:extLst>
          </p:cNvPr>
          <p:cNvSpPr>
            <a:spLocks noGrp="1"/>
          </p:cNvSpPr>
          <p:nvPr/>
        </p:nvSpPr>
        <p:spPr>
          <a:xfrm>
            <a:off x="523875" y="3000375"/>
            <a:ext cx="5000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Matching stays blocked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EBA327-C701-4A34-B510-84F65CCEB598}"/>
              </a:ext>
            </a:extLst>
          </p:cNvPr>
          <p:cNvSpPr>
            <a:spLocks noGrp="1"/>
          </p:cNvSpPr>
          <p:nvPr/>
        </p:nvSpPr>
        <p:spPr>
          <a:xfrm>
            <a:off x="523875" y="3657600"/>
            <a:ext cx="4953000" cy="9525"/>
          </a:xfrm>
          <a:prstGeom prst="rect">
            <a:avLst/>
          </a:prstGeom>
          <a:solidFill>
            <a:srgbClr val="DCE5ED"/>
          </a:solidFill>
          <a:ln w="0">
            <a:noFill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AA99228-EE6F-4CBA-8783-06561F5A7321}"/>
              </a:ext>
            </a:extLst>
          </p:cNvPr>
          <p:cNvSpPr>
            <a:spLocks noGrp="1"/>
          </p:cNvSpPr>
          <p:nvPr/>
        </p:nvSpPr>
        <p:spPr>
          <a:xfrm>
            <a:off x="523875" y="41433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UNAVAILABLE LISTING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E39E906-2842-4690-BAE8-CE773628AEEA}"/>
              </a:ext>
            </a:extLst>
          </p:cNvPr>
          <p:cNvSpPr>
            <a:spLocks noGrp="1"/>
          </p:cNvSpPr>
          <p:nvPr/>
        </p:nvSpPr>
        <p:spPr>
          <a:xfrm>
            <a:off x="523875" y="4429125"/>
            <a:ext cx="5000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Status and verification date checked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D69CDA7-485F-454F-B41A-79D1D8B76E42}"/>
              </a:ext>
            </a:extLst>
          </p:cNvPr>
          <p:cNvSpPr>
            <a:spLocks noGrp="1"/>
          </p:cNvSpPr>
          <p:nvPr/>
        </p:nvSpPr>
        <p:spPr>
          <a:xfrm>
            <a:off x="523875" y="5086350"/>
            <a:ext cx="4953000" cy="9525"/>
          </a:xfrm>
          <a:prstGeom prst="rect">
            <a:avLst/>
          </a:prstGeom>
          <a:solidFill>
            <a:srgbClr val="DCE5ED"/>
          </a:solidFill>
          <a:ln w="0">
            <a:noFill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CABB13D-85AA-4767-9CF2-7C15DAE8D9F1}"/>
              </a:ext>
            </a:extLst>
          </p:cNvPr>
          <p:cNvSpPr>
            <a:spLocks noGrp="1"/>
          </p:cNvSpPr>
          <p:nvPr/>
        </p:nvSpPr>
        <p:spPr>
          <a:xfrm>
            <a:off x="6334125" y="12858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LANGUAGE FAILURE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2A63418-2C89-4733-9E8B-F32265AFD6A9}"/>
              </a:ext>
            </a:extLst>
          </p:cNvPr>
          <p:cNvSpPr>
            <a:spLocks noGrp="1"/>
          </p:cNvSpPr>
          <p:nvPr/>
        </p:nvSpPr>
        <p:spPr>
          <a:xfrm>
            <a:off x="6334125" y="1571625"/>
            <a:ext cx="5000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Greeting, body and closing tested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C3649E4-98ED-4475-A3A2-A814EF25A1EF}"/>
              </a:ext>
            </a:extLst>
          </p:cNvPr>
          <p:cNvSpPr>
            <a:spLocks noGrp="1"/>
          </p:cNvSpPr>
          <p:nvPr/>
        </p:nvSpPr>
        <p:spPr>
          <a:xfrm>
            <a:off x="6334125" y="2228850"/>
            <a:ext cx="4953000" cy="9525"/>
          </a:xfrm>
          <a:prstGeom prst="rect">
            <a:avLst/>
          </a:prstGeom>
          <a:solidFill>
            <a:srgbClr val="DCE5ED"/>
          </a:solidFill>
          <a:ln w="0">
            <a:noFill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986C4DB-6D58-4E90-8F3F-1452D27CCFD6}"/>
              </a:ext>
            </a:extLst>
          </p:cNvPr>
          <p:cNvSpPr>
            <a:spLocks noGrp="1"/>
          </p:cNvSpPr>
          <p:nvPr/>
        </p:nvSpPr>
        <p:spPr>
          <a:xfrm>
            <a:off x="6334125" y="271462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OVERRELIANCE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A8DEA0C-D90F-4F43-ABAD-0C32939CFD31}"/>
              </a:ext>
            </a:extLst>
          </p:cNvPr>
          <p:cNvSpPr>
            <a:spLocks noGrp="1"/>
          </p:cNvSpPr>
          <p:nvPr/>
        </p:nvSpPr>
        <p:spPr>
          <a:xfrm>
            <a:off x="6334125" y="3000375"/>
            <a:ext cx="5000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Original message and score remain visible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013AF64-71E3-49FA-9C41-EDA096A6749A}"/>
              </a:ext>
            </a:extLst>
          </p:cNvPr>
          <p:cNvSpPr>
            <a:spLocks noGrp="1"/>
          </p:cNvSpPr>
          <p:nvPr/>
        </p:nvSpPr>
        <p:spPr>
          <a:xfrm>
            <a:off x="6334125" y="3657600"/>
            <a:ext cx="4953000" cy="9525"/>
          </a:xfrm>
          <a:prstGeom prst="rect">
            <a:avLst/>
          </a:prstGeom>
          <a:solidFill>
            <a:srgbClr val="DCE5ED"/>
          </a:solidFill>
          <a:ln w="0">
            <a:noFill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4B13EC9-7051-41A2-89E0-1C99C76275C2}"/>
              </a:ext>
            </a:extLst>
          </p:cNvPr>
          <p:cNvSpPr>
            <a:spLocks noGrp="1"/>
          </p:cNvSpPr>
          <p:nvPr/>
        </p:nvSpPr>
        <p:spPr>
          <a:xfrm>
            <a:off x="6334125" y="414337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rPr>
              <a:t>COMPLIANCE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F1B87F0-31DB-4D12-844D-583C1ED2854E}"/>
              </a:ext>
            </a:extLst>
          </p:cNvPr>
          <p:cNvSpPr>
            <a:spLocks noGrp="1"/>
          </p:cNvSpPr>
          <p:nvPr/>
        </p:nvSpPr>
        <p:spPr>
          <a:xfrm>
            <a:off x="6334125" y="4429125"/>
            <a:ext cx="500062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No autonomous sending or eligibility decision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0E4DA8A-2F0B-476E-911F-AF2A7316AA06}"/>
              </a:ext>
            </a:extLst>
          </p:cNvPr>
          <p:cNvSpPr>
            <a:spLocks noGrp="1"/>
          </p:cNvSpPr>
          <p:nvPr/>
        </p:nvSpPr>
        <p:spPr>
          <a:xfrm>
            <a:off x="6334125" y="5086350"/>
            <a:ext cx="4953000" cy="9525"/>
          </a:xfrm>
          <a:prstGeom prst="rect">
            <a:avLst/>
          </a:prstGeom>
          <a:solidFill>
            <a:srgbClr val="DCE5ED"/>
          </a:solidFill>
          <a:ln w="0">
            <a:noFill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5249C81-C816-44AE-94AB-9682BE991791}"/>
              </a:ext>
            </a:extLst>
          </p:cNvPr>
          <p:cNvSpPr>
            <a:spLocks noGrp="1"/>
          </p:cNvSpPr>
          <p:nvPr/>
        </p:nvSpPr>
        <p:spPr>
          <a:xfrm>
            <a:off x="762000" y="59531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 i="0">
                <a:solidFill>
                  <a:srgbClr val="112B4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12B44"/>
                </a:solidFill>
                <a:latin typeface="Bitstream Charter"/>
                <a:ea typeface="Bitstream Charter"/>
                <a:cs typeface="Bitstream Charter"/>
              </a:rPr>
              <a:t>The score measures information completeness. It does not measure a buyer’s value or eligibility.</a:t>
            </a:r>
          </a:p>
        </p:txBody>
      </p:sp>
    </p:spTree>
    <p:extLst>
      <p:ext uri="{BB962C8B-B14F-4D97-AF65-F5344CB8AC3E}">
        <p14:creationId xmlns:p14="http://schemas.microsoft.com/office/powerpoint/2010/main" val="1783852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297EFA69-7629-4C75-87FE-07AB1723C6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6675" cy="6858000"/>
          </a:xfrm>
          <a:prstGeom prst="rect">
            <a:avLst/>
          </a:prstGeom>
          <a:solidFill>
            <a:srgbClr val="2F80ED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AA6B1EF-4878-4B99-8E49-FA8D1924A818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105727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Next work focuses on measured LLM performance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432B0C0-B7AF-4BC5-A64B-34AE8487ED30}"/>
              </a:ext>
            </a:extLst>
          </p:cNvPr>
          <p:cNvSpPr>
            <a:spLocks noGrp="1"/>
          </p:cNvSpPr>
          <p:nvPr/>
        </p:nvSpPr>
        <p:spPr>
          <a:xfrm>
            <a:off x="11287125" y="34290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0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 i="0">
                <a:solidFill>
                  <a:srgbClr val="62748A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301E5E9-CAC6-4EFE-9D45-F51E016CD0BC}"/>
              </a:ext>
            </a:extLst>
          </p:cNvPr>
          <p:cNvSpPr>
            <a:spLocks noGrp="1"/>
          </p:cNvSpPr>
          <p:nvPr/>
        </p:nvSpPr>
        <p:spPr>
          <a:xfrm>
            <a:off x="523875" y="12382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rPr>
              <a:t>READY NOW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FA8F745-D86F-41C3-A464-6970659D3B42}"/>
              </a:ext>
            </a:extLst>
          </p:cNvPr>
          <p:cNvSpPr>
            <a:spLocks noGrp="1"/>
          </p:cNvSpPr>
          <p:nvPr/>
        </p:nvSpPr>
        <p:spPr>
          <a:xfrm>
            <a:off x="6429375" y="12382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NEXT EVIDENCE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298E908-C745-41EE-801B-4770B083280B}"/>
              </a:ext>
            </a:extLst>
          </p:cNvPr>
          <p:cNvSpPr>
            <a:spLocks noGrp="1"/>
          </p:cNvSpPr>
          <p:nvPr/>
        </p:nvSpPr>
        <p:spPr>
          <a:xfrm>
            <a:off x="523875" y="171450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82"/>
          </a:bodyPr>
          <a:lstStyle/>
          <a:p>
            <a:pPr algn="ctr">
              <a:defRPr sz="1500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93DE6DE-3A93-4658-87D7-AA655B3F303A}"/>
              </a:ext>
            </a:extLst>
          </p:cNvPr>
          <p:cNvSpPr>
            <a:spLocks noGrp="1"/>
          </p:cNvSpPr>
          <p:nvPr/>
        </p:nvSpPr>
        <p:spPr>
          <a:xfrm>
            <a:off x="952500" y="1676400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Working browser MVP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4AB6D74-51C5-4ADB-8CE8-EE3A4B3BC6AC}"/>
              </a:ext>
            </a:extLst>
          </p:cNvPr>
          <p:cNvSpPr>
            <a:spLocks noGrp="1"/>
          </p:cNvSpPr>
          <p:nvPr/>
        </p:nvSpPr>
        <p:spPr>
          <a:xfrm>
            <a:off x="523875" y="240030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82"/>
          </a:bodyPr>
          <a:lstStyle/>
          <a:p>
            <a:pPr algn="ctr">
              <a:defRPr sz="1500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73A7C86-9696-400B-ADB1-B441057F7CE7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Seven-node n8n workflow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813BEB0-D8ED-4624-B792-78C61051C296}"/>
              </a:ext>
            </a:extLst>
          </p:cNvPr>
          <p:cNvSpPr>
            <a:spLocks noGrp="1"/>
          </p:cNvSpPr>
          <p:nvPr/>
        </p:nvSpPr>
        <p:spPr>
          <a:xfrm>
            <a:off x="523875" y="308610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82"/>
          </a:bodyPr>
          <a:lstStyle/>
          <a:p>
            <a:pPr algn="ctr">
              <a:defRPr sz="1500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3B49D11-5D49-47E7-B5B3-B0380DE9B784}"/>
              </a:ext>
            </a:extLst>
          </p:cNvPr>
          <p:cNvSpPr>
            <a:spLocks noGrp="1"/>
          </p:cNvSpPr>
          <p:nvPr/>
        </p:nvSpPr>
        <p:spPr>
          <a:xfrm>
            <a:off x="952500" y="3048000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18-case dataset and baseline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2943BF9-D8B4-45B1-AEF9-AF4F9BD86666}"/>
              </a:ext>
            </a:extLst>
          </p:cNvPr>
          <p:cNvSpPr>
            <a:spLocks noGrp="1"/>
          </p:cNvSpPr>
          <p:nvPr/>
        </p:nvSpPr>
        <p:spPr>
          <a:xfrm>
            <a:off x="523875" y="377190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82"/>
          </a:bodyPr>
          <a:lstStyle/>
          <a:p>
            <a:pPr algn="ctr">
              <a:defRPr sz="1500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CD0FD3-7386-4EBF-A998-448D5E4CCA6E}"/>
              </a:ext>
            </a:extLst>
          </p:cNvPr>
          <p:cNvSpPr>
            <a:spLocks noGrp="1"/>
          </p:cNvSpPr>
          <p:nvPr/>
        </p:nvSpPr>
        <p:spPr>
          <a:xfrm>
            <a:off x="952500" y="3733800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POC and MVP documentation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EAF6208-9195-49BB-B3F8-01B62E811451}"/>
              </a:ext>
            </a:extLst>
          </p:cNvPr>
          <p:cNvSpPr>
            <a:spLocks noGrp="1"/>
          </p:cNvSpPr>
          <p:nvPr/>
        </p:nvSpPr>
        <p:spPr>
          <a:xfrm>
            <a:off x="523875" y="445770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82"/>
          </a:bodyPr>
          <a:lstStyle/>
          <a:p>
            <a:pPr algn="ctr">
              <a:defRPr sz="1500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27AE60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FC00811-3EF7-4F56-9048-DB6C9EAAA8A7}"/>
              </a:ext>
            </a:extLst>
          </p:cNvPr>
          <p:cNvSpPr>
            <a:spLocks noGrp="1"/>
          </p:cNvSpPr>
          <p:nvPr/>
        </p:nvSpPr>
        <p:spPr>
          <a:xfrm>
            <a:off x="952500" y="4419600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ROI, GDPR and AI Act drafts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E3695D4-CEDB-4CB9-9864-8EC170F61A62}"/>
              </a:ext>
            </a:extLst>
          </p:cNvPr>
          <p:cNvSpPr>
            <a:spLocks noGrp="1"/>
          </p:cNvSpPr>
          <p:nvPr/>
        </p:nvSpPr>
        <p:spPr>
          <a:xfrm>
            <a:off x="6429375" y="171450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5D337C9-8558-494B-BC67-30AD27D72E49}"/>
              </a:ext>
            </a:extLst>
          </p:cNvPr>
          <p:cNvSpPr>
            <a:spLocks noGrp="1"/>
          </p:cNvSpPr>
          <p:nvPr/>
        </p:nvSpPr>
        <p:spPr>
          <a:xfrm>
            <a:off x="6858000" y="1676400"/>
            <a:ext cx="46196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Import workflow in target n8n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E88F327-ADCA-4D1A-AC46-1E3F7177B50A}"/>
              </a:ext>
            </a:extLst>
          </p:cNvPr>
          <p:cNvSpPr>
            <a:spLocks noGrp="1"/>
          </p:cNvSpPr>
          <p:nvPr/>
        </p:nvSpPr>
        <p:spPr>
          <a:xfrm>
            <a:off x="6429375" y="240030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D69C345-1167-4672-B335-261A2289FC7E}"/>
              </a:ext>
            </a:extLst>
          </p:cNvPr>
          <p:cNvSpPr>
            <a:spLocks noGrp="1"/>
          </p:cNvSpPr>
          <p:nvPr/>
        </p:nvSpPr>
        <p:spPr>
          <a:xfrm>
            <a:off x="6858000" y="2362200"/>
            <a:ext cx="46196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Implement structured_extractor_v1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B412CB2-9DF4-4DE5-A2DF-7DC42F2FD416}"/>
              </a:ext>
            </a:extLst>
          </p:cNvPr>
          <p:cNvSpPr>
            <a:spLocks noGrp="1"/>
          </p:cNvSpPr>
          <p:nvPr/>
        </p:nvSpPr>
        <p:spPr>
          <a:xfrm>
            <a:off x="6429375" y="308610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754C544-4FEB-4D65-B460-33D95102DF7E}"/>
              </a:ext>
            </a:extLst>
          </p:cNvPr>
          <p:cNvSpPr>
            <a:spLocks noGrp="1"/>
          </p:cNvSpPr>
          <p:nvPr/>
        </p:nvSpPr>
        <p:spPr>
          <a:xfrm>
            <a:off x="6858000" y="3048000"/>
            <a:ext cx="46196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Run both configurations in LangSmith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9A27002-9E45-48EA-A976-5D2972100B44}"/>
              </a:ext>
            </a:extLst>
          </p:cNvPr>
          <p:cNvSpPr>
            <a:spLocks noGrp="1"/>
          </p:cNvSpPr>
          <p:nvPr/>
        </p:nvSpPr>
        <p:spPr>
          <a:xfrm>
            <a:off x="6429375" y="377190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19F365D-62FB-4D02-8176-2B4A4E809CF0}"/>
              </a:ext>
            </a:extLst>
          </p:cNvPr>
          <p:cNvSpPr>
            <a:spLocks noGrp="1"/>
          </p:cNvSpPr>
          <p:nvPr/>
        </p:nvSpPr>
        <p:spPr>
          <a:xfrm>
            <a:off x="6858000" y="3733800"/>
            <a:ext cx="46196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Inspect failed traces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962D4BB-37A3-46D4-B064-570DBFC8DC4E}"/>
              </a:ext>
            </a:extLst>
          </p:cNvPr>
          <p:cNvSpPr>
            <a:spLocks noGrp="1"/>
          </p:cNvSpPr>
          <p:nvPr/>
        </p:nvSpPr>
        <p:spPr>
          <a:xfrm>
            <a:off x="6429375" y="4457700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i="0">
                <a:solidFill>
                  <a:srgbClr val="2F80ED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0386016-E175-4DBD-9BA3-33997A5E375B}"/>
              </a:ext>
            </a:extLst>
          </p:cNvPr>
          <p:cNvSpPr>
            <a:spLocks noGrp="1"/>
          </p:cNvSpPr>
          <p:nvPr/>
        </p:nvSpPr>
        <p:spPr>
          <a:xfrm>
            <a:off x="6858000" y="4419600"/>
            <a:ext cx="4619625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18324A"/>
                </a:solidFill>
                <a:latin typeface="Bitstream Charter"/>
                <a:ea typeface="Bitstream Charter"/>
                <a:cs typeface="Bitstream Charter"/>
              </a:rPr>
              <a:t>Record a stable backup demo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C1E4C5E1-BE18-478E-8336-705E5A009188}"/>
              </a:ext>
            </a:extLst>
          </p:cNvPr>
          <p:cNvSpPr>
            <a:spLocks noGrp="1"/>
          </p:cNvSpPr>
          <p:nvPr/>
        </p:nvSpPr>
        <p:spPr>
          <a:xfrm>
            <a:off x="523875" y="5524500"/>
            <a:ext cx="10953750" cy="666750"/>
          </a:xfrm>
          <a:prstGeom prst="roundRect">
            <a:avLst>
              <a:gd name="adj" fmla="val 11429"/>
            </a:avLst>
          </a:prstGeom>
          <a:solidFill>
            <a:srgbClr val="112B44"/>
          </a:solidFill>
          <a:ln w="0">
            <a:noFill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0295F68-C975-4E82-A4F2-34413701F574}"/>
              </a:ext>
            </a:extLst>
          </p:cNvPr>
          <p:cNvSpPr>
            <a:spLocks noGrp="1"/>
          </p:cNvSpPr>
          <p:nvPr/>
        </p:nvSpPr>
        <p:spPr>
          <a:xfrm>
            <a:off x="809625" y="5638800"/>
            <a:ext cx="10382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Pilot gate: zero critical fabrication, zero unavailable listings and 100% human review</a:t>
            </a:r>
          </a:p>
        </p:txBody>
      </p:sp>
    </p:spTree>
    <p:extLst>
      <p:ext uri="{BB962C8B-B14F-4D97-AF65-F5344CB8AC3E}">
        <p14:creationId xmlns:p14="http://schemas.microsoft.com/office/powerpoint/2010/main" val="20476707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Office PowerPoint</Application>
  <DocSecurity>0</DocSecurity>
  <PresentationFormat>Panorámica</PresentationFormat>
  <Paragraphs>121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Aptos</vt:lpstr>
      <vt:lpstr>Bitstream Charter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carlos felipe valencia</cp:lastModifiedBy>
  <cp:revision>1</cp:revision>
  <dcterms:created xsi:type="dcterms:W3CDTF">2026-10-03T08:06:27Z</dcterms:created>
  <dcterms:modified xsi:type="dcterms:W3CDTF">2026-10-06T14:35:08Z</dcterms:modified>
</cp:coreProperties>
</file>